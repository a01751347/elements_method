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1"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9315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81718-1286-15E3-E00F-6A6751CC1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AC196-166D-3899-2DDC-98FCFBE0E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E5A3C-DA31-9664-26B0-19CEE9E973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8E286-B59F-897A-5FF0-C0250159B43A}"/>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820796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10"/>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48640" y="548640"/>
            <a:ext cx="8046720" cy="274320"/>
          </a:xfrm>
          <a:prstGeom prst="rect">
            <a:avLst/>
          </a:prstGeom>
          <a:noFill/>
          <a:ln/>
        </p:spPr>
        <p:txBody>
          <a:bodyPr wrap="square" rtlCol="0" anchor="ctr"/>
          <a:lstStyle/>
          <a:p>
            <a:pPr marL="0" indent="0" algn="ctr">
              <a:buNone/>
            </a:pPr>
            <a:r>
              <a:rPr lang="en-US" sz="900" b="1" kern="0" spc="500" dirty="0">
                <a:solidFill>
                  <a:srgbClr val="C9A96E"/>
                </a:solidFill>
                <a:latin typeface="Arial" pitchFamily="34" charset="0"/>
                <a:ea typeface="Arial" pitchFamily="34" charset="-122"/>
                <a:cs typeface="Arial" pitchFamily="34" charset="-120"/>
              </a:rPr>
              <a:t>ELEMENTS METHOD</a:t>
            </a:r>
            <a:endParaRPr lang="en-US" sz="900" dirty="0"/>
          </a:p>
        </p:txBody>
      </p:sp>
      <p:sp>
        <p:nvSpPr>
          <p:cNvPr id="4" name="Text 2"/>
          <p:cNvSpPr/>
          <p:nvPr/>
        </p:nvSpPr>
        <p:spPr>
          <a:xfrm>
            <a:off x="548640" y="1188720"/>
            <a:ext cx="8046720" cy="100584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Contenido del Sitio Web</a:t>
            </a:r>
            <a:endParaRPr lang="en-US" sz="4400" dirty="0"/>
          </a:p>
        </p:txBody>
      </p:sp>
      <p:sp>
        <p:nvSpPr>
          <p:cNvPr id="5" name="Text 3"/>
          <p:cNvSpPr/>
          <p:nvPr/>
        </p:nvSpPr>
        <p:spPr>
          <a:xfrm>
            <a:off x="914400" y="2468880"/>
            <a:ext cx="7315200" cy="457200"/>
          </a:xfrm>
          <a:prstGeom prst="rect">
            <a:avLst/>
          </a:prstGeom>
          <a:noFill/>
          <a:ln/>
        </p:spPr>
        <p:txBody>
          <a:bodyPr wrap="square" rtlCol="0" anchor="ctr"/>
          <a:lstStyle/>
          <a:p>
            <a:pPr marL="0" indent="0" algn="ctr">
              <a:buNone/>
            </a:pPr>
            <a:r>
              <a:rPr lang="en-US" sz="1400" i="1" dirty="0">
                <a:solidFill>
                  <a:srgbClr val="C9A96E"/>
                </a:solidFill>
                <a:latin typeface="Calibri" pitchFamily="34" charset="0"/>
                <a:ea typeface="Calibri" pitchFamily="34" charset="-122"/>
                <a:cs typeface="Calibri" pitchFamily="34" charset="-120"/>
              </a:rPr>
              <a:t>Homepage EN · Homepage ES · Raíces · Corriente · Fuente</a:t>
            </a:r>
            <a:endParaRPr lang="en-US" sz="1400" dirty="0"/>
          </a:p>
        </p:txBody>
      </p:sp>
      <p:sp>
        <p:nvSpPr>
          <p:cNvPr id="6" name="Text 4"/>
          <p:cNvSpPr/>
          <p:nvPr/>
        </p:nvSpPr>
        <p:spPr>
          <a:xfrm>
            <a:off x="914400" y="3108960"/>
            <a:ext cx="7315200" cy="365760"/>
          </a:xfrm>
          <a:prstGeom prst="rect">
            <a:avLst/>
          </a:prstGeom>
          <a:noFill/>
          <a:ln/>
        </p:spPr>
        <p:txBody>
          <a:bodyPr wrap="square" rtlCol="0" anchor="ctr"/>
          <a:lstStyle/>
          <a:p>
            <a:pPr marL="0" indent="0" algn="ctr">
              <a:buNone/>
            </a:pPr>
            <a:r>
              <a:rPr lang="en-US" sz="1200" dirty="0">
                <a:solidFill>
                  <a:srgbClr val="AAAAAA"/>
                </a:solidFill>
                <a:latin typeface="Calibri" pitchFamily="34" charset="0"/>
                <a:ea typeface="Calibri" pitchFamily="34" charset="-122"/>
                <a:cs typeface="Calibri" pitchFamily="34" charset="-120"/>
              </a:rPr>
              <a:t>5 páginas · Estructura completa · Copia lista para implementar</a:t>
            </a:r>
            <a:endParaRPr lang="en-US" sz="1200" dirty="0"/>
          </a:p>
        </p:txBody>
      </p:sp>
      <p:sp>
        <p:nvSpPr>
          <p:cNvPr id="7" name="Shape 5"/>
          <p:cNvSpPr/>
          <p:nvPr/>
        </p:nvSpPr>
        <p:spPr>
          <a:xfrm>
            <a:off x="2286000" y="3886200"/>
            <a:ext cx="292608" cy="292608"/>
          </a:xfrm>
          <a:prstGeom prst="ellipse">
            <a:avLst/>
          </a:prstGeom>
          <a:solidFill>
            <a:srgbClr val="2B6B8A"/>
          </a:solidFill>
          <a:ln w="12700">
            <a:solidFill>
              <a:srgbClr val="2B6B8A"/>
            </a:solidFill>
            <a:prstDash val="solid"/>
          </a:ln>
        </p:spPr>
        <p:txBody>
          <a:bodyPr/>
          <a:lstStyle/>
          <a:p>
            <a:endParaRPr lang="en-US"/>
          </a:p>
        </p:txBody>
      </p:sp>
      <p:sp>
        <p:nvSpPr>
          <p:cNvPr id="8" name="Text 6"/>
          <p:cNvSpPr/>
          <p:nvPr/>
        </p:nvSpPr>
        <p:spPr>
          <a:xfrm>
            <a:off x="2194560" y="4224528"/>
            <a:ext cx="475488" cy="201168"/>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Agua</a:t>
            </a:r>
            <a:endParaRPr lang="en-US" sz="900" dirty="0"/>
          </a:p>
        </p:txBody>
      </p:sp>
      <p:sp>
        <p:nvSpPr>
          <p:cNvPr id="9" name="Shape 7"/>
          <p:cNvSpPr/>
          <p:nvPr/>
        </p:nvSpPr>
        <p:spPr>
          <a:xfrm>
            <a:off x="3474720" y="3886200"/>
            <a:ext cx="292608" cy="292608"/>
          </a:xfrm>
          <a:prstGeom prst="ellipse">
            <a:avLst/>
          </a:prstGeom>
          <a:solidFill>
            <a:srgbClr val="C4622D"/>
          </a:solidFill>
          <a:ln w="12700">
            <a:solidFill>
              <a:srgbClr val="C4622D"/>
            </a:solidFill>
            <a:prstDash val="solid"/>
          </a:ln>
        </p:spPr>
        <p:txBody>
          <a:bodyPr/>
          <a:lstStyle/>
          <a:p>
            <a:endParaRPr lang="en-US"/>
          </a:p>
        </p:txBody>
      </p:sp>
      <p:sp>
        <p:nvSpPr>
          <p:cNvPr id="10" name="Text 8"/>
          <p:cNvSpPr/>
          <p:nvPr/>
        </p:nvSpPr>
        <p:spPr>
          <a:xfrm>
            <a:off x="3383280" y="4224528"/>
            <a:ext cx="475488" cy="201168"/>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Fuego</a:t>
            </a:r>
            <a:endParaRPr lang="en-US" sz="900" dirty="0"/>
          </a:p>
        </p:txBody>
      </p:sp>
      <p:sp>
        <p:nvSpPr>
          <p:cNvPr id="11" name="Shape 9"/>
          <p:cNvSpPr/>
          <p:nvPr/>
        </p:nvSpPr>
        <p:spPr>
          <a:xfrm>
            <a:off x="4663440" y="3886200"/>
            <a:ext cx="292608" cy="292608"/>
          </a:xfrm>
          <a:prstGeom prst="ellipse">
            <a:avLst/>
          </a:prstGeom>
          <a:solidFill>
            <a:srgbClr val="7A9BAD"/>
          </a:solidFill>
          <a:ln w="12700">
            <a:solidFill>
              <a:srgbClr val="7A9BAD"/>
            </a:solidFill>
            <a:prstDash val="solid"/>
          </a:ln>
        </p:spPr>
        <p:txBody>
          <a:bodyPr/>
          <a:lstStyle/>
          <a:p>
            <a:endParaRPr lang="en-US"/>
          </a:p>
        </p:txBody>
      </p:sp>
      <p:sp>
        <p:nvSpPr>
          <p:cNvPr id="12" name="Text 10"/>
          <p:cNvSpPr/>
          <p:nvPr/>
        </p:nvSpPr>
        <p:spPr>
          <a:xfrm>
            <a:off x="4572000" y="4224528"/>
            <a:ext cx="475488" cy="201168"/>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Aire</a:t>
            </a:r>
            <a:endParaRPr lang="en-US" sz="900" dirty="0"/>
          </a:p>
        </p:txBody>
      </p:sp>
      <p:sp>
        <p:nvSpPr>
          <p:cNvPr id="13" name="Shape 11"/>
          <p:cNvSpPr/>
          <p:nvPr/>
        </p:nvSpPr>
        <p:spPr>
          <a:xfrm>
            <a:off x="5852160" y="3886200"/>
            <a:ext cx="292608" cy="292608"/>
          </a:xfrm>
          <a:prstGeom prst="ellipse">
            <a:avLst/>
          </a:prstGeom>
          <a:solidFill>
            <a:srgbClr val="3D5A3E"/>
          </a:solidFill>
          <a:ln w="12700">
            <a:solidFill>
              <a:srgbClr val="3D5A3E"/>
            </a:solidFill>
            <a:prstDash val="solid"/>
          </a:ln>
        </p:spPr>
        <p:txBody>
          <a:bodyPr/>
          <a:lstStyle/>
          <a:p>
            <a:endParaRPr lang="en-US"/>
          </a:p>
        </p:txBody>
      </p:sp>
      <p:sp>
        <p:nvSpPr>
          <p:cNvPr id="14" name="Text 12"/>
          <p:cNvSpPr/>
          <p:nvPr/>
        </p:nvSpPr>
        <p:spPr>
          <a:xfrm>
            <a:off x="5760720" y="4224528"/>
            <a:ext cx="475488" cy="201168"/>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Tierra</a:t>
            </a:r>
            <a:endParaRPr lang="en-US" sz="900" dirty="0"/>
          </a:p>
        </p:txBody>
      </p:sp>
      <p:sp>
        <p:nvSpPr>
          <p:cNvPr id="15" name="Shape 13"/>
          <p:cNvSpPr/>
          <p:nvPr/>
        </p:nvSpPr>
        <p:spPr>
          <a:xfrm>
            <a:off x="0" y="4983480"/>
            <a:ext cx="9144000" cy="164592"/>
          </a:xfrm>
          <a:prstGeom prst="rect">
            <a:avLst/>
          </a:prstGeom>
          <a:solidFill>
            <a:srgbClr val="2C2C2A"/>
          </a:solidFill>
          <a:ln w="12700">
            <a:solidFill>
              <a:srgbClr val="2C2C2A"/>
            </a:solidFill>
            <a:prstDash val="solid"/>
          </a:ln>
        </p:spPr>
        <p:txBody>
          <a:bodyPr/>
          <a:lstStyle/>
          <a:p>
            <a:endParaRPr lang="en-US"/>
          </a:p>
        </p:txBody>
      </p:sp>
      <p:sp>
        <p:nvSpPr>
          <p:cNvPr id="16" name="Text 14"/>
          <p:cNvSpPr/>
          <p:nvPr/>
        </p:nvSpPr>
        <p:spPr>
          <a:xfrm>
            <a:off x="548640" y="4864608"/>
            <a:ext cx="8046720" cy="256032"/>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Confidencial · Uso Interno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810"/>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48640" y="502920"/>
            <a:ext cx="8046720" cy="274320"/>
          </a:xfrm>
          <a:prstGeom prst="rect">
            <a:avLst/>
          </a:prstGeom>
          <a:noFill/>
          <a:ln/>
        </p:spPr>
        <p:txBody>
          <a:bodyPr wrap="square" rtlCol="0" anchor="ctr"/>
          <a:lstStyle/>
          <a:p>
            <a:pPr marL="0" indent="0" algn="l">
              <a:buNone/>
            </a:pPr>
            <a:r>
              <a:rPr lang="en-US" sz="900" b="1" kern="0" spc="500" dirty="0">
                <a:solidFill>
                  <a:srgbClr val="C9A96E"/>
                </a:solidFill>
                <a:latin typeface="Arial" pitchFamily="34" charset="0"/>
                <a:ea typeface="Arial" pitchFamily="34" charset="-122"/>
                <a:cs typeface="Arial" pitchFamily="34" charset="-120"/>
              </a:rPr>
              <a:t>ELEMENTS METHOD</a:t>
            </a:r>
            <a:endParaRPr lang="en-US" sz="900" dirty="0"/>
          </a:p>
        </p:txBody>
      </p:sp>
      <p:sp>
        <p:nvSpPr>
          <p:cNvPr id="4" name="Text 2"/>
          <p:cNvSpPr/>
          <p:nvPr/>
        </p:nvSpPr>
        <p:spPr>
          <a:xfrm>
            <a:off x="548640" y="914400"/>
            <a:ext cx="8046720" cy="256032"/>
          </a:xfrm>
          <a:prstGeom prst="rect">
            <a:avLst/>
          </a:prstGeom>
          <a:noFill/>
          <a:ln/>
        </p:spPr>
        <p:txBody>
          <a:bodyPr wrap="square" rtlCol="0" anchor="ctr"/>
          <a:lstStyle/>
          <a:p>
            <a:pPr marL="0" indent="0" algn="l">
              <a:buNone/>
            </a:pPr>
            <a:r>
              <a:rPr lang="en-US" sz="1000" kern="0" spc="200" dirty="0">
                <a:solidFill>
                  <a:srgbClr val="AAAAAA"/>
                </a:solidFill>
                <a:latin typeface="Arial" pitchFamily="34" charset="0"/>
                <a:ea typeface="Arial" pitchFamily="34" charset="-122"/>
                <a:cs typeface="Arial" pitchFamily="34" charset="-120"/>
              </a:rPr>
              <a:t>HOMEPAGE · INGLÉS — HERO</a:t>
            </a:r>
            <a:endParaRPr lang="en-US" sz="1000" dirty="0"/>
          </a:p>
        </p:txBody>
      </p:sp>
      <p:sp>
        <p:nvSpPr>
          <p:cNvPr id="5" name="Text 3"/>
          <p:cNvSpPr/>
          <p:nvPr/>
        </p:nvSpPr>
        <p:spPr>
          <a:xfrm>
            <a:off x="548640" y="1280160"/>
            <a:ext cx="8046720" cy="146304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Lead from your</a:t>
            </a:r>
            <a:endParaRPr lang="en-US" sz="4000" dirty="0"/>
          </a:p>
          <a:p>
            <a:pPr marL="0" indent="0" algn="l">
              <a:buNone/>
            </a:pPr>
            <a:r>
              <a:rPr lang="en-US" sz="4000" b="1" dirty="0">
                <a:solidFill>
                  <a:srgbClr val="FFFFFF"/>
                </a:solidFill>
                <a:latin typeface="Cambria" pitchFamily="34" charset="0"/>
                <a:ea typeface="Cambria" pitchFamily="34" charset="-122"/>
                <a:cs typeface="Cambria" pitchFamily="34" charset="-120"/>
              </a:rPr>
              <a:t>true nature</a:t>
            </a:r>
            <a:endParaRPr lang="en-US" sz="4000" dirty="0"/>
          </a:p>
        </p:txBody>
      </p:sp>
      <p:sp>
        <p:nvSpPr>
          <p:cNvPr id="6" name="Text 4"/>
          <p:cNvSpPr/>
          <p:nvPr/>
        </p:nvSpPr>
        <p:spPr>
          <a:xfrm>
            <a:off x="548640" y="2880360"/>
            <a:ext cx="6858000" cy="640080"/>
          </a:xfrm>
          <a:prstGeom prst="rect">
            <a:avLst/>
          </a:prstGeom>
          <a:noFill/>
          <a:ln/>
        </p:spPr>
        <p:txBody>
          <a:bodyPr wrap="square" rtlCol="0" anchor="ctr"/>
          <a:lstStyle/>
          <a:p>
            <a:pPr marL="0" indent="0" algn="l">
              <a:buNone/>
            </a:pPr>
            <a:r>
              <a:rPr lang="en-US" sz="1600" i="1" dirty="0">
                <a:solidFill>
                  <a:srgbClr val="C9A96E"/>
                </a:solidFill>
                <a:latin typeface="Cambria" pitchFamily="34" charset="0"/>
                <a:ea typeface="Cambria" pitchFamily="34" charset="-122"/>
                <a:cs typeface="Cambria" pitchFamily="34" charset="-120"/>
              </a:rPr>
              <a:t>Transformative leadership journeys rooted in the wisdom of Nature Elements Water, Fire, Air, and Earth to connect you with your own </a:t>
            </a:r>
            <a:r>
              <a:rPr lang="en-US" sz="1600" i="1" dirty="0" err="1">
                <a:solidFill>
                  <a:srgbClr val="C9A96E"/>
                </a:solidFill>
                <a:latin typeface="Cambria" pitchFamily="34" charset="0"/>
                <a:ea typeface="Cambria" pitchFamily="34" charset="-122"/>
                <a:cs typeface="Cambria" pitchFamily="34" charset="-120"/>
              </a:rPr>
              <a:t>Etér</a:t>
            </a:r>
            <a:r>
              <a:rPr lang="en-US" sz="1600" i="1" dirty="0">
                <a:solidFill>
                  <a:srgbClr val="C9A96E"/>
                </a:solidFill>
                <a:latin typeface="Cambria" pitchFamily="34" charset="0"/>
                <a:ea typeface="Cambria" pitchFamily="34" charset="-122"/>
                <a:cs typeface="Cambria" pitchFamily="34" charset="-120"/>
              </a:rPr>
              <a:t>.</a:t>
            </a:r>
            <a:endParaRPr lang="en-US" sz="1600" dirty="0"/>
          </a:p>
          <a:p>
            <a:pPr marL="0" indent="0" algn="l">
              <a:buNone/>
            </a:pPr>
            <a:r>
              <a:rPr lang="en-US" sz="1600" i="1" dirty="0">
                <a:solidFill>
                  <a:srgbClr val="C9A96E"/>
                </a:solidFill>
                <a:latin typeface="Cambria" pitchFamily="34" charset="0"/>
                <a:ea typeface="Cambria" pitchFamily="34" charset="-122"/>
                <a:cs typeface="Cambria" pitchFamily="34" charset="-120"/>
              </a:rPr>
              <a:t>Designed for executives ready to lead with depth.</a:t>
            </a:r>
            <a:endParaRPr lang="en-US" sz="1600" dirty="0"/>
          </a:p>
        </p:txBody>
      </p:sp>
      <p:sp>
        <p:nvSpPr>
          <p:cNvPr id="7" name="Shape 5"/>
          <p:cNvSpPr/>
          <p:nvPr/>
        </p:nvSpPr>
        <p:spPr>
          <a:xfrm>
            <a:off x="0" y="4983480"/>
            <a:ext cx="9144000" cy="164592"/>
          </a:xfrm>
          <a:prstGeom prst="rect">
            <a:avLst/>
          </a:prstGeom>
          <a:solidFill>
            <a:srgbClr val="2C2C2A"/>
          </a:solidFill>
          <a:ln w="12700">
            <a:solidFill>
              <a:srgbClr val="2C2C2A"/>
            </a:solidFill>
            <a:prstDash val="solid"/>
          </a:ln>
        </p:spPr>
        <p:txBody>
          <a:bodyPr/>
          <a:lstStyle/>
          <a:p>
            <a:endParaRPr lang="en-US"/>
          </a:p>
        </p:txBody>
      </p:sp>
      <p:sp>
        <p:nvSpPr>
          <p:cNvPr id="8" name="Text 6"/>
          <p:cNvSpPr/>
          <p:nvPr/>
        </p:nvSpPr>
        <p:spPr>
          <a:xfrm>
            <a:off x="548640" y="4864608"/>
            <a:ext cx="8046720" cy="256032"/>
          </a:xfrm>
          <a:prstGeom prst="rect">
            <a:avLst/>
          </a:prstGeom>
          <a:noFill/>
          <a:ln/>
        </p:spPr>
        <p:txBody>
          <a:bodyPr wrap="square" rtlCol="0" anchor="ctr"/>
          <a:lstStyle/>
          <a:p>
            <a:pPr marL="0" indent="0" algn="l">
              <a:buNone/>
            </a:pPr>
            <a:r>
              <a:rPr lang="en-US" sz="900" dirty="0">
                <a:solidFill>
                  <a:srgbClr val="AAAAAA"/>
                </a:solidFill>
                <a:latin typeface="Calibri" pitchFamily="34" charset="0"/>
                <a:ea typeface="Calibri" pitchFamily="34" charset="-122"/>
                <a:cs typeface="Calibri" pitchFamily="34" charset="-120"/>
              </a:rPr>
              <a:t>Contenido del Sitio Web · Elements Method · 2025</a:t>
            </a:r>
            <a:endParaRPr lang="en-US" sz="900" dirty="0"/>
          </a:p>
        </p:txBody>
      </p:sp>
      <p:sp>
        <p:nvSpPr>
          <p:cNvPr id="9" name="Text 7"/>
          <p:cNvSpPr/>
          <p:nvPr/>
        </p:nvSpPr>
        <p:spPr>
          <a:xfrm>
            <a:off x="548640" y="4434840"/>
            <a:ext cx="1920240" cy="256032"/>
          </a:xfrm>
          <a:prstGeom prst="rect">
            <a:avLst/>
          </a:prstGeom>
          <a:noFill/>
          <a:ln/>
        </p:spPr>
        <p:txBody>
          <a:bodyPr wrap="square" rtlCol="0" anchor="ctr"/>
          <a:lstStyle/>
          <a:p>
            <a:pPr marL="0" indent="0" algn="l">
              <a:buNone/>
            </a:pPr>
            <a:r>
              <a:rPr lang="en-US" sz="1000" dirty="0">
                <a:solidFill>
                  <a:srgbClr val="AAAAAA"/>
                </a:solidFill>
                <a:latin typeface="Calibri" pitchFamily="34" charset="0"/>
                <a:ea typeface="Calibri" pitchFamily="34" charset="-122"/>
                <a:cs typeface="Calibri" pitchFamily="34" charset="-120"/>
              </a:rPr>
              <a:t>The Elements</a:t>
            </a:r>
            <a:endParaRPr lang="en-US" sz="1000" dirty="0"/>
          </a:p>
        </p:txBody>
      </p:sp>
      <p:sp>
        <p:nvSpPr>
          <p:cNvPr id="10" name="Text 8"/>
          <p:cNvSpPr/>
          <p:nvPr/>
        </p:nvSpPr>
        <p:spPr>
          <a:xfrm>
            <a:off x="2651760" y="4434840"/>
            <a:ext cx="1920240" cy="256032"/>
          </a:xfrm>
          <a:prstGeom prst="rect">
            <a:avLst/>
          </a:prstGeom>
          <a:noFill/>
          <a:ln/>
        </p:spPr>
        <p:txBody>
          <a:bodyPr wrap="square" rtlCol="0" anchor="ctr"/>
          <a:lstStyle/>
          <a:p>
            <a:pPr marL="0" indent="0" algn="l">
              <a:buNone/>
            </a:pPr>
            <a:r>
              <a:rPr lang="en-US" sz="1000" dirty="0">
                <a:solidFill>
                  <a:srgbClr val="AAAAAA"/>
                </a:solidFill>
                <a:latin typeface="Calibri" pitchFamily="34" charset="0"/>
                <a:ea typeface="Calibri" pitchFamily="34" charset="-122"/>
                <a:cs typeface="Calibri" pitchFamily="34" charset="-120"/>
              </a:rPr>
              <a:t>Programs</a:t>
            </a:r>
            <a:endParaRPr lang="en-US" sz="1000" dirty="0"/>
          </a:p>
        </p:txBody>
      </p:sp>
      <p:sp>
        <p:nvSpPr>
          <p:cNvPr id="11" name="Text 9"/>
          <p:cNvSpPr/>
          <p:nvPr/>
        </p:nvSpPr>
        <p:spPr>
          <a:xfrm>
            <a:off x="4754880" y="4434840"/>
            <a:ext cx="1920240" cy="256032"/>
          </a:xfrm>
          <a:prstGeom prst="rect">
            <a:avLst/>
          </a:prstGeom>
          <a:noFill/>
          <a:ln/>
        </p:spPr>
        <p:txBody>
          <a:bodyPr wrap="square" rtlCol="0" anchor="ctr"/>
          <a:lstStyle/>
          <a:p>
            <a:pPr marL="0" indent="0" algn="l">
              <a:buNone/>
            </a:pPr>
            <a:r>
              <a:rPr lang="en-US" sz="1000" dirty="0">
                <a:solidFill>
                  <a:srgbClr val="AAAAAA"/>
                </a:solidFill>
                <a:latin typeface="Calibri" pitchFamily="34" charset="0"/>
                <a:ea typeface="Calibri" pitchFamily="34" charset="-122"/>
                <a:cs typeface="Calibri" pitchFamily="34" charset="-120"/>
              </a:rPr>
              <a:t>Experience</a:t>
            </a:r>
            <a:endParaRPr lang="en-US" sz="1000" dirty="0"/>
          </a:p>
        </p:txBody>
      </p:sp>
      <p:sp>
        <p:nvSpPr>
          <p:cNvPr id="12" name="Text 10"/>
          <p:cNvSpPr/>
          <p:nvPr/>
        </p:nvSpPr>
        <p:spPr>
          <a:xfrm>
            <a:off x="6858000" y="4434840"/>
            <a:ext cx="1920240" cy="256032"/>
          </a:xfrm>
          <a:prstGeom prst="rect">
            <a:avLst/>
          </a:prstGeom>
          <a:noFill/>
          <a:ln/>
        </p:spPr>
        <p:txBody>
          <a:bodyPr wrap="square" rtlCol="0" anchor="ctr"/>
          <a:lstStyle/>
          <a:p>
            <a:pPr marL="0" indent="0" algn="l">
              <a:buNone/>
            </a:pPr>
            <a:r>
              <a:rPr lang="en-US" sz="1000" dirty="0">
                <a:solidFill>
                  <a:srgbClr val="AAAAAA"/>
                </a:solidFill>
                <a:latin typeface="Calibri" pitchFamily="34" charset="0"/>
                <a:ea typeface="Calibri" pitchFamily="34" charset="-122"/>
                <a:cs typeface="Calibri" pitchFamily="34" charset="-120"/>
              </a:rPr>
              <a:t>Begin Journey</a:t>
            </a:r>
            <a:endParaRPr lang="en-US" sz="1000" dirty="0"/>
          </a:p>
        </p:txBody>
      </p:sp>
      <p:sp>
        <p:nvSpPr>
          <p:cNvPr id="13" name="Shape 11"/>
          <p:cNvSpPr/>
          <p:nvPr/>
        </p:nvSpPr>
        <p:spPr>
          <a:xfrm>
            <a:off x="548640" y="3858768"/>
            <a:ext cx="1645920" cy="329184"/>
          </a:xfrm>
          <a:prstGeom prst="roundRect">
            <a:avLst>
              <a:gd name="adj" fmla="val 22222"/>
            </a:avLst>
          </a:prstGeom>
          <a:solidFill>
            <a:srgbClr val="C9A96E"/>
          </a:solidFill>
          <a:ln w="12700">
            <a:solidFill>
              <a:srgbClr val="C9A96E"/>
            </a:solidFill>
            <a:prstDash val="solid"/>
          </a:ln>
        </p:spPr>
        <p:txBody>
          <a:bodyPr/>
          <a:lstStyle/>
          <a:p>
            <a:endParaRPr lang="en-US"/>
          </a:p>
        </p:txBody>
      </p:sp>
      <p:sp>
        <p:nvSpPr>
          <p:cNvPr id="14" name="Text 12"/>
          <p:cNvSpPr/>
          <p:nvPr/>
        </p:nvSpPr>
        <p:spPr>
          <a:xfrm>
            <a:off x="548640" y="3858768"/>
            <a:ext cx="1645920" cy="329184"/>
          </a:xfrm>
          <a:prstGeom prst="rect">
            <a:avLst/>
          </a:prstGeom>
          <a:noFill/>
          <a:ln/>
        </p:spPr>
        <p:txBody>
          <a:bodyPr wrap="square" rtlCol="0" anchor="ctr"/>
          <a:lstStyle/>
          <a:p>
            <a:pPr marL="0" indent="0" algn="ctr">
              <a:buNone/>
            </a:pPr>
            <a:r>
              <a:rPr lang="en-US" sz="1000" b="1" dirty="0">
                <a:solidFill>
                  <a:srgbClr val="111810"/>
                </a:solidFill>
                <a:latin typeface="Calibri" pitchFamily="34" charset="0"/>
                <a:ea typeface="Calibri" pitchFamily="34" charset="-122"/>
                <a:cs typeface="Calibri" pitchFamily="34" charset="-120"/>
              </a:rPr>
              <a:t>Explore Programs</a:t>
            </a:r>
            <a:endParaRPr lang="en-US" sz="1000" dirty="0"/>
          </a:p>
        </p:txBody>
      </p:sp>
      <p:sp>
        <p:nvSpPr>
          <p:cNvPr id="15" name="Shape 13"/>
          <p:cNvSpPr/>
          <p:nvPr/>
        </p:nvSpPr>
        <p:spPr>
          <a:xfrm>
            <a:off x="2331720" y="3858768"/>
            <a:ext cx="1737360" cy="329184"/>
          </a:xfrm>
          <a:prstGeom prst="roundRect">
            <a:avLst>
              <a:gd name="adj" fmla="val 22222"/>
            </a:avLst>
          </a:prstGeom>
          <a:solidFill>
            <a:srgbClr val="FFFFFF">
              <a:alpha val="10000"/>
            </a:srgbClr>
          </a:solidFill>
          <a:ln w="12700">
            <a:solidFill>
              <a:srgbClr val="C9A96E"/>
            </a:solidFill>
            <a:prstDash val="solid"/>
          </a:ln>
        </p:spPr>
        <p:txBody>
          <a:bodyPr/>
          <a:lstStyle/>
          <a:p>
            <a:endParaRPr lang="en-US"/>
          </a:p>
        </p:txBody>
      </p:sp>
      <p:sp>
        <p:nvSpPr>
          <p:cNvPr id="16" name="Text 14"/>
          <p:cNvSpPr/>
          <p:nvPr/>
        </p:nvSpPr>
        <p:spPr>
          <a:xfrm>
            <a:off x="2331720" y="3858768"/>
            <a:ext cx="1737360" cy="329184"/>
          </a:xfrm>
          <a:prstGeom prst="rect">
            <a:avLst/>
          </a:prstGeom>
          <a:noFill/>
          <a:ln/>
        </p:spPr>
        <p:txBody>
          <a:bodyPr wrap="square" rtlCol="0" anchor="ctr"/>
          <a:lstStyle/>
          <a:p>
            <a:pPr marL="0" indent="0" algn="ctr">
              <a:buNone/>
            </a:pPr>
            <a:r>
              <a:rPr lang="en-US" sz="1000" dirty="0">
                <a:solidFill>
                  <a:srgbClr val="C9A96E"/>
                </a:solidFill>
                <a:latin typeface="Calibri" pitchFamily="34" charset="0"/>
                <a:ea typeface="Calibri" pitchFamily="34" charset="-122"/>
                <a:cs typeface="Calibri" pitchFamily="34" charset="-120"/>
              </a:rPr>
              <a:t>Discover the Method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137160"/>
            <a:ext cx="8229600" cy="274320"/>
          </a:xfrm>
          <a:prstGeom prst="rect">
            <a:avLst/>
          </a:prstGeom>
          <a:noFill/>
          <a:ln/>
        </p:spPr>
        <p:txBody>
          <a:bodyPr wrap="square" rtlCol="0" anchor="ctr"/>
          <a:lstStyle/>
          <a:p>
            <a:pPr marL="0" indent="0" algn="l">
              <a:buNone/>
            </a:pPr>
            <a:r>
              <a:rPr lang="en-US" sz="900" b="1" kern="0" spc="400" dirty="0">
                <a:solidFill>
                  <a:srgbClr val="C9A96E"/>
                </a:solidFill>
                <a:latin typeface="Arial" pitchFamily="34" charset="0"/>
                <a:ea typeface="Arial" pitchFamily="34" charset="-122"/>
                <a:cs typeface="Arial" pitchFamily="34" charset="-120"/>
              </a:rPr>
              <a:t>HOMEPAGE · INGLÉS — LA FILOSOFÍA</a:t>
            </a:r>
            <a:endParaRPr lang="en-US" sz="900" dirty="0"/>
          </a:p>
        </p:txBody>
      </p:sp>
      <p:sp>
        <p:nvSpPr>
          <p:cNvPr id="4" name="Shape 2"/>
          <p:cNvSpPr/>
          <p:nvPr/>
        </p:nvSpPr>
        <p:spPr>
          <a:xfrm>
            <a:off x="502920" y="484632"/>
            <a:ext cx="8138160" cy="0"/>
          </a:xfrm>
          <a:prstGeom prst="line">
            <a:avLst/>
          </a:prstGeom>
          <a:noFill/>
          <a:ln w="12700">
            <a:solidFill>
              <a:srgbClr val="F4F2EE"/>
            </a:solidFill>
            <a:prstDash val="solid"/>
          </a:ln>
        </p:spPr>
        <p:txBody>
          <a:bodyPr/>
          <a:lstStyle/>
          <a:p>
            <a:endParaRPr lang="en-US"/>
          </a:p>
        </p:txBody>
      </p:sp>
      <p:sp>
        <p:nvSpPr>
          <p:cNvPr id="5" name="Text 3"/>
          <p:cNvSpPr/>
          <p:nvPr/>
        </p:nvSpPr>
        <p:spPr>
          <a:xfrm>
            <a:off x="502920" y="594360"/>
            <a:ext cx="8138160" cy="1005840"/>
          </a:xfrm>
          <a:prstGeom prst="rect">
            <a:avLst/>
          </a:prstGeom>
          <a:noFill/>
          <a:ln/>
        </p:spPr>
        <p:txBody>
          <a:bodyPr wrap="square" rtlCol="0" anchor="ctr"/>
          <a:lstStyle/>
          <a:p>
            <a:pPr marL="0" indent="0" algn="l">
              <a:buNone/>
            </a:pPr>
            <a:r>
              <a:rPr lang="en-US" sz="2800" b="1" dirty="0">
                <a:solidFill>
                  <a:srgbClr val="2C2C2A"/>
                </a:solidFill>
                <a:latin typeface="Cambria" pitchFamily="34" charset="0"/>
                <a:ea typeface="Cambria" pitchFamily="34" charset="-122"/>
                <a:cs typeface="Cambria" pitchFamily="34" charset="-120"/>
              </a:rPr>
              <a:t>Nature doesn't manage. Nature leads.</a:t>
            </a:r>
            <a:endParaRPr lang="en-US" sz="2800" dirty="0"/>
          </a:p>
        </p:txBody>
      </p:sp>
      <p:sp>
        <p:nvSpPr>
          <p:cNvPr id="6" name="Text 4"/>
          <p:cNvSpPr/>
          <p:nvPr/>
        </p:nvSpPr>
        <p:spPr>
          <a:xfrm>
            <a:off x="502920" y="1417320"/>
            <a:ext cx="8138160" cy="731520"/>
          </a:xfrm>
          <a:prstGeom prst="rect">
            <a:avLst/>
          </a:prstGeom>
          <a:noFill/>
          <a:ln/>
        </p:spPr>
        <p:txBody>
          <a:bodyPr wrap="square" rtlCol="0" anchor="t"/>
          <a:lstStyle/>
          <a:p>
            <a:pPr marL="0" indent="0" algn="l">
              <a:buNone/>
            </a:pPr>
            <a:r>
              <a:rPr lang="en-US" sz="1300" dirty="0">
                <a:solidFill>
                  <a:srgbClr val="2C2C2A"/>
                </a:solidFill>
                <a:latin typeface="Calibri" pitchFamily="34" charset="0"/>
                <a:ea typeface="Calibri" pitchFamily="34" charset="-122"/>
                <a:cs typeface="Calibri" pitchFamily="34" charset="-120"/>
              </a:rPr>
              <a:t>The Elements Method brings executives back to their instinctive source of power. Through immersive experiences in natural environments, leaders discover the four fundamental forces that shape resilient, authentic, and effective leadership. This is not a retreat. This is a return.</a:t>
            </a:r>
            <a:endParaRPr lang="en-US" sz="1300" dirty="0"/>
          </a:p>
        </p:txBody>
      </p:sp>
      <p:sp>
        <p:nvSpPr>
          <p:cNvPr id="7" name="Shape 5"/>
          <p:cNvSpPr/>
          <p:nvPr/>
        </p:nvSpPr>
        <p:spPr>
          <a:xfrm>
            <a:off x="320040" y="2286000"/>
            <a:ext cx="2057400" cy="2606040"/>
          </a:xfrm>
          <a:prstGeom prst="roundRect">
            <a:avLst>
              <a:gd name="adj" fmla="val 4444"/>
            </a:avLst>
          </a:prstGeom>
          <a:solidFill>
            <a:srgbClr val="EAF4FA"/>
          </a:solidFill>
          <a:ln w="12700">
            <a:solidFill>
              <a:srgbClr val="EAF4FA"/>
            </a:solidFill>
            <a:prstDash val="solid"/>
          </a:ln>
          <a:effectLst>
            <a:outerShdw blurRad="101600" dist="25400" dir="2700000" algn="bl" rotWithShape="0">
              <a:srgbClr val="000000">
                <a:alpha val="9000"/>
              </a:srgbClr>
            </a:outerShdw>
          </a:effectLst>
        </p:spPr>
        <p:txBody>
          <a:bodyPr/>
          <a:lstStyle/>
          <a:p>
            <a:endParaRPr lang="en-US"/>
          </a:p>
        </p:txBody>
      </p:sp>
      <p:sp>
        <p:nvSpPr>
          <p:cNvPr id="8" name="Text 6"/>
          <p:cNvSpPr/>
          <p:nvPr/>
        </p:nvSpPr>
        <p:spPr>
          <a:xfrm>
            <a:off x="448056" y="2395728"/>
            <a:ext cx="1801368" cy="310896"/>
          </a:xfrm>
          <a:prstGeom prst="rect">
            <a:avLst/>
          </a:prstGeom>
          <a:noFill/>
          <a:ln/>
        </p:spPr>
        <p:txBody>
          <a:bodyPr wrap="square" lIns="0" tIns="0" rIns="0" bIns="0" rtlCol="0" anchor="ctr"/>
          <a:lstStyle/>
          <a:p>
            <a:pPr marL="0" indent="0" algn="l">
              <a:buNone/>
            </a:pPr>
            <a:r>
              <a:rPr lang="en-US" sz="1400" b="1" dirty="0">
                <a:solidFill>
                  <a:srgbClr val="2B6B8A"/>
                </a:solidFill>
                <a:latin typeface="Cambria" pitchFamily="34" charset="0"/>
                <a:ea typeface="Cambria" pitchFamily="34" charset="-122"/>
                <a:cs typeface="Cambria" pitchFamily="34" charset="-120"/>
              </a:rPr>
              <a:t>Water</a:t>
            </a:r>
            <a:endParaRPr lang="en-US" sz="1400" dirty="0"/>
          </a:p>
        </p:txBody>
      </p:sp>
      <p:sp>
        <p:nvSpPr>
          <p:cNvPr id="9" name="Text 7"/>
          <p:cNvSpPr/>
          <p:nvPr/>
        </p:nvSpPr>
        <p:spPr>
          <a:xfrm>
            <a:off x="448056" y="2724912"/>
            <a:ext cx="1801368" cy="237744"/>
          </a:xfrm>
          <a:prstGeom prst="rect">
            <a:avLst/>
          </a:prstGeom>
          <a:noFill/>
          <a:ln/>
        </p:spPr>
        <p:txBody>
          <a:bodyPr wrap="square" rtlCol="0" anchor="ctr"/>
          <a:lstStyle/>
          <a:p>
            <a:pPr marL="0" indent="0" algn="l">
              <a:buNone/>
            </a:pPr>
            <a:r>
              <a:rPr lang="en-US" sz="900" i="1" dirty="0">
                <a:solidFill>
                  <a:srgbClr val="2B6B8A"/>
                </a:solidFill>
                <a:latin typeface="Calibri" pitchFamily="34" charset="0"/>
                <a:ea typeface="Calibri" pitchFamily="34" charset="-122"/>
                <a:cs typeface="Calibri" pitchFamily="34" charset="-120"/>
              </a:rPr>
              <a:t>Clarity · Flow · Depth</a:t>
            </a:r>
            <a:endParaRPr lang="en-US" sz="900" dirty="0"/>
          </a:p>
        </p:txBody>
      </p:sp>
      <p:sp>
        <p:nvSpPr>
          <p:cNvPr id="10" name="Shape 8"/>
          <p:cNvSpPr/>
          <p:nvPr/>
        </p:nvSpPr>
        <p:spPr>
          <a:xfrm>
            <a:off x="448056" y="2999232"/>
            <a:ext cx="1801368" cy="0"/>
          </a:xfrm>
          <a:prstGeom prst="line">
            <a:avLst/>
          </a:prstGeom>
          <a:noFill/>
          <a:ln w="6350">
            <a:solidFill>
              <a:srgbClr val="2B6B8A">
                <a:alpha val="40000"/>
              </a:srgbClr>
            </a:solidFill>
            <a:prstDash val="solid"/>
          </a:ln>
        </p:spPr>
        <p:txBody>
          <a:bodyPr/>
          <a:lstStyle/>
          <a:p>
            <a:endParaRPr lang="en-US"/>
          </a:p>
        </p:txBody>
      </p:sp>
      <p:sp>
        <p:nvSpPr>
          <p:cNvPr id="11" name="Text 9"/>
          <p:cNvSpPr/>
          <p:nvPr/>
        </p:nvSpPr>
        <p:spPr>
          <a:xfrm>
            <a:off x="448056" y="3063240"/>
            <a:ext cx="1801368" cy="1719072"/>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Cultivate the leader who listens deeply, adapts fluidly, and holds clarity even in turbulent conditions. Water teaches us to find the path of least resistance without losing direction.</a:t>
            </a:r>
            <a:endParaRPr lang="en-US" sz="1000" dirty="0"/>
          </a:p>
        </p:txBody>
      </p:sp>
      <p:sp>
        <p:nvSpPr>
          <p:cNvPr id="12" name="Shape 10"/>
          <p:cNvSpPr/>
          <p:nvPr/>
        </p:nvSpPr>
        <p:spPr>
          <a:xfrm>
            <a:off x="2532888" y="2286000"/>
            <a:ext cx="2057400" cy="2606040"/>
          </a:xfrm>
          <a:prstGeom prst="roundRect">
            <a:avLst>
              <a:gd name="adj" fmla="val 4444"/>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13" name="Text 11"/>
          <p:cNvSpPr/>
          <p:nvPr/>
        </p:nvSpPr>
        <p:spPr>
          <a:xfrm>
            <a:off x="2660904" y="2395728"/>
            <a:ext cx="1801368" cy="310896"/>
          </a:xfrm>
          <a:prstGeom prst="rect">
            <a:avLst/>
          </a:prstGeom>
          <a:noFill/>
          <a:ln/>
        </p:spPr>
        <p:txBody>
          <a:bodyPr wrap="square" lIns="0" tIns="0" rIns="0" bIns="0" rtlCol="0" anchor="ctr"/>
          <a:lstStyle/>
          <a:p>
            <a:pPr marL="0" indent="0" algn="l">
              <a:buNone/>
            </a:pPr>
            <a:r>
              <a:rPr lang="en-US" sz="1400" b="1" dirty="0">
                <a:solidFill>
                  <a:srgbClr val="C4622D"/>
                </a:solidFill>
                <a:latin typeface="Cambria" pitchFamily="34" charset="0"/>
                <a:ea typeface="Cambria" pitchFamily="34" charset="-122"/>
                <a:cs typeface="Cambria" pitchFamily="34" charset="-120"/>
              </a:rPr>
              <a:t>Fire</a:t>
            </a:r>
            <a:endParaRPr lang="en-US" sz="1400" dirty="0"/>
          </a:p>
        </p:txBody>
      </p:sp>
      <p:sp>
        <p:nvSpPr>
          <p:cNvPr id="14" name="Text 12"/>
          <p:cNvSpPr/>
          <p:nvPr/>
        </p:nvSpPr>
        <p:spPr>
          <a:xfrm>
            <a:off x="2660904" y="2724912"/>
            <a:ext cx="1801368" cy="237744"/>
          </a:xfrm>
          <a:prstGeom prst="rect">
            <a:avLst/>
          </a:prstGeom>
          <a:noFill/>
          <a:ln/>
        </p:spPr>
        <p:txBody>
          <a:bodyPr wrap="square" rtlCol="0" anchor="ctr"/>
          <a:lstStyle/>
          <a:p>
            <a:pPr marL="0" indent="0" algn="l">
              <a:buNone/>
            </a:pPr>
            <a:r>
              <a:rPr lang="en-US" sz="900" i="1" dirty="0">
                <a:solidFill>
                  <a:srgbClr val="C4622D"/>
                </a:solidFill>
                <a:latin typeface="Calibri" pitchFamily="34" charset="0"/>
                <a:ea typeface="Calibri" pitchFamily="34" charset="-122"/>
                <a:cs typeface="Calibri" pitchFamily="34" charset="-120"/>
              </a:rPr>
              <a:t>Vision · Courage · Activation</a:t>
            </a:r>
            <a:endParaRPr lang="en-US" sz="900" dirty="0"/>
          </a:p>
        </p:txBody>
      </p:sp>
      <p:sp>
        <p:nvSpPr>
          <p:cNvPr id="15" name="Shape 13"/>
          <p:cNvSpPr/>
          <p:nvPr/>
        </p:nvSpPr>
        <p:spPr>
          <a:xfrm>
            <a:off x="2660904" y="2999232"/>
            <a:ext cx="1801368" cy="0"/>
          </a:xfrm>
          <a:prstGeom prst="line">
            <a:avLst/>
          </a:prstGeom>
          <a:noFill/>
          <a:ln w="6350">
            <a:solidFill>
              <a:srgbClr val="C4622D">
                <a:alpha val="40000"/>
              </a:srgbClr>
            </a:solidFill>
            <a:prstDash val="solid"/>
          </a:ln>
        </p:spPr>
        <p:txBody>
          <a:bodyPr/>
          <a:lstStyle/>
          <a:p>
            <a:endParaRPr lang="en-US"/>
          </a:p>
        </p:txBody>
      </p:sp>
      <p:sp>
        <p:nvSpPr>
          <p:cNvPr id="16" name="Text 14"/>
          <p:cNvSpPr/>
          <p:nvPr/>
        </p:nvSpPr>
        <p:spPr>
          <a:xfrm>
            <a:off x="2660904" y="3063240"/>
            <a:ext cx="1801368" cy="1719072"/>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Ignite the leader who transforms, inspires, and moves others toward what matters. Fire teaches us to burn away the unnecessary and illuminate what's essential.</a:t>
            </a:r>
            <a:endParaRPr lang="en-US" sz="1000" dirty="0"/>
          </a:p>
        </p:txBody>
      </p:sp>
      <p:sp>
        <p:nvSpPr>
          <p:cNvPr id="17" name="Shape 15"/>
          <p:cNvSpPr/>
          <p:nvPr/>
        </p:nvSpPr>
        <p:spPr>
          <a:xfrm>
            <a:off x="4745736" y="2286000"/>
            <a:ext cx="2057400" cy="2606040"/>
          </a:xfrm>
          <a:prstGeom prst="roundRect">
            <a:avLst>
              <a:gd name="adj" fmla="val 4444"/>
            </a:avLst>
          </a:prstGeom>
          <a:solidFill>
            <a:srgbClr val="EEF5F9"/>
          </a:solidFill>
          <a:ln w="12700">
            <a:solidFill>
              <a:srgbClr val="EEF5F9"/>
            </a:solidFill>
            <a:prstDash val="solid"/>
          </a:ln>
          <a:effectLst>
            <a:outerShdw blurRad="101600" dist="25400" dir="2700000" algn="bl" rotWithShape="0">
              <a:srgbClr val="000000">
                <a:alpha val="9000"/>
              </a:srgbClr>
            </a:outerShdw>
          </a:effectLst>
        </p:spPr>
        <p:txBody>
          <a:bodyPr/>
          <a:lstStyle/>
          <a:p>
            <a:endParaRPr lang="en-US"/>
          </a:p>
        </p:txBody>
      </p:sp>
      <p:sp>
        <p:nvSpPr>
          <p:cNvPr id="18" name="Text 16"/>
          <p:cNvSpPr/>
          <p:nvPr/>
        </p:nvSpPr>
        <p:spPr>
          <a:xfrm>
            <a:off x="4873752" y="2395728"/>
            <a:ext cx="1801368" cy="310896"/>
          </a:xfrm>
          <a:prstGeom prst="rect">
            <a:avLst/>
          </a:prstGeom>
          <a:noFill/>
          <a:ln/>
        </p:spPr>
        <p:txBody>
          <a:bodyPr wrap="square" lIns="0" tIns="0" rIns="0" bIns="0" rtlCol="0" anchor="ctr"/>
          <a:lstStyle/>
          <a:p>
            <a:pPr marL="0" indent="0" algn="l">
              <a:buNone/>
            </a:pPr>
            <a:r>
              <a:rPr lang="en-US" sz="1400" b="1" dirty="0">
                <a:solidFill>
                  <a:srgbClr val="7A9BAD"/>
                </a:solidFill>
                <a:latin typeface="Cambria" pitchFamily="34" charset="0"/>
                <a:ea typeface="Cambria" pitchFamily="34" charset="-122"/>
                <a:cs typeface="Cambria" pitchFamily="34" charset="-120"/>
              </a:rPr>
              <a:t>Air</a:t>
            </a:r>
            <a:endParaRPr lang="en-US" sz="1400" dirty="0"/>
          </a:p>
        </p:txBody>
      </p:sp>
      <p:sp>
        <p:nvSpPr>
          <p:cNvPr id="19" name="Text 17"/>
          <p:cNvSpPr/>
          <p:nvPr/>
        </p:nvSpPr>
        <p:spPr>
          <a:xfrm>
            <a:off x="4873752" y="2724912"/>
            <a:ext cx="1801368" cy="237744"/>
          </a:xfrm>
          <a:prstGeom prst="rect">
            <a:avLst/>
          </a:prstGeom>
          <a:noFill/>
          <a:ln/>
        </p:spPr>
        <p:txBody>
          <a:bodyPr wrap="square" rtlCol="0" anchor="ctr"/>
          <a:lstStyle/>
          <a:p>
            <a:pPr marL="0" indent="0" algn="l">
              <a:buNone/>
            </a:pPr>
            <a:r>
              <a:rPr lang="en-US" sz="900" i="1" dirty="0">
                <a:solidFill>
                  <a:srgbClr val="7A9BAD"/>
                </a:solidFill>
                <a:latin typeface="Calibri" pitchFamily="34" charset="0"/>
                <a:ea typeface="Calibri" pitchFamily="34" charset="-122"/>
                <a:cs typeface="Calibri" pitchFamily="34" charset="-120"/>
              </a:rPr>
              <a:t>Perspective · Communication · Freedom</a:t>
            </a:r>
            <a:endParaRPr lang="en-US" sz="900" dirty="0"/>
          </a:p>
        </p:txBody>
      </p:sp>
      <p:sp>
        <p:nvSpPr>
          <p:cNvPr id="20" name="Shape 18"/>
          <p:cNvSpPr/>
          <p:nvPr/>
        </p:nvSpPr>
        <p:spPr>
          <a:xfrm>
            <a:off x="4873752" y="2999232"/>
            <a:ext cx="1801368" cy="0"/>
          </a:xfrm>
          <a:prstGeom prst="line">
            <a:avLst/>
          </a:prstGeom>
          <a:noFill/>
          <a:ln w="6350">
            <a:solidFill>
              <a:srgbClr val="7A9BAD">
                <a:alpha val="40000"/>
              </a:srgbClr>
            </a:solidFill>
            <a:prstDash val="solid"/>
          </a:ln>
        </p:spPr>
        <p:txBody>
          <a:bodyPr/>
          <a:lstStyle/>
          <a:p>
            <a:endParaRPr lang="en-US"/>
          </a:p>
        </p:txBody>
      </p:sp>
      <p:sp>
        <p:nvSpPr>
          <p:cNvPr id="21" name="Text 19"/>
          <p:cNvSpPr/>
          <p:nvPr/>
        </p:nvSpPr>
        <p:spPr>
          <a:xfrm>
            <a:off x="4873752" y="3063240"/>
            <a:ext cx="1801368" cy="1719072"/>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Develop the leader who sees the full landscape, communicates with precision, and creates space for others to breathe and grow. Air teaches us to rise above and look forward.</a:t>
            </a:r>
            <a:endParaRPr lang="en-US" sz="1000" dirty="0"/>
          </a:p>
        </p:txBody>
      </p:sp>
      <p:sp>
        <p:nvSpPr>
          <p:cNvPr id="22" name="Shape 20"/>
          <p:cNvSpPr/>
          <p:nvPr/>
        </p:nvSpPr>
        <p:spPr>
          <a:xfrm>
            <a:off x="6958584" y="2286000"/>
            <a:ext cx="2057400" cy="2606040"/>
          </a:xfrm>
          <a:prstGeom prst="roundRect">
            <a:avLst>
              <a:gd name="adj" fmla="val 4444"/>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23" name="Text 21"/>
          <p:cNvSpPr/>
          <p:nvPr/>
        </p:nvSpPr>
        <p:spPr>
          <a:xfrm>
            <a:off x="7086600" y="2395728"/>
            <a:ext cx="1801368" cy="310896"/>
          </a:xfrm>
          <a:prstGeom prst="rect">
            <a:avLst/>
          </a:prstGeom>
          <a:noFill/>
          <a:ln/>
        </p:spPr>
        <p:txBody>
          <a:bodyPr wrap="square" lIns="0" tIns="0" rIns="0" bIns="0" rtlCol="0" anchor="ctr"/>
          <a:lstStyle/>
          <a:p>
            <a:pPr marL="0" indent="0" algn="l">
              <a:buNone/>
            </a:pPr>
            <a:r>
              <a:rPr lang="en-US" sz="1400" b="1" dirty="0">
                <a:solidFill>
                  <a:srgbClr val="3D5A3E"/>
                </a:solidFill>
                <a:latin typeface="Cambria" pitchFamily="34" charset="0"/>
                <a:ea typeface="Cambria" pitchFamily="34" charset="-122"/>
                <a:cs typeface="Cambria" pitchFamily="34" charset="-120"/>
              </a:rPr>
              <a:t>Earth</a:t>
            </a:r>
            <a:endParaRPr lang="en-US" sz="1400" dirty="0"/>
          </a:p>
        </p:txBody>
      </p:sp>
      <p:sp>
        <p:nvSpPr>
          <p:cNvPr id="24" name="Text 22"/>
          <p:cNvSpPr/>
          <p:nvPr/>
        </p:nvSpPr>
        <p:spPr>
          <a:xfrm>
            <a:off x="7086600" y="2724912"/>
            <a:ext cx="1801368" cy="237744"/>
          </a:xfrm>
          <a:prstGeom prst="rect">
            <a:avLst/>
          </a:prstGeom>
          <a:noFill/>
          <a:ln/>
        </p:spPr>
        <p:txBody>
          <a:bodyPr wrap="square" rtlCol="0" anchor="ctr"/>
          <a:lstStyle/>
          <a:p>
            <a:pPr marL="0" indent="0" algn="l">
              <a:buNone/>
            </a:pPr>
            <a:r>
              <a:rPr lang="en-US" sz="900" i="1" dirty="0">
                <a:solidFill>
                  <a:srgbClr val="3D5A3E"/>
                </a:solidFill>
                <a:latin typeface="Calibri" pitchFamily="34" charset="0"/>
                <a:ea typeface="Calibri" pitchFamily="34" charset="-122"/>
                <a:cs typeface="Calibri" pitchFamily="34" charset="-120"/>
              </a:rPr>
              <a:t>Groundedness · Trust · Roots</a:t>
            </a:r>
            <a:endParaRPr lang="en-US" sz="900" dirty="0"/>
          </a:p>
        </p:txBody>
      </p:sp>
      <p:sp>
        <p:nvSpPr>
          <p:cNvPr id="25" name="Shape 23"/>
          <p:cNvSpPr/>
          <p:nvPr/>
        </p:nvSpPr>
        <p:spPr>
          <a:xfrm>
            <a:off x="7086600" y="2999232"/>
            <a:ext cx="1801368" cy="0"/>
          </a:xfrm>
          <a:prstGeom prst="line">
            <a:avLst/>
          </a:prstGeom>
          <a:noFill/>
          <a:ln w="6350">
            <a:solidFill>
              <a:srgbClr val="3D5A3E">
                <a:alpha val="40000"/>
              </a:srgbClr>
            </a:solidFill>
            <a:prstDash val="solid"/>
          </a:ln>
        </p:spPr>
        <p:txBody>
          <a:bodyPr/>
          <a:lstStyle/>
          <a:p>
            <a:endParaRPr lang="en-US"/>
          </a:p>
        </p:txBody>
      </p:sp>
      <p:sp>
        <p:nvSpPr>
          <p:cNvPr id="26" name="Text 24"/>
          <p:cNvSpPr/>
          <p:nvPr/>
        </p:nvSpPr>
        <p:spPr>
          <a:xfrm>
            <a:off x="7086600" y="3063240"/>
            <a:ext cx="1801368" cy="1719072"/>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Embody the leader who anchors their team, builds lasting trust, and creates environments where people and organizations flourish. Earth teaches us that true strength grows from deep roots.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137160"/>
            <a:ext cx="8229600" cy="274320"/>
          </a:xfrm>
          <a:prstGeom prst="rect">
            <a:avLst/>
          </a:prstGeom>
          <a:noFill/>
          <a:ln/>
        </p:spPr>
        <p:txBody>
          <a:bodyPr wrap="square" rtlCol="0" anchor="ctr"/>
          <a:lstStyle/>
          <a:p>
            <a:pPr marL="0" indent="0" algn="l">
              <a:buNone/>
            </a:pPr>
            <a:r>
              <a:rPr lang="en-US" sz="900" b="1" kern="0" spc="400" dirty="0">
                <a:solidFill>
                  <a:srgbClr val="C9A96E"/>
                </a:solidFill>
                <a:latin typeface="Arial" pitchFamily="34" charset="0"/>
                <a:ea typeface="Arial" pitchFamily="34" charset="-122"/>
                <a:cs typeface="Arial" pitchFamily="34" charset="-120"/>
              </a:rPr>
              <a:t>HOMEPAGE · INGLÉS — PROGRAMAS</a:t>
            </a:r>
            <a:endParaRPr lang="en-US" sz="900" dirty="0"/>
          </a:p>
        </p:txBody>
      </p:sp>
      <p:sp>
        <p:nvSpPr>
          <p:cNvPr id="4" name="Shape 2"/>
          <p:cNvSpPr/>
          <p:nvPr/>
        </p:nvSpPr>
        <p:spPr>
          <a:xfrm>
            <a:off x="502920" y="484632"/>
            <a:ext cx="8138160" cy="0"/>
          </a:xfrm>
          <a:prstGeom prst="line">
            <a:avLst/>
          </a:prstGeom>
          <a:noFill/>
          <a:ln w="12700">
            <a:solidFill>
              <a:srgbClr val="F4F2EE"/>
            </a:solidFill>
            <a:prstDash val="solid"/>
          </a:ln>
        </p:spPr>
        <p:txBody>
          <a:bodyPr/>
          <a:lstStyle/>
          <a:p>
            <a:endParaRPr lang="en-US"/>
          </a:p>
        </p:txBody>
      </p:sp>
      <p:sp>
        <p:nvSpPr>
          <p:cNvPr id="5" name="Text 3"/>
          <p:cNvSpPr/>
          <p:nvPr/>
        </p:nvSpPr>
        <p:spPr>
          <a:xfrm>
            <a:off x="502920" y="594360"/>
            <a:ext cx="8138160" cy="1005840"/>
          </a:xfrm>
          <a:prstGeom prst="rect">
            <a:avLst/>
          </a:prstGeom>
          <a:noFill/>
          <a:ln/>
        </p:spPr>
        <p:txBody>
          <a:bodyPr wrap="square" rtlCol="0" anchor="ctr"/>
          <a:lstStyle/>
          <a:p>
            <a:pPr marL="0" indent="0" algn="l">
              <a:buNone/>
            </a:pPr>
            <a:r>
              <a:rPr lang="en-US" sz="2800" b="1" dirty="0">
                <a:solidFill>
                  <a:srgbClr val="2C2C2A"/>
                </a:solidFill>
                <a:latin typeface="Cambria" pitchFamily="34" charset="0"/>
                <a:ea typeface="Cambria" pitchFamily="34" charset="-122"/>
                <a:cs typeface="Cambria" pitchFamily="34" charset="-120"/>
              </a:rPr>
              <a:t>Choose Your Journey </a:t>
            </a:r>
            <a:endParaRPr lang="en-US" sz="2800" dirty="0"/>
          </a:p>
        </p:txBody>
      </p:sp>
      <p:sp>
        <p:nvSpPr>
          <p:cNvPr id="6" name="Shape 4"/>
          <p:cNvSpPr/>
          <p:nvPr/>
        </p:nvSpPr>
        <p:spPr>
          <a:xfrm>
            <a:off x="320040" y="1371600"/>
            <a:ext cx="2788920" cy="3566160"/>
          </a:xfrm>
          <a:prstGeom prst="roundRect">
            <a:avLst>
              <a:gd name="adj" fmla="val 3279"/>
            </a:avLst>
          </a:prstGeom>
          <a:solidFill>
            <a:srgbClr val="EAF4FA"/>
          </a:solidFill>
          <a:ln w="12700">
            <a:solidFill>
              <a:srgbClr val="EAF4FA"/>
            </a:solidFill>
            <a:prstDash val="solid"/>
          </a:ln>
          <a:effectLst>
            <a:outerShdw blurRad="101600" dist="25400" dir="2700000" algn="bl" rotWithShape="0">
              <a:srgbClr val="000000">
                <a:alpha val="9000"/>
              </a:srgbClr>
            </a:outerShdw>
          </a:effectLst>
        </p:spPr>
        <p:txBody>
          <a:bodyPr/>
          <a:lstStyle/>
          <a:p>
            <a:endParaRPr lang="en-US"/>
          </a:p>
        </p:txBody>
      </p:sp>
      <p:sp>
        <p:nvSpPr>
          <p:cNvPr id="7" name="Text 5"/>
          <p:cNvSpPr/>
          <p:nvPr/>
        </p:nvSpPr>
        <p:spPr>
          <a:xfrm>
            <a:off x="457200" y="1481328"/>
            <a:ext cx="2514600" cy="219456"/>
          </a:xfrm>
          <a:prstGeom prst="rect">
            <a:avLst/>
          </a:prstGeom>
          <a:noFill/>
          <a:ln/>
        </p:spPr>
        <p:txBody>
          <a:bodyPr wrap="square" rtlCol="0" anchor="ctr"/>
          <a:lstStyle/>
          <a:p>
            <a:pPr marL="0" indent="0" algn="l">
              <a:buNone/>
            </a:pPr>
            <a:r>
              <a:rPr lang="en-US" sz="800" b="1" kern="0" spc="50" dirty="0">
                <a:solidFill>
                  <a:srgbClr val="2B6B8A"/>
                </a:solidFill>
                <a:latin typeface="Arial" pitchFamily="34" charset="0"/>
                <a:ea typeface="Arial" pitchFamily="34" charset="-122"/>
                <a:cs typeface="Arial" pitchFamily="34" charset="-120"/>
              </a:rPr>
              <a:t>The Journey · Group</a:t>
            </a:r>
            <a:endParaRPr lang="en-US" sz="800" dirty="0"/>
          </a:p>
        </p:txBody>
      </p:sp>
      <p:sp>
        <p:nvSpPr>
          <p:cNvPr id="8" name="Text 6"/>
          <p:cNvSpPr/>
          <p:nvPr/>
        </p:nvSpPr>
        <p:spPr>
          <a:xfrm>
            <a:off x="457200" y="1719072"/>
            <a:ext cx="2514600" cy="384048"/>
          </a:xfrm>
          <a:prstGeom prst="rect">
            <a:avLst/>
          </a:prstGeom>
          <a:noFill/>
          <a:ln/>
        </p:spPr>
        <p:txBody>
          <a:bodyPr wrap="square" lIns="0" tIns="0" rIns="0" bIns="0" rtlCol="0" anchor="ctr"/>
          <a:lstStyle/>
          <a:p>
            <a:pPr marL="0" indent="0" algn="l">
              <a:buNone/>
            </a:pPr>
            <a:r>
              <a:rPr lang="en-US" sz="2000" b="1" dirty="0">
                <a:solidFill>
                  <a:srgbClr val="2B6B8A"/>
                </a:solidFill>
                <a:latin typeface="Cambria" pitchFamily="34" charset="0"/>
                <a:ea typeface="Cambria" pitchFamily="34" charset="-122"/>
                <a:cs typeface="Cambria" pitchFamily="34" charset="-120"/>
              </a:rPr>
              <a:t>Roots</a:t>
            </a:r>
            <a:endParaRPr lang="en-US" sz="2000" dirty="0"/>
          </a:p>
        </p:txBody>
      </p:sp>
      <p:sp>
        <p:nvSpPr>
          <p:cNvPr id="9" name="Text 7"/>
          <p:cNvSpPr/>
          <p:nvPr/>
        </p:nvSpPr>
        <p:spPr>
          <a:xfrm>
            <a:off x="457200" y="2121408"/>
            <a:ext cx="2514600" cy="256032"/>
          </a:xfrm>
          <a:prstGeom prst="rect">
            <a:avLst/>
          </a:prstGeom>
          <a:noFill/>
          <a:ln/>
        </p:spPr>
        <p:txBody>
          <a:bodyPr wrap="square" rtlCol="0" anchor="ctr"/>
          <a:lstStyle/>
          <a:p>
            <a:pPr marL="0" indent="0" algn="l">
              <a:buNone/>
            </a:pPr>
            <a:r>
              <a:rPr lang="en-US" sz="1000" i="1" dirty="0">
                <a:solidFill>
                  <a:srgbClr val="5A5A55"/>
                </a:solidFill>
                <a:latin typeface="Calibri" pitchFamily="34" charset="0"/>
                <a:ea typeface="Calibri" pitchFamily="34" charset="-122"/>
                <a:cs typeface="Calibri" pitchFamily="34" charset="-120"/>
              </a:rPr>
              <a:t>5-month immersion program</a:t>
            </a:r>
            <a:endParaRPr lang="en-US" sz="1000" dirty="0"/>
          </a:p>
        </p:txBody>
      </p:sp>
      <p:sp>
        <p:nvSpPr>
          <p:cNvPr id="10" name="Shape 8"/>
          <p:cNvSpPr/>
          <p:nvPr/>
        </p:nvSpPr>
        <p:spPr>
          <a:xfrm>
            <a:off x="457200" y="2423160"/>
            <a:ext cx="2514600" cy="0"/>
          </a:xfrm>
          <a:prstGeom prst="line">
            <a:avLst/>
          </a:prstGeom>
          <a:noFill/>
          <a:ln w="6350">
            <a:solidFill>
              <a:srgbClr val="2B6B8A">
                <a:alpha val="45000"/>
              </a:srgbClr>
            </a:solidFill>
            <a:prstDash val="solid"/>
          </a:ln>
        </p:spPr>
        <p:txBody>
          <a:bodyPr/>
          <a:lstStyle/>
          <a:p>
            <a:endParaRPr lang="en-US"/>
          </a:p>
        </p:txBody>
      </p:sp>
      <p:sp>
        <p:nvSpPr>
          <p:cNvPr id="11" name="Text 9"/>
          <p:cNvSpPr/>
          <p:nvPr/>
        </p:nvSpPr>
        <p:spPr>
          <a:xfrm>
            <a:off x="457200" y="2487168"/>
            <a:ext cx="2514600" cy="1920240"/>
          </a:xfrm>
          <a:prstGeom prst="rect">
            <a:avLst/>
          </a:prstGeom>
          <a:noFill/>
          <a:ln/>
        </p:spPr>
        <p:txBody>
          <a:bodyPr wrap="square" rtlCol="0" anchor="t"/>
          <a:lstStyle/>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1 in-person nature immersion per month</a:t>
            </a:r>
          </a:p>
          <a:p>
            <a:pPr marL="342900" indent="-342900">
              <a:buSzPct val="100000"/>
              <a:buFontTx/>
              <a:buChar char="•"/>
            </a:pPr>
            <a:r>
              <a:rPr lang="en-US" sz="1000" dirty="0">
                <a:solidFill>
                  <a:srgbClr val="2C2C2A"/>
                </a:solidFill>
                <a:latin typeface="Calibri" pitchFamily="34" charset="0"/>
                <a:ea typeface="Calibri" pitchFamily="34" charset="-122"/>
                <a:cs typeface="Calibri" pitchFamily="34" charset="-120"/>
              </a:rPr>
              <a:t>Immersive nature environments</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2 individual coaching sessions per month for minimum of 6 months (Extra Cost)</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Journey through all 4 elements + the 5</a:t>
            </a:r>
            <a:r>
              <a:rPr lang="en-US" sz="1000" baseline="30000" dirty="0">
                <a:solidFill>
                  <a:srgbClr val="2C2C2A"/>
                </a:solidFill>
                <a:latin typeface="Calibri" pitchFamily="34" charset="0"/>
                <a:ea typeface="Calibri" pitchFamily="34" charset="-122"/>
                <a:cs typeface="Calibri" pitchFamily="34" charset="-120"/>
              </a:rPr>
              <a:t>th</a:t>
            </a:r>
            <a:r>
              <a:rPr lang="en-US" sz="1000" dirty="0">
                <a:solidFill>
                  <a:srgbClr val="2C2C2A"/>
                </a:solidFill>
                <a:latin typeface="Calibri" pitchFamily="34" charset="0"/>
                <a:ea typeface="Calibri" pitchFamily="34" charset="-122"/>
                <a:cs typeface="Calibri" pitchFamily="34" charset="-120"/>
              </a:rPr>
              <a:t> element</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Community of practice access</a:t>
            </a:r>
            <a:endParaRPr lang="en-US" sz="1000" dirty="0"/>
          </a:p>
        </p:txBody>
      </p:sp>
      <p:sp>
        <p:nvSpPr>
          <p:cNvPr id="12" name="Shape 10"/>
          <p:cNvSpPr/>
          <p:nvPr/>
        </p:nvSpPr>
        <p:spPr>
          <a:xfrm>
            <a:off x="457200" y="4480560"/>
            <a:ext cx="1737360" cy="292608"/>
          </a:xfrm>
          <a:prstGeom prst="roundRect">
            <a:avLst>
              <a:gd name="adj" fmla="val 25000"/>
            </a:avLst>
          </a:prstGeom>
          <a:solidFill>
            <a:srgbClr val="2B6B8A"/>
          </a:solidFill>
          <a:ln w="12700">
            <a:solidFill>
              <a:srgbClr val="2B6B8A"/>
            </a:solidFill>
            <a:prstDash val="solid"/>
          </a:ln>
        </p:spPr>
        <p:txBody>
          <a:bodyPr/>
          <a:lstStyle/>
          <a:p>
            <a:endParaRPr lang="en-US"/>
          </a:p>
        </p:txBody>
      </p:sp>
      <p:sp>
        <p:nvSpPr>
          <p:cNvPr id="13" name="Text 11"/>
          <p:cNvSpPr/>
          <p:nvPr/>
        </p:nvSpPr>
        <p:spPr>
          <a:xfrm>
            <a:off x="457200" y="4480560"/>
            <a:ext cx="173736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Begin Roots</a:t>
            </a:r>
            <a:endParaRPr lang="en-US" sz="1000" dirty="0"/>
          </a:p>
        </p:txBody>
      </p:sp>
      <p:sp>
        <p:nvSpPr>
          <p:cNvPr id="15" name="Text 13"/>
          <p:cNvSpPr/>
          <p:nvPr/>
        </p:nvSpPr>
        <p:spPr>
          <a:xfrm>
            <a:off x="3401568" y="1481328"/>
            <a:ext cx="2514600" cy="219456"/>
          </a:xfrm>
          <a:prstGeom prst="rect">
            <a:avLst/>
          </a:prstGeom>
          <a:noFill/>
          <a:ln/>
        </p:spPr>
        <p:txBody>
          <a:bodyPr wrap="square" rtlCol="0" anchor="ctr"/>
          <a:lstStyle/>
          <a:p>
            <a:pPr marL="0" indent="0" algn="l">
              <a:buNone/>
            </a:pPr>
            <a:r>
              <a:rPr lang="en-US" sz="800" b="1" kern="0" spc="50" dirty="0">
                <a:solidFill>
                  <a:srgbClr val="C4622D"/>
                </a:solidFill>
                <a:latin typeface="Arial" pitchFamily="34" charset="0"/>
                <a:ea typeface="Arial" pitchFamily="34" charset="-122"/>
                <a:cs typeface="Arial" pitchFamily="34" charset="-120"/>
              </a:rPr>
              <a:t>Intensive · Fast Track Group</a:t>
            </a:r>
            <a:endParaRPr lang="en-US" sz="800" dirty="0"/>
          </a:p>
        </p:txBody>
      </p:sp>
      <p:sp>
        <p:nvSpPr>
          <p:cNvPr id="16" name="Text 14"/>
          <p:cNvSpPr/>
          <p:nvPr/>
        </p:nvSpPr>
        <p:spPr>
          <a:xfrm>
            <a:off x="3401568" y="1719072"/>
            <a:ext cx="2514600" cy="384048"/>
          </a:xfrm>
          <a:prstGeom prst="rect">
            <a:avLst/>
          </a:prstGeom>
          <a:noFill/>
          <a:ln/>
        </p:spPr>
        <p:txBody>
          <a:bodyPr wrap="square" lIns="0" tIns="0" rIns="0" bIns="0" rtlCol="0" anchor="ctr"/>
          <a:lstStyle/>
          <a:p>
            <a:pPr marL="0" indent="0" algn="l">
              <a:buNone/>
            </a:pPr>
            <a:r>
              <a:rPr lang="en-US" sz="2000" b="1" dirty="0">
                <a:solidFill>
                  <a:srgbClr val="C4622D"/>
                </a:solidFill>
                <a:latin typeface="Cambria" pitchFamily="34" charset="0"/>
                <a:ea typeface="Cambria" pitchFamily="34" charset="-122"/>
                <a:cs typeface="Cambria" pitchFamily="34" charset="-120"/>
              </a:rPr>
              <a:t>Current</a:t>
            </a:r>
            <a:endParaRPr lang="en-US" sz="2000" dirty="0"/>
          </a:p>
        </p:txBody>
      </p:sp>
      <p:sp>
        <p:nvSpPr>
          <p:cNvPr id="17" name="Text 15"/>
          <p:cNvSpPr/>
          <p:nvPr/>
        </p:nvSpPr>
        <p:spPr>
          <a:xfrm>
            <a:off x="3401568" y="2121408"/>
            <a:ext cx="2514600" cy="256032"/>
          </a:xfrm>
          <a:prstGeom prst="rect">
            <a:avLst/>
          </a:prstGeom>
          <a:noFill/>
          <a:ln/>
        </p:spPr>
        <p:txBody>
          <a:bodyPr wrap="square" rtlCol="0" anchor="ctr"/>
          <a:lstStyle/>
          <a:p>
            <a:pPr marL="0" indent="0" algn="l">
              <a:buNone/>
            </a:pPr>
            <a:r>
              <a:rPr lang="en-US" sz="1000" i="1" dirty="0">
                <a:solidFill>
                  <a:srgbClr val="5A5A55"/>
                </a:solidFill>
                <a:latin typeface="Calibri" pitchFamily="34" charset="0"/>
                <a:ea typeface="Calibri" pitchFamily="34" charset="-122"/>
                <a:cs typeface="Calibri" pitchFamily="34" charset="-120"/>
              </a:rPr>
              <a:t>Accelerated immersion experience</a:t>
            </a:r>
            <a:endParaRPr lang="en-US" sz="1000" dirty="0"/>
          </a:p>
        </p:txBody>
      </p:sp>
      <p:sp>
        <p:nvSpPr>
          <p:cNvPr id="18" name="Shape 16"/>
          <p:cNvSpPr/>
          <p:nvPr/>
        </p:nvSpPr>
        <p:spPr>
          <a:xfrm>
            <a:off x="3401568" y="2423160"/>
            <a:ext cx="2514600" cy="0"/>
          </a:xfrm>
          <a:prstGeom prst="line">
            <a:avLst/>
          </a:prstGeom>
          <a:noFill/>
          <a:ln w="6350">
            <a:solidFill>
              <a:srgbClr val="C4622D">
                <a:alpha val="45000"/>
              </a:srgbClr>
            </a:solidFill>
            <a:prstDash val="solid"/>
          </a:ln>
        </p:spPr>
        <p:txBody>
          <a:bodyPr/>
          <a:lstStyle/>
          <a:p>
            <a:endParaRPr lang="en-US"/>
          </a:p>
        </p:txBody>
      </p:sp>
      <p:sp>
        <p:nvSpPr>
          <p:cNvPr id="19" name="Text 17"/>
          <p:cNvSpPr/>
          <p:nvPr/>
        </p:nvSpPr>
        <p:spPr>
          <a:xfrm>
            <a:off x="3401568" y="2487168"/>
            <a:ext cx="2514600" cy="1920240"/>
          </a:xfrm>
          <a:prstGeom prst="rect">
            <a:avLst/>
          </a:prstGeom>
          <a:noFill/>
          <a:ln/>
        </p:spPr>
        <p:txBody>
          <a:bodyPr wrap="square" rtlCol="0" anchor="t"/>
          <a:lstStyle/>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2 in-person immersions per month</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2 coaching sessions per month for minimum of 6 months (Extra Cost)</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Immersive nature environments</a:t>
            </a:r>
          </a:p>
          <a:p>
            <a:pPr marL="342900" indent="-342900">
              <a:buSzPct val="100000"/>
              <a:buFontTx/>
              <a:buChar char="•"/>
            </a:pPr>
            <a:r>
              <a:rPr lang="en-US" sz="1000" dirty="0">
                <a:solidFill>
                  <a:srgbClr val="2C2C2A"/>
                </a:solidFill>
                <a:latin typeface="Calibri" pitchFamily="34" charset="0"/>
                <a:ea typeface="Calibri" pitchFamily="34" charset="-122"/>
                <a:cs typeface="Calibri" pitchFamily="34" charset="-120"/>
              </a:rPr>
              <a:t>Journey through all 4 elements + the 5</a:t>
            </a:r>
            <a:r>
              <a:rPr lang="en-US" sz="1000" baseline="30000" dirty="0">
                <a:solidFill>
                  <a:srgbClr val="2C2C2A"/>
                </a:solidFill>
                <a:latin typeface="Calibri" pitchFamily="34" charset="0"/>
                <a:ea typeface="Calibri" pitchFamily="34" charset="-122"/>
                <a:cs typeface="Calibri" pitchFamily="34" charset="-120"/>
              </a:rPr>
              <a:t>th</a:t>
            </a:r>
            <a:r>
              <a:rPr lang="en-US" sz="1000" dirty="0">
                <a:solidFill>
                  <a:srgbClr val="2C2C2A"/>
                </a:solidFill>
                <a:latin typeface="Calibri" pitchFamily="34" charset="0"/>
                <a:ea typeface="Calibri" pitchFamily="34" charset="-122"/>
                <a:cs typeface="Calibri" pitchFamily="34" charset="-120"/>
              </a:rPr>
              <a:t> element</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Accelerated element and methodology integration</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Community of practice access</a:t>
            </a:r>
            <a:endParaRPr lang="en-US" sz="1000" dirty="0"/>
          </a:p>
        </p:txBody>
      </p:sp>
      <p:sp>
        <p:nvSpPr>
          <p:cNvPr id="20" name="Shape 18"/>
          <p:cNvSpPr/>
          <p:nvPr/>
        </p:nvSpPr>
        <p:spPr>
          <a:xfrm>
            <a:off x="3401568" y="4480560"/>
            <a:ext cx="1737360" cy="292608"/>
          </a:xfrm>
          <a:prstGeom prst="roundRect">
            <a:avLst>
              <a:gd name="adj" fmla="val 25000"/>
            </a:avLst>
          </a:prstGeom>
          <a:solidFill>
            <a:srgbClr val="C4622D"/>
          </a:solidFill>
          <a:ln w="12700">
            <a:solidFill>
              <a:srgbClr val="C4622D"/>
            </a:solidFill>
            <a:prstDash val="solid"/>
          </a:ln>
        </p:spPr>
        <p:txBody>
          <a:bodyPr/>
          <a:lstStyle/>
          <a:p>
            <a:endParaRPr lang="en-US"/>
          </a:p>
        </p:txBody>
      </p:sp>
      <p:sp>
        <p:nvSpPr>
          <p:cNvPr id="21" name="Text 19"/>
          <p:cNvSpPr/>
          <p:nvPr/>
        </p:nvSpPr>
        <p:spPr>
          <a:xfrm>
            <a:off x="3401568" y="4480560"/>
            <a:ext cx="173736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Begin Current</a:t>
            </a:r>
            <a:endParaRPr lang="en-US" sz="1000" dirty="0"/>
          </a:p>
        </p:txBody>
      </p:sp>
      <p:sp>
        <p:nvSpPr>
          <p:cNvPr id="22" name="Shape 20"/>
          <p:cNvSpPr/>
          <p:nvPr/>
        </p:nvSpPr>
        <p:spPr>
          <a:xfrm>
            <a:off x="6208776" y="1371600"/>
            <a:ext cx="2788920" cy="3566160"/>
          </a:xfrm>
          <a:prstGeom prst="roundRect">
            <a:avLst>
              <a:gd name="adj" fmla="val 3279"/>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23" name="Text 21"/>
          <p:cNvSpPr/>
          <p:nvPr/>
        </p:nvSpPr>
        <p:spPr>
          <a:xfrm>
            <a:off x="6345936" y="1481328"/>
            <a:ext cx="2514600" cy="219456"/>
          </a:xfrm>
          <a:prstGeom prst="rect">
            <a:avLst/>
          </a:prstGeom>
          <a:noFill/>
          <a:ln/>
        </p:spPr>
        <p:txBody>
          <a:bodyPr wrap="square" rtlCol="0" anchor="ctr"/>
          <a:lstStyle/>
          <a:p>
            <a:pPr marL="0" indent="0" algn="l">
              <a:buNone/>
            </a:pPr>
            <a:r>
              <a:rPr lang="en-US" sz="800" b="1" kern="0" spc="50" dirty="0">
                <a:solidFill>
                  <a:srgbClr val="3D5A3E"/>
                </a:solidFill>
                <a:latin typeface="Arial" pitchFamily="34" charset="0"/>
                <a:ea typeface="Arial" pitchFamily="34" charset="-122"/>
                <a:cs typeface="Arial" pitchFamily="34" charset="-120"/>
              </a:rPr>
              <a:t>Full Immersion Retreat</a:t>
            </a:r>
            <a:endParaRPr lang="en-US" sz="800" dirty="0"/>
          </a:p>
        </p:txBody>
      </p:sp>
      <p:sp>
        <p:nvSpPr>
          <p:cNvPr id="24" name="Text 22"/>
          <p:cNvSpPr/>
          <p:nvPr/>
        </p:nvSpPr>
        <p:spPr>
          <a:xfrm>
            <a:off x="6345936" y="1719072"/>
            <a:ext cx="2514600" cy="384048"/>
          </a:xfrm>
          <a:prstGeom prst="rect">
            <a:avLst/>
          </a:prstGeom>
          <a:noFill/>
          <a:ln/>
        </p:spPr>
        <p:txBody>
          <a:bodyPr wrap="square" lIns="0" tIns="0" rIns="0" bIns="0" rtlCol="0" anchor="ctr"/>
          <a:lstStyle/>
          <a:p>
            <a:pPr marL="0" indent="0" algn="l">
              <a:buNone/>
            </a:pPr>
            <a:r>
              <a:rPr lang="en-US" sz="2000" b="1" dirty="0">
                <a:solidFill>
                  <a:srgbClr val="3D5A3E"/>
                </a:solidFill>
                <a:latin typeface="Cambria" pitchFamily="34" charset="0"/>
                <a:ea typeface="Cambria" pitchFamily="34" charset="-122"/>
                <a:cs typeface="Cambria" pitchFamily="34" charset="-120"/>
              </a:rPr>
              <a:t>Source</a:t>
            </a:r>
            <a:endParaRPr lang="en-US" sz="2000" dirty="0"/>
          </a:p>
        </p:txBody>
      </p:sp>
      <p:sp>
        <p:nvSpPr>
          <p:cNvPr id="25" name="Text 23"/>
          <p:cNvSpPr/>
          <p:nvPr/>
        </p:nvSpPr>
        <p:spPr>
          <a:xfrm>
            <a:off x="6345936" y="2121408"/>
            <a:ext cx="2514600" cy="256032"/>
          </a:xfrm>
          <a:prstGeom prst="rect">
            <a:avLst/>
          </a:prstGeom>
          <a:noFill/>
          <a:ln/>
        </p:spPr>
        <p:txBody>
          <a:bodyPr wrap="square" rtlCol="0" anchor="ctr"/>
          <a:lstStyle/>
          <a:p>
            <a:pPr marL="0" indent="0" algn="l">
              <a:buNone/>
            </a:pPr>
            <a:r>
              <a:rPr lang="en-US" sz="1000" i="1" dirty="0">
                <a:solidFill>
                  <a:srgbClr val="5A5A55"/>
                </a:solidFill>
                <a:latin typeface="Calibri" pitchFamily="34" charset="0"/>
                <a:ea typeface="Calibri" pitchFamily="34" charset="-122"/>
                <a:cs typeface="Calibri" pitchFamily="34" charset="-120"/>
              </a:rPr>
              <a:t>The most complete transformation</a:t>
            </a:r>
            <a:endParaRPr lang="en-US" sz="1000" dirty="0"/>
          </a:p>
        </p:txBody>
      </p:sp>
      <p:sp>
        <p:nvSpPr>
          <p:cNvPr id="26" name="Shape 24"/>
          <p:cNvSpPr/>
          <p:nvPr/>
        </p:nvSpPr>
        <p:spPr>
          <a:xfrm>
            <a:off x="6345936" y="2423160"/>
            <a:ext cx="2514600" cy="0"/>
          </a:xfrm>
          <a:prstGeom prst="line">
            <a:avLst/>
          </a:prstGeom>
          <a:noFill/>
          <a:ln w="6350">
            <a:solidFill>
              <a:srgbClr val="3D5A3E">
                <a:alpha val="45000"/>
              </a:srgbClr>
            </a:solidFill>
            <a:prstDash val="solid"/>
          </a:ln>
        </p:spPr>
        <p:txBody>
          <a:bodyPr/>
          <a:lstStyle/>
          <a:p>
            <a:endParaRPr lang="en-US"/>
          </a:p>
        </p:txBody>
      </p:sp>
      <p:sp>
        <p:nvSpPr>
          <p:cNvPr id="27" name="Text 25"/>
          <p:cNvSpPr/>
          <p:nvPr/>
        </p:nvSpPr>
        <p:spPr>
          <a:xfrm>
            <a:off x="6345936" y="2487168"/>
            <a:ext cx="2514600" cy="1920240"/>
          </a:xfrm>
          <a:prstGeom prst="rect">
            <a:avLst/>
          </a:prstGeom>
          <a:noFill/>
          <a:ln/>
        </p:spPr>
        <p:txBody>
          <a:bodyPr wrap="square" rtlCol="0" anchor="t"/>
          <a:lstStyle/>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3 days (Thursday to Saturday)</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2 individual coaching sessions per month for minimum 6 months (Extra Cost)</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Journey through all 4 elements + the 5</a:t>
            </a:r>
            <a:r>
              <a:rPr lang="en-US" sz="1000" baseline="30000" dirty="0">
                <a:solidFill>
                  <a:srgbClr val="2C2C2A"/>
                </a:solidFill>
                <a:latin typeface="Calibri" pitchFamily="34" charset="0"/>
                <a:ea typeface="Calibri" pitchFamily="34" charset="-122"/>
                <a:cs typeface="Calibri" pitchFamily="34" charset="-120"/>
              </a:rPr>
              <a:t>th</a:t>
            </a:r>
            <a:r>
              <a:rPr lang="en-US" sz="1000" dirty="0">
                <a:solidFill>
                  <a:srgbClr val="2C2C2A"/>
                </a:solidFill>
                <a:latin typeface="Calibri" pitchFamily="34" charset="0"/>
                <a:ea typeface="Calibri" pitchFamily="34" charset="-122"/>
                <a:cs typeface="Calibri" pitchFamily="34" charset="-120"/>
              </a:rPr>
              <a:t> element.</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Open slots for 1:1 Leadership planning after retreat </a:t>
            </a:r>
            <a:endParaRPr lang="en-US" sz="1000" dirty="0"/>
          </a:p>
          <a:p>
            <a:pPr marL="342900" indent="-342900" algn="l">
              <a:buSzPct val="100000"/>
              <a:buChar char="•"/>
            </a:pPr>
            <a:r>
              <a:rPr lang="en-US" sz="1000" dirty="0">
                <a:solidFill>
                  <a:srgbClr val="2C2C2A"/>
                </a:solidFill>
                <a:latin typeface="Calibri" pitchFamily="34" charset="0"/>
                <a:ea typeface="Calibri" pitchFamily="34" charset="-122"/>
                <a:cs typeface="Calibri" pitchFamily="34" charset="-120"/>
              </a:rPr>
              <a:t>Executive retreat integration community.</a:t>
            </a:r>
            <a:endParaRPr lang="en-US" sz="1000" dirty="0"/>
          </a:p>
        </p:txBody>
      </p:sp>
      <p:sp>
        <p:nvSpPr>
          <p:cNvPr id="28" name="Shape 26"/>
          <p:cNvSpPr/>
          <p:nvPr/>
        </p:nvSpPr>
        <p:spPr>
          <a:xfrm>
            <a:off x="6345936" y="4480560"/>
            <a:ext cx="1737360" cy="292608"/>
          </a:xfrm>
          <a:prstGeom prst="roundRect">
            <a:avLst>
              <a:gd name="adj" fmla="val 25000"/>
            </a:avLst>
          </a:prstGeom>
          <a:solidFill>
            <a:srgbClr val="3D5A3E"/>
          </a:solidFill>
          <a:ln w="12700">
            <a:solidFill>
              <a:srgbClr val="3D5A3E"/>
            </a:solidFill>
            <a:prstDash val="solid"/>
          </a:ln>
        </p:spPr>
        <p:txBody>
          <a:bodyPr/>
          <a:lstStyle/>
          <a:p>
            <a:endParaRPr lang="en-US"/>
          </a:p>
        </p:txBody>
      </p:sp>
      <p:sp>
        <p:nvSpPr>
          <p:cNvPr id="29" name="Text 27"/>
          <p:cNvSpPr/>
          <p:nvPr/>
        </p:nvSpPr>
        <p:spPr>
          <a:xfrm>
            <a:off x="6345936" y="4480560"/>
            <a:ext cx="173736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Begin Source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137160"/>
            <a:ext cx="8229600" cy="274320"/>
          </a:xfrm>
          <a:prstGeom prst="rect">
            <a:avLst/>
          </a:prstGeom>
          <a:noFill/>
          <a:ln/>
        </p:spPr>
        <p:txBody>
          <a:bodyPr wrap="square" rtlCol="0" anchor="ctr"/>
          <a:lstStyle/>
          <a:p>
            <a:pPr marL="0" indent="0" algn="l">
              <a:buNone/>
            </a:pPr>
            <a:r>
              <a:rPr lang="en-US" sz="900" b="1" kern="0" spc="400" dirty="0">
                <a:solidFill>
                  <a:srgbClr val="C9A96E"/>
                </a:solidFill>
                <a:latin typeface="Arial" pitchFamily="34" charset="0"/>
                <a:ea typeface="Arial" pitchFamily="34" charset="-122"/>
                <a:cs typeface="Arial" pitchFamily="34" charset="-120"/>
              </a:rPr>
              <a:t>HOMEPAGE · INGLÉS — EXPERIENCIA · TESTIMONIAL · FOOTER</a:t>
            </a:r>
            <a:endParaRPr lang="en-US" sz="900" dirty="0"/>
          </a:p>
        </p:txBody>
      </p:sp>
      <p:sp>
        <p:nvSpPr>
          <p:cNvPr id="4" name="Shape 2"/>
          <p:cNvSpPr/>
          <p:nvPr/>
        </p:nvSpPr>
        <p:spPr>
          <a:xfrm>
            <a:off x="502920" y="484632"/>
            <a:ext cx="8138160" cy="0"/>
          </a:xfrm>
          <a:prstGeom prst="line">
            <a:avLst/>
          </a:prstGeom>
          <a:noFill/>
          <a:ln w="12700">
            <a:solidFill>
              <a:srgbClr val="F4F2EE"/>
            </a:solidFill>
            <a:prstDash val="solid"/>
          </a:ln>
        </p:spPr>
        <p:txBody>
          <a:bodyPr/>
          <a:lstStyle/>
          <a:p>
            <a:endParaRPr lang="en-US"/>
          </a:p>
        </p:txBody>
      </p:sp>
      <p:sp>
        <p:nvSpPr>
          <p:cNvPr id="5" name="Text 3"/>
          <p:cNvSpPr/>
          <p:nvPr/>
        </p:nvSpPr>
        <p:spPr>
          <a:xfrm>
            <a:off x="442090" y="420624"/>
            <a:ext cx="8138160" cy="1005840"/>
          </a:xfrm>
          <a:prstGeom prst="rect">
            <a:avLst/>
          </a:prstGeom>
          <a:noFill/>
          <a:ln/>
        </p:spPr>
        <p:txBody>
          <a:bodyPr wrap="square" rtlCol="0" anchor="ctr"/>
          <a:lstStyle/>
          <a:p>
            <a:pPr marL="0" indent="0" algn="l">
              <a:buNone/>
            </a:pPr>
            <a:r>
              <a:rPr lang="en-US" sz="2400" b="1" dirty="0">
                <a:solidFill>
                  <a:srgbClr val="2C2C2A"/>
                </a:solidFill>
                <a:latin typeface="Cambria" pitchFamily="34" charset="0"/>
                <a:ea typeface="Cambria" pitchFamily="34" charset="-122"/>
                <a:cs typeface="Cambria" pitchFamily="34" charset="-120"/>
              </a:rPr>
              <a:t>The Immersion Experience</a:t>
            </a:r>
          </a:p>
          <a:p>
            <a:pPr marL="0" indent="0" algn="l">
              <a:buNone/>
            </a:pPr>
            <a:r>
              <a:rPr lang="en-US" sz="1000" b="1" dirty="0">
                <a:solidFill>
                  <a:srgbClr val="2C2C2A"/>
                </a:solidFill>
                <a:latin typeface="Cambria" pitchFamily="34" charset="0"/>
                <a:ea typeface="Cambria" pitchFamily="34" charset="-122"/>
              </a:rPr>
              <a:t>Activities will vary and will be different in each retreat generation event.</a:t>
            </a:r>
            <a:endParaRPr lang="en-US" sz="1000" dirty="0"/>
          </a:p>
        </p:txBody>
      </p:sp>
      <p:sp>
        <p:nvSpPr>
          <p:cNvPr id="6" name="Shape 4"/>
          <p:cNvSpPr/>
          <p:nvPr/>
        </p:nvSpPr>
        <p:spPr>
          <a:xfrm>
            <a:off x="320040" y="1417320"/>
            <a:ext cx="2057400" cy="822960"/>
          </a:xfrm>
          <a:prstGeom prst="roundRect">
            <a:avLst>
              <a:gd name="adj" fmla="val 8889"/>
            </a:avLst>
          </a:prstGeom>
          <a:solidFill>
            <a:srgbClr val="EAF4FA"/>
          </a:solidFill>
          <a:ln w="12700">
            <a:solidFill>
              <a:srgbClr val="EAF4FA"/>
            </a:solidFill>
            <a:prstDash val="solid"/>
          </a:ln>
          <a:effectLst>
            <a:outerShdw blurRad="101600" dist="25400" dir="2700000" algn="bl" rotWithShape="0">
              <a:srgbClr val="000000">
                <a:alpha val="9000"/>
              </a:srgbClr>
            </a:outerShdw>
          </a:effectLst>
        </p:spPr>
        <p:txBody>
          <a:bodyPr/>
          <a:lstStyle/>
          <a:p>
            <a:endParaRPr lang="en-US"/>
          </a:p>
        </p:txBody>
      </p:sp>
      <p:sp>
        <p:nvSpPr>
          <p:cNvPr id="7" name="Text 5"/>
          <p:cNvSpPr/>
          <p:nvPr/>
        </p:nvSpPr>
        <p:spPr>
          <a:xfrm>
            <a:off x="429768" y="1490472"/>
            <a:ext cx="1837944" cy="201168"/>
          </a:xfrm>
          <a:prstGeom prst="rect">
            <a:avLst/>
          </a:prstGeom>
          <a:noFill/>
          <a:ln/>
        </p:spPr>
        <p:txBody>
          <a:bodyPr wrap="square" rtlCol="0" anchor="ctr"/>
          <a:lstStyle/>
          <a:p>
            <a:pPr marL="0" indent="0" algn="l">
              <a:buNone/>
            </a:pPr>
            <a:r>
              <a:rPr lang="en-US" sz="800" b="1" kern="0" spc="50" dirty="0">
                <a:solidFill>
                  <a:srgbClr val="2B6B8A"/>
                </a:solidFill>
                <a:latin typeface="Arial" pitchFamily="34" charset="0"/>
                <a:ea typeface="Arial" pitchFamily="34" charset="-122"/>
                <a:cs typeface="Arial" pitchFamily="34" charset="-120"/>
              </a:rPr>
              <a:t>Water Element</a:t>
            </a:r>
            <a:endParaRPr lang="en-US" sz="800" dirty="0"/>
          </a:p>
        </p:txBody>
      </p:sp>
      <p:sp>
        <p:nvSpPr>
          <p:cNvPr id="8" name="Text 6"/>
          <p:cNvSpPr/>
          <p:nvPr/>
        </p:nvSpPr>
        <p:spPr>
          <a:xfrm>
            <a:off x="429768" y="1691640"/>
            <a:ext cx="1837944" cy="475488"/>
          </a:xfrm>
          <a:prstGeom prst="rect">
            <a:avLst/>
          </a:prstGeom>
          <a:noFill/>
          <a:ln/>
        </p:spPr>
        <p:txBody>
          <a:bodyPr wrap="square" lIns="0" tIns="0" rIns="0" bIns="0" rtlCol="0" anchor="ctr"/>
          <a:lstStyle/>
          <a:p>
            <a:pPr marL="0" indent="0" algn="l">
              <a:buNone/>
            </a:pPr>
            <a:r>
              <a:rPr lang="en-US" sz="1100" b="1" dirty="0">
                <a:solidFill>
                  <a:srgbClr val="2B6B8A"/>
                </a:solidFill>
                <a:latin typeface="Cambria" pitchFamily="34" charset="0"/>
                <a:ea typeface="Cambria" pitchFamily="34" charset="-122"/>
                <a:cs typeface="Cambria" pitchFamily="34" charset="-120"/>
              </a:rPr>
              <a:t>Riverine Reflection &amp; Deep Listening</a:t>
            </a:r>
            <a:endParaRPr lang="en-US" sz="1100" dirty="0"/>
          </a:p>
        </p:txBody>
      </p:sp>
      <p:sp>
        <p:nvSpPr>
          <p:cNvPr id="9" name="Shape 7"/>
          <p:cNvSpPr/>
          <p:nvPr/>
        </p:nvSpPr>
        <p:spPr>
          <a:xfrm>
            <a:off x="2532888" y="1417320"/>
            <a:ext cx="2057400" cy="822960"/>
          </a:xfrm>
          <a:prstGeom prst="roundRect">
            <a:avLst>
              <a:gd name="adj" fmla="val 8889"/>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10" name="Text 8"/>
          <p:cNvSpPr/>
          <p:nvPr/>
        </p:nvSpPr>
        <p:spPr>
          <a:xfrm>
            <a:off x="2642616" y="1490472"/>
            <a:ext cx="1837944" cy="201168"/>
          </a:xfrm>
          <a:prstGeom prst="rect">
            <a:avLst/>
          </a:prstGeom>
          <a:noFill/>
          <a:ln/>
        </p:spPr>
        <p:txBody>
          <a:bodyPr wrap="square" rtlCol="0" anchor="ctr"/>
          <a:lstStyle/>
          <a:p>
            <a:pPr marL="0" indent="0" algn="l">
              <a:buNone/>
            </a:pPr>
            <a:r>
              <a:rPr lang="en-US" sz="800" b="1" kern="0" spc="50" dirty="0">
                <a:solidFill>
                  <a:srgbClr val="C4622D"/>
                </a:solidFill>
                <a:latin typeface="Arial" pitchFamily="34" charset="0"/>
                <a:ea typeface="Arial" pitchFamily="34" charset="-122"/>
                <a:cs typeface="Arial" pitchFamily="34" charset="-120"/>
              </a:rPr>
              <a:t>Fire Element</a:t>
            </a:r>
            <a:endParaRPr lang="en-US" sz="800" dirty="0"/>
          </a:p>
        </p:txBody>
      </p:sp>
      <p:sp>
        <p:nvSpPr>
          <p:cNvPr id="11" name="Text 9"/>
          <p:cNvSpPr/>
          <p:nvPr/>
        </p:nvSpPr>
        <p:spPr>
          <a:xfrm>
            <a:off x="2642616" y="1691640"/>
            <a:ext cx="1837944" cy="475488"/>
          </a:xfrm>
          <a:prstGeom prst="rect">
            <a:avLst/>
          </a:prstGeom>
          <a:noFill/>
          <a:ln/>
        </p:spPr>
        <p:txBody>
          <a:bodyPr wrap="square" lIns="0" tIns="0" rIns="0" bIns="0" rtlCol="0" anchor="ctr"/>
          <a:lstStyle/>
          <a:p>
            <a:pPr marL="0" indent="0" algn="l">
              <a:buNone/>
            </a:pPr>
            <a:r>
              <a:rPr lang="en-US" sz="1100" b="1" dirty="0">
                <a:solidFill>
                  <a:srgbClr val="C4622D"/>
                </a:solidFill>
                <a:latin typeface="Cambria" pitchFamily="34" charset="0"/>
                <a:ea typeface="Cambria" pitchFamily="34" charset="-122"/>
                <a:cs typeface="Cambria" pitchFamily="34" charset="-120"/>
              </a:rPr>
              <a:t>Vision Ceremony</a:t>
            </a:r>
            <a:endParaRPr lang="en-US" sz="1100" dirty="0"/>
          </a:p>
        </p:txBody>
      </p:sp>
      <p:sp>
        <p:nvSpPr>
          <p:cNvPr id="12" name="Shape 10"/>
          <p:cNvSpPr/>
          <p:nvPr/>
        </p:nvSpPr>
        <p:spPr>
          <a:xfrm>
            <a:off x="4745736" y="1417320"/>
            <a:ext cx="2057400" cy="822960"/>
          </a:xfrm>
          <a:prstGeom prst="roundRect">
            <a:avLst>
              <a:gd name="adj" fmla="val 8889"/>
            </a:avLst>
          </a:prstGeom>
          <a:solidFill>
            <a:srgbClr val="EEF5F9"/>
          </a:solidFill>
          <a:ln w="12700">
            <a:solidFill>
              <a:srgbClr val="EEF5F9"/>
            </a:solidFill>
            <a:prstDash val="solid"/>
          </a:ln>
          <a:effectLst>
            <a:outerShdw blurRad="101600" dist="25400" dir="2700000" algn="bl" rotWithShape="0">
              <a:srgbClr val="000000">
                <a:alpha val="9000"/>
              </a:srgbClr>
            </a:outerShdw>
          </a:effectLst>
        </p:spPr>
        <p:txBody>
          <a:bodyPr/>
          <a:lstStyle/>
          <a:p>
            <a:endParaRPr lang="en-US"/>
          </a:p>
        </p:txBody>
      </p:sp>
      <p:sp>
        <p:nvSpPr>
          <p:cNvPr id="13" name="Text 11"/>
          <p:cNvSpPr/>
          <p:nvPr/>
        </p:nvSpPr>
        <p:spPr>
          <a:xfrm>
            <a:off x="4855464" y="1490472"/>
            <a:ext cx="1837944" cy="201168"/>
          </a:xfrm>
          <a:prstGeom prst="rect">
            <a:avLst/>
          </a:prstGeom>
          <a:noFill/>
          <a:ln/>
        </p:spPr>
        <p:txBody>
          <a:bodyPr wrap="square" rtlCol="0" anchor="ctr"/>
          <a:lstStyle/>
          <a:p>
            <a:pPr marL="0" indent="0" algn="l">
              <a:buNone/>
            </a:pPr>
            <a:r>
              <a:rPr lang="en-US" sz="800" b="1" kern="0" spc="50" dirty="0">
                <a:solidFill>
                  <a:srgbClr val="7A9BAD"/>
                </a:solidFill>
                <a:latin typeface="Arial" pitchFamily="34" charset="0"/>
                <a:ea typeface="Arial" pitchFamily="34" charset="-122"/>
                <a:cs typeface="Arial" pitchFamily="34" charset="-120"/>
              </a:rPr>
              <a:t>Air Element</a:t>
            </a:r>
            <a:endParaRPr lang="en-US" sz="800" dirty="0"/>
          </a:p>
        </p:txBody>
      </p:sp>
      <p:sp>
        <p:nvSpPr>
          <p:cNvPr id="14" name="Text 12"/>
          <p:cNvSpPr/>
          <p:nvPr/>
        </p:nvSpPr>
        <p:spPr>
          <a:xfrm>
            <a:off x="4855464" y="1691640"/>
            <a:ext cx="1837944" cy="475488"/>
          </a:xfrm>
          <a:prstGeom prst="rect">
            <a:avLst/>
          </a:prstGeom>
          <a:noFill/>
          <a:ln/>
        </p:spPr>
        <p:txBody>
          <a:bodyPr wrap="square" lIns="0" tIns="0" rIns="0" bIns="0" rtlCol="0" anchor="ctr"/>
          <a:lstStyle/>
          <a:p>
            <a:pPr marL="0" indent="0" algn="l">
              <a:buNone/>
            </a:pPr>
            <a:r>
              <a:rPr lang="en-US" sz="1100" b="1" dirty="0">
                <a:solidFill>
                  <a:srgbClr val="7A9BAD"/>
                </a:solidFill>
                <a:latin typeface="Cambria" pitchFamily="34" charset="0"/>
                <a:ea typeface="Cambria" pitchFamily="34" charset="-122"/>
                <a:cs typeface="Cambria" pitchFamily="34" charset="-120"/>
              </a:rPr>
              <a:t>Summit Perspective</a:t>
            </a:r>
            <a:endParaRPr lang="en-US" sz="1100" dirty="0"/>
          </a:p>
        </p:txBody>
      </p:sp>
      <p:sp>
        <p:nvSpPr>
          <p:cNvPr id="15" name="Shape 13"/>
          <p:cNvSpPr/>
          <p:nvPr/>
        </p:nvSpPr>
        <p:spPr>
          <a:xfrm>
            <a:off x="6958584" y="1417320"/>
            <a:ext cx="2057400" cy="822960"/>
          </a:xfrm>
          <a:prstGeom prst="roundRect">
            <a:avLst>
              <a:gd name="adj" fmla="val 8889"/>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16" name="Text 14"/>
          <p:cNvSpPr/>
          <p:nvPr/>
        </p:nvSpPr>
        <p:spPr>
          <a:xfrm>
            <a:off x="7068312" y="1490472"/>
            <a:ext cx="1837944" cy="201168"/>
          </a:xfrm>
          <a:prstGeom prst="rect">
            <a:avLst/>
          </a:prstGeom>
          <a:noFill/>
          <a:ln/>
        </p:spPr>
        <p:txBody>
          <a:bodyPr wrap="square" rtlCol="0" anchor="ctr"/>
          <a:lstStyle/>
          <a:p>
            <a:pPr marL="0" indent="0" algn="l">
              <a:buNone/>
            </a:pPr>
            <a:r>
              <a:rPr lang="en-US" sz="800" b="1" kern="0" spc="50" dirty="0">
                <a:solidFill>
                  <a:srgbClr val="3D5A3E"/>
                </a:solidFill>
                <a:latin typeface="Arial" pitchFamily="34" charset="0"/>
                <a:ea typeface="Arial" pitchFamily="34" charset="-122"/>
                <a:cs typeface="Arial" pitchFamily="34" charset="-120"/>
              </a:rPr>
              <a:t>Earth Element</a:t>
            </a:r>
            <a:endParaRPr lang="en-US" sz="800" dirty="0"/>
          </a:p>
        </p:txBody>
      </p:sp>
      <p:sp>
        <p:nvSpPr>
          <p:cNvPr id="17" name="Text 15"/>
          <p:cNvSpPr/>
          <p:nvPr/>
        </p:nvSpPr>
        <p:spPr>
          <a:xfrm>
            <a:off x="7068312" y="1691640"/>
            <a:ext cx="1837944" cy="475488"/>
          </a:xfrm>
          <a:prstGeom prst="rect">
            <a:avLst/>
          </a:prstGeom>
          <a:noFill/>
          <a:ln/>
        </p:spPr>
        <p:txBody>
          <a:bodyPr wrap="square" lIns="0" tIns="0" rIns="0" bIns="0" rtlCol="0" anchor="ctr"/>
          <a:lstStyle/>
          <a:p>
            <a:pPr marL="0" indent="0" algn="l">
              <a:buNone/>
            </a:pPr>
            <a:r>
              <a:rPr lang="en-US" sz="1100" b="1" dirty="0">
                <a:solidFill>
                  <a:srgbClr val="3D5A3E"/>
                </a:solidFill>
                <a:latin typeface="Cambria" pitchFamily="34" charset="0"/>
                <a:ea typeface="Cambria" pitchFamily="34" charset="-122"/>
                <a:cs typeface="Cambria" pitchFamily="34" charset="-120"/>
              </a:rPr>
              <a:t>Forest Grounding &amp; Roots Ritual</a:t>
            </a:r>
            <a:endParaRPr lang="en-US" sz="1100" dirty="0"/>
          </a:p>
        </p:txBody>
      </p:sp>
      <p:sp>
        <p:nvSpPr>
          <p:cNvPr id="18" name="Shape 16"/>
          <p:cNvSpPr/>
          <p:nvPr/>
        </p:nvSpPr>
        <p:spPr>
          <a:xfrm>
            <a:off x="502920" y="2487168"/>
            <a:ext cx="8138160" cy="1261872"/>
          </a:xfrm>
          <a:prstGeom prst="roundRect">
            <a:avLst>
              <a:gd name="adj" fmla="val 7246"/>
            </a:avLst>
          </a:prstGeom>
          <a:solidFill>
            <a:srgbClr val="2C2C2A"/>
          </a:solidFill>
          <a:ln w="12700">
            <a:solidFill>
              <a:srgbClr val="2C2C2A"/>
            </a:solidFill>
            <a:prstDash val="solid"/>
          </a:ln>
        </p:spPr>
        <p:txBody>
          <a:bodyPr/>
          <a:lstStyle/>
          <a:p>
            <a:endParaRPr lang="en-US"/>
          </a:p>
        </p:txBody>
      </p:sp>
      <p:sp>
        <p:nvSpPr>
          <p:cNvPr id="19" name="Text 17"/>
          <p:cNvSpPr/>
          <p:nvPr/>
        </p:nvSpPr>
        <p:spPr>
          <a:xfrm>
            <a:off x="777240" y="2606040"/>
            <a:ext cx="7589520" cy="685800"/>
          </a:xfrm>
          <a:prstGeom prst="rect">
            <a:avLst/>
          </a:prstGeom>
          <a:noFill/>
          <a:ln/>
        </p:spPr>
        <p:txBody>
          <a:bodyPr wrap="square" rtlCol="0" anchor="ctr"/>
          <a:lstStyle/>
          <a:p>
            <a:pPr marL="0" indent="0" algn="ctr">
              <a:buNone/>
            </a:pPr>
            <a:r>
              <a:rPr lang="en-US" sz="1300" i="1" dirty="0">
                <a:solidFill>
                  <a:srgbClr val="F5ECD8"/>
                </a:solidFill>
                <a:latin typeface="Cambria" pitchFamily="34" charset="0"/>
                <a:ea typeface="Cambria" pitchFamily="34" charset="-122"/>
                <a:cs typeface="Cambria" pitchFamily="34" charset="-120"/>
              </a:rPr>
              <a:t>"The Elements Method didn't teach me how to lead. It reminded me of who I already am — and gave me the nature to prove it."</a:t>
            </a:r>
            <a:endParaRPr lang="en-US" sz="1300" dirty="0"/>
          </a:p>
        </p:txBody>
      </p:sp>
      <p:sp>
        <p:nvSpPr>
          <p:cNvPr id="20" name="Text 18"/>
          <p:cNvSpPr/>
          <p:nvPr/>
        </p:nvSpPr>
        <p:spPr>
          <a:xfrm>
            <a:off x="777240" y="3346704"/>
            <a:ext cx="7589520" cy="274320"/>
          </a:xfrm>
          <a:prstGeom prst="rect">
            <a:avLst/>
          </a:prstGeom>
          <a:noFill/>
          <a:ln/>
        </p:spPr>
        <p:txBody>
          <a:bodyPr wrap="square"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Alexandra Reyes  ·  Chief Executive Officer · Global Operations</a:t>
            </a:r>
            <a:endParaRPr lang="en-US" sz="1000" dirty="0"/>
          </a:p>
        </p:txBody>
      </p:sp>
      <p:sp>
        <p:nvSpPr>
          <p:cNvPr id="21" name="Text 19"/>
          <p:cNvSpPr/>
          <p:nvPr/>
        </p:nvSpPr>
        <p:spPr>
          <a:xfrm>
            <a:off x="1078992" y="3794760"/>
            <a:ext cx="2377440" cy="256032"/>
          </a:xfrm>
          <a:prstGeom prst="rect">
            <a:avLst/>
          </a:prstGeom>
          <a:noFill/>
          <a:ln/>
        </p:spPr>
        <p:txBody>
          <a:bodyPr wrap="square" rtlCol="0" anchor="ctr"/>
          <a:lstStyle/>
          <a:p>
            <a:pPr marL="0" indent="0" algn="l">
              <a:buNone/>
            </a:pPr>
            <a:r>
              <a:rPr lang="en-US" sz="900" b="1" kern="0" spc="100" dirty="0">
                <a:solidFill>
                  <a:srgbClr val="C9A96E"/>
                </a:solidFill>
                <a:latin typeface="Arial" pitchFamily="34" charset="0"/>
                <a:ea typeface="Arial" pitchFamily="34" charset="-122"/>
                <a:cs typeface="Arial" pitchFamily="34" charset="-120"/>
              </a:rPr>
              <a:t>Programs</a:t>
            </a:r>
            <a:endParaRPr lang="en-US" sz="900" dirty="0"/>
          </a:p>
        </p:txBody>
      </p:sp>
      <p:sp>
        <p:nvSpPr>
          <p:cNvPr id="22" name="Text 20"/>
          <p:cNvSpPr/>
          <p:nvPr/>
        </p:nvSpPr>
        <p:spPr>
          <a:xfrm>
            <a:off x="1078992" y="4087368"/>
            <a:ext cx="2377440" cy="201168"/>
          </a:xfrm>
          <a:prstGeom prst="rect">
            <a:avLst/>
          </a:prstGeom>
          <a:noFill/>
          <a:ln/>
        </p:spPr>
        <p:txBody>
          <a:bodyPr wrap="square" rtlCol="0" anchor="ctr"/>
          <a:lstStyle/>
          <a:p>
            <a:pPr marL="0" indent="0" algn="l">
              <a:buNone/>
            </a:pPr>
            <a:r>
              <a:rPr lang="en-US" sz="1000" dirty="0">
                <a:solidFill>
                  <a:srgbClr val="5A5A55"/>
                </a:solidFill>
                <a:latin typeface="Calibri" pitchFamily="34" charset="0"/>
                <a:ea typeface="Calibri" pitchFamily="34" charset="-122"/>
                <a:cs typeface="Calibri" pitchFamily="34" charset="-120"/>
              </a:rPr>
              <a:t>Roots · 5 Month Journey</a:t>
            </a:r>
            <a:endParaRPr lang="en-US" sz="1000" dirty="0"/>
          </a:p>
        </p:txBody>
      </p:sp>
      <p:sp>
        <p:nvSpPr>
          <p:cNvPr id="23" name="Text 21"/>
          <p:cNvSpPr/>
          <p:nvPr/>
        </p:nvSpPr>
        <p:spPr>
          <a:xfrm>
            <a:off x="1078992" y="4297680"/>
            <a:ext cx="2377440" cy="201168"/>
          </a:xfrm>
          <a:prstGeom prst="rect">
            <a:avLst/>
          </a:prstGeom>
          <a:noFill/>
          <a:ln/>
        </p:spPr>
        <p:txBody>
          <a:bodyPr wrap="square" rtlCol="0" anchor="ctr"/>
          <a:lstStyle/>
          <a:p>
            <a:pPr marL="0" indent="0" algn="l">
              <a:buNone/>
            </a:pPr>
            <a:r>
              <a:rPr lang="en-US" sz="1000" dirty="0">
                <a:solidFill>
                  <a:srgbClr val="5A5A55"/>
                </a:solidFill>
                <a:latin typeface="Calibri" pitchFamily="34" charset="0"/>
                <a:ea typeface="Calibri" pitchFamily="34" charset="-122"/>
                <a:cs typeface="Calibri" pitchFamily="34" charset="-120"/>
              </a:rPr>
              <a:t>Current · 3 Month Intensive Journey </a:t>
            </a:r>
            <a:endParaRPr lang="en-US" sz="1000" dirty="0"/>
          </a:p>
        </p:txBody>
      </p:sp>
      <p:sp>
        <p:nvSpPr>
          <p:cNvPr id="24" name="Text 22"/>
          <p:cNvSpPr/>
          <p:nvPr/>
        </p:nvSpPr>
        <p:spPr>
          <a:xfrm>
            <a:off x="1078992" y="4498848"/>
            <a:ext cx="2377440" cy="201168"/>
          </a:xfrm>
          <a:prstGeom prst="rect">
            <a:avLst/>
          </a:prstGeom>
          <a:noFill/>
          <a:ln/>
        </p:spPr>
        <p:txBody>
          <a:bodyPr wrap="square" rtlCol="0" anchor="ctr"/>
          <a:lstStyle/>
          <a:p>
            <a:pPr marL="0" indent="0" algn="l">
              <a:buNone/>
            </a:pPr>
            <a:r>
              <a:rPr lang="en-US" sz="1000" dirty="0">
                <a:solidFill>
                  <a:srgbClr val="5A5A55"/>
                </a:solidFill>
                <a:latin typeface="Calibri" pitchFamily="34" charset="0"/>
                <a:ea typeface="Calibri" pitchFamily="34" charset="-122"/>
                <a:cs typeface="Calibri" pitchFamily="34" charset="-120"/>
              </a:rPr>
              <a:t>Source · 3 day´s Retreat </a:t>
            </a:r>
            <a:endParaRPr lang="en-US" sz="1000" dirty="0"/>
          </a:p>
        </p:txBody>
      </p:sp>
      <p:sp>
        <p:nvSpPr>
          <p:cNvPr id="25" name="Text 23"/>
          <p:cNvSpPr/>
          <p:nvPr/>
        </p:nvSpPr>
        <p:spPr>
          <a:xfrm>
            <a:off x="1078992" y="4703648"/>
            <a:ext cx="2377440" cy="201168"/>
          </a:xfrm>
          <a:prstGeom prst="rect">
            <a:avLst/>
          </a:prstGeom>
          <a:noFill/>
          <a:ln/>
        </p:spPr>
        <p:txBody>
          <a:bodyPr wrap="square" rtlCol="0" anchor="ctr"/>
          <a:lstStyle/>
          <a:p>
            <a:pPr marL="0" indent="0" algn="l">
              <a:buNone/>
            </a:pPr>
            <a:r>
              <a:rPr lang="en-US" sz="1000" dirty="0">
                <a:solidFill>
                  <a:srgbClr val="5A5A55"/>
                </a:solidFill>
                <a:latin typeface="Calibri" pitchFamily="34" charset="0"/>
                <a:ea typeface="Calibri" pitchFamily="34" charset="-122"/>
                <a:cs typeface="Calibri" pitchFamily="34" charset="-120"/>
              </a:rPr>
              <a:t>Origin – Custom built retreats </a:t>
            </a:r>
            <a:endParaRPr lang="en-US" sz="1000" dirty="0"/>
          </a:p>
        </p:txBody>
      </p:sp>
      <p:sp>
        <p:nvSpPr>
          <p:cNvPr id="26" name="Text 24"/>
          <p:cNvSpPr/>
          <p:nvPr/>
        </p:nvSpPr>
        <p:spPr>
          <a:xfrm>
            <a:off x="3739896" y="3822192"/>
            <a:ext cx="2377440" cy="256032"/>
          </a:xfrm>
          <a:prstGeom prst="rect">
            <a:avLst/>
          </a:prstGeom>
          <a:noFill/>
          <a:ln/>
        </p:spPr>
        <p:txBody>
          <a:bodyPr wrap="square" rtlCol="0" anchor="ctr"/>
          <a:lstStyle/>
          <a:p>
            <a:pPr marL="0" indent="0" algn="l">
              <a:buNone/>
            </a:pPr>
            <a:r>
              <a:rPr lang="es-MX" sz="900" b="1" kern="0" spc="100" dirty="0">
                <a:solidFill>
                  <a:srgbClr val="C9A96E"/>
                </a:solidFill>
                <a:latin typeface="Arial" pitchFamily="34" charset="0"/>
                <a:cs typeface="Arial" pitchFamily="34" charset="-120"/>
              </a:rPr>
              <a:t>E</a:t>
            </a:r>
            <a:r>
              <a:rPr lang="en-US" sz="900" b="1" kern="0" spc="100" dirty="0" err="1">
                <a:solidFill>
                  <a:srgbClr val="C9A96E"/>
                </a:solidFill>
                <a:latin typeface="Arial" pitchFamily="34" charset="0"/>
                <a:cs typeface="Arial" pitchFamily="34" charset="-120"/>
              </a:rPr>
              <a:t>lements</a:t>
            </a:r>
            <a:endParaRPr lang="en-US" sz="900" dirty="0"/>
          </a:p>
        </p:txBody>
      </p:sp>
      <p:sp>
        <p:nvSpPr>
          <p:cNvPr id="27" name="Text 25"/>
          <p:cNvSpPr/>
          <p:nvPr/>
        </p:nvSpPr>
        <p:spPr>
          <a:xfrm>
            <a:off x="3739896" y="4151376"/>
            <a:ext cx="2377440" cy="201168"/>
          </a:xfrm>
          <a:prstGeom prst="rect">
            <a:avLst/>
          </a:prstGeom>
          <a:noFill/>
          <a:ln/>
        </p:spPr>
        <p:txBody>
          <a:bodyPr wrap="square" rtlCol="0" anchor="ctr"/>
          <a:lstStyle/>
          <a:p>
            <a:pPr marL="0" indent="0" algn="l">
              <a:buNone/>
            </a:pPr>
            <a:r>
              <a:rPr lang="en-US" sz="1000" dirty="0">
                <a:solidFill>
                  <a:srgbClr val="5A5A55"/>
                </a:solidFill>
                <a:latin typeface="Calibri" pitchFamily="34" charset="0"/>
                <a:ea typeface="Calibri" pitchFamily="34" charset="-122"/>
                <a:cs typeface="Calibri" pitchFamily="34" charset="-120"/>
              </a:rPr>
              <a:t>Water</a:t>
            </a:r>
            <a:endParaRPr lang="en-US" sz="1000" dirty="0"/>
          </a:p>
        </p:txBody>
      </p:sp>
      <p:sp>
        <p:nvSpPr>
          <p:cNvPr id="28" name="Text 26"/>
          <p:cNvSpPr/>
          <p:nvPr/>
        </p:nvSpPr>
        <p:spPr>
          <a:xfrm>
            <a:off x="3749040" y="4303192"/>
            <a:ext cx="2377440" cy="201168"/>
          </a:xfrm>
          <a:prstGeom prst="rect">
            <a:avLst/>
          </a:prstGeom>
          <a:noFill/>
          <a:ln/>
        </p:spPr>
        <p:txBody>
          <a:bodyPr wrap="square" rtlCol="0" anchor="ctr"/>
          <a:lstStyle/>
          <a:p>
            <a:pPr marL="0" indent="0" algn="l">
              <a:buNone/>
            </a:pPr>
            <a:r>
              <a:rPr lang="en-US" sz="1000" dirty="0">
                <a:solidFill>
                  <a:srgbClr val="5A5A55"/>
                </a:solidFill>
                <a:latin typeface="Calibri" pitchFamily="34" charset="0"/>
                <a:ea typeface="Calibri" pitchFamily="34" charset="-122"/>
                <a:cs typeface="Calibri" pitchFamily="34" charset="-120"/>
              </a:rPr>
              <a:t>Fire</a:t>
            </a:r>
            <a:endParaRPr lang="en-US" sz="1000" dirty="0"/>
          </a:p>
        </p:txBody>
      </p:sp>
      <p:sp>
        <p:nvSpPr>
          <p:cNvPr id="29" name="Text 27"/>
          <p:cNvSpPr/>
          <p:nvPr/>
        </p:nvSpPr>
        <p:spPr>
          <a:xfrm>
            <a:off x="3749040" y="4449626"/>
            <a:ext cx="2377440" cy="201168"/>
          </a:xfrm>
          <a:prstGeom prst="rect">
            <a:avLst/>
          </a:prstGeom>
          <a:noFill/>
          <a:ln/>
        </p:spPr>
        <p:txBody>
          <a:bodyPr wrap="square" rtlCol="0" anchor="ctr"/>
          <a:lstStyle/>
          <a:p>
            <a:pPr marL="0" indent="0" algn="l">
              <a:buNone/>
            </a:pPr>
            <a:r>
              <a:rPr lang="en-US" sz="1000" dirty="0">
                <a:solidFill>
                  <a:srgbClr val="5A5A55"/>
                </a:solidFill>
                <a:latin typeface="Calibri" pitchFamily="34" charset="0"/>
                <a:ea typeface="Calibri" pitchFamily="34" charset="-122"/>
                <a:cs typeface="Calibri" pitchFamily="34" charset="-120"/>
              </a:rPr>
              <a:t>Air</a:t>
            </a:r>
            <a:endParaRPr lang="en-US" sz="1000" dirty="0"/>
          </a:p>
        </p:txBody>
      </p:sp>
      <p:sp>
        <p:nvSpPr>
          <p:cNvPr id="30" name="Text 28"/>
          <p:cNvSpPr/>
          <p:nvPr/>
        </p:nvSpPr>
        <p:spPr>
          <a:xfrm>
            <a:off x="3739896" y="4696644"/>
            <a:ext cx="2377440" cy="201168"/>
          </a:xfrm>
          <a:prstGeom prst="rect">
            <a:avLst/>
          </a:prstGeom>
          <a:noFill/>
          <a:ln/>
        </p:spPr>
        <p:txBody>
          <a:bodyPr wrap="square" rtlCol="0" anchor="ctr"/>
          <a:lstStyle/>
          <a:p>
            <a:pPr marL="0" indent="0" algn="l">
              <a:buNone/>
            </a:pPr>
            <a:r>
              <a:rPr lang="en-US" sz="1000" dirty="0">
                <a:solidFill>
                  <a:srgbClr val="5A5A55"/>
                </a:solidFill>
                <a:latin typeface="Calibri" pitchFamily="34" charset="0"/>
                <a:ea typeface="Calibri" pitchFamily="34" charset="-122"/>
                <a:cs typeface="Calibri" pitchFamily="34" charset="-120"/>
              </a:rPr>
              <a:t>Earth</a:t>
            </a:r>
          </a:p>
          <a:p>
            <a:pPr marL="0" indent="0" algn="l">
              <a:buNone/>
            </a:pPr>
            <a:r>
              <a:rPr lang="en-US" sz="1000" dirty="0" err="1">
                <a:solidFill>
                  <a:srgbClr val="5A5A55"/>
                </a:solidFill>
                <a:latin typeface="Calibri" pitchFamily="34" charset="0"/>
                <a:ea typeface="Calibri" pitchFamily="34" charset="-122"/>
                <a:cs typeface="Calibri" pitchFamily="34" charset="-120"/>
              </a:rPr>
              <a:t>Ëter</a:t>
            </a:r>
            <a:endParaRPr lang="en-US" sz="1000" dirty="0"/>
          </a:p>
        </p:txBody>
      </p:sp>
      <p:sp>
        <p:nvSpPr>
          <p:cNvPr id="31" name="Text 29"/>
          <p:cNvSpPr/>
          <p:nvPr/>
        </p:nvSpPr>
        <p:spPr>
          <a:xfrm>
            <a:off x="6400800" y="3834708"/>
            <a:ext cx="2377440" cy="256032"/>
          </a:xfrm>
          <a:prstGeom prst="rect">
            <a:avLst/>
          </a:prstGeom>
          <a:noFill/>
          <a:ln/>
        </p:spPr>
        <p:txBody>
          <a:bodyPr wrap="square" rtlCol="0" anchor="ctr"/>
          <a:lstStyle/>
          <a:p>
            <a:pPr marL="0" indent="0" algn="l">
              <a:buNone/>
            </a:pPr>
            <a:r>
              <a:rPr lang="es-MX" sz="900" b="1" kern="0" spc="100" dirty="0">
                <a:solidFill>
                  <a:srgbClr val="C9A96E"/>
                </a:solidFill>
                <a:latin typeface="Arial" pitchFamily="34" charset="0"/>
                <a:cs typeface="Arial" pitchFamily="34" charset="-120"/>
              </a:rPr>
              <a:t>M</a:t>
            </a:r>
            <a:r>
              <a:rPr lang="en-US" sz="900" b="1" kern="0" spc="100" dirty="0" err="1">
                <a:solidFill>
                  <a:srgbClr val="C9A96E"/>
                </a:solidFill>
                <a:latin typeface="Arial" pitchFamily="34" charset="0"/>
                <a:cs typeface="Arial" pitchFamily="34" charset="-120"/>
              </a:rPr>
              <a:t>ethodology</a:t>
            </a:r>
            <a:endParaRPr lang="en-US" sz="900" dirty="0"/>
          </a:p>
        </p:txBody>
      </p:sp>
      <p:sp>
        <p:nvSpPr>
          <p:cNvPr id="32" name="Text 30"/>
          <p:cNvSpPr/>
          <p:nvPr/>
        </p:nvSpPr>
        <p:spPr>
          <a:xfrm>
            <a:off x="6400800" y="4167913"/>
            <a:ext cx="2377440" cy="201168"/>
          </a:xfrm>
          <a:prstGeom prst="rect">
            <a:avLst/>
          </a:prstGeom>
          <a:noFill/>
          <a:ln/>
        </p:spPr>
        <p:txBody>
          <a:bodyPr wrap="square" rtlCol="0" anchor="ctr"/>
          <a:lstStyle/>
          <a:p>
            <a:pPr marL="0" indent="0" algn="l">
              <a:buNone/>
            </a:pPr>
            <a:r>
              <a:rPr lang="es-MX" sz="1000" dirty="0">
                <a:solidFill>
                  <a:srgbClr val="5A5A55"/>
                </a:solidFill>
                <a:latin typeface="Calibri" pitchFamily="34" charset="0"/>
                <a:ea typeface="Calibri" pitchFamily="34" charset="-122"/>
                <a:cs typeface="Calibri" pitchFamily="34" charset="-120"/>
              </a:rPr>
              <a:t>N</a:t>
            </a:r>
            <a:r>
              <a:rPr lang="en-US" sz="1000" dirty="0">
                <a:solidFill>
                  <a:srgbClr val="5A5A55"/>
                </a:solidFill>
                <a:latin typeface="Calibri" pitchFamily="34" charset="0"/>
                <a:ea typeface="Calibri" pitchFamily="34" charset="-122"/>
                <a:cs typeface="Calibri" pitchFamily="34" charset="-120"/>
              </a:rPr>
              <a:t>euro Science</a:t>
            </a:r>
            <a:endParaRPr lang="en-US" sz="1000" dirty="0"/>
          </a:p>
        </p:txBody>
      </p:sp>
      <p:sp>
        <p:nvSpPr>
          <p:cNvPr id="33" name="Text 31"/>
          <p:cNvSpPr/>
          <p:nvPr/>
        </p:nvSpPr>
        <p:spPr>
          <a:xfrm>
            <a:off x="6409944" y="4318789"/>
            <a:ext cx="2377440" cy="201168"/>
          </a:xfrm>
          <a:prstGeom prst="rect">
            <a:avLst/>
          </a:prstGeom>
          <a:noFill/>
          <a:ln/>
        </p:spPr>
        <p:txBody>
          <a:bodyPr wrap="square" rtlCol="0" anchor="ctr"/>
          <a:lstStyle/>
          <a:p>
            <a:pPr marL="0" indent="0" algn="l">
              <a:buNone/>
            </a:pPr>
            <a:r>
              <a:rPr lang="es-MX" sz="1000" dirty="0">
                <a:solidFill>
                  <a:srgbClr val="5A5A55"/>
                </a:solidFill>
                <a:latin typeface="Calibri" pitchFamily="34" charset="0"/>
                <a:ea typeface="Calibri" pitchFamily="34" charset="-122"/>
                <a:cs typeface="Calibri" pitchFamily="34" charset="-120"/>
              </a:rPr>
              <a:t>N</a:t>
            </a:r>
            <a:r>
              <a:rPr lang="en-US" sz="1000" dirty="0">
                <a:solidFill>
                  <a:srgbClr val="5A5A55"/>
                </a:solidFill>
                <a:latin typeface="Calibri" pitchFamily="34" charset="0"/>
                <a:ea typeface="Calibri" pitchFamily="34" charset="-122"/>
                <a:cs typeface="Calibri" pitchFamily="34" charset="-120"/>
              </a:rPr>
              <a:t>LP</a:t>
            </a:r>
            <a:endParaRPr lang="en-US" sz="1000" dirty="0"/>
          </a:p>
        </p:txBody>
      </p:sp>
      <p:sp>
        <p:nvSpPr>
          <p:cNvPr id="34" name="Text 32"/>
          <p:cNvSpPr/>
          <p:nvPr/>
        </p:nvSpPr>
        <p:spPr>
          <a:xfrm>
            <a:off x="6409944" y="4561105"/>
            <a:ext cx="2377440" cy="201168"/>
          </a:xfrm>
          <a:prstGeom prst="rect">
            <a:avLst/>
          </a:prstGeom>
          <a:noFill/>
          <a:ln/>
        </p:spPr>
        <p:txBody>
          <a:bodyPr wrap="square" rtlCol="0" anchor="ctr"/>
          <a:lstStyle/>
          <a:p>
            <a:pPr marL="0" indent="0" algn="l">
              <a:buNone/>
            </a:pPr>
            <a:r>
              <a:rPr lang="es-MX" sz="1000" dirty="0">
                <a:solidFill>
                  <a:srgbClr val="5A5A55"/>
                </a:solidFill>
                <a:latin typeface="Calibri" pitchFamily="34" charset="0"/>
                <a:ea typeface="Calibri" pitchFamily="34" charset="-122"/>
                <a:cs typeface="Calibri" pitchFamily="34" charset="-120"/>
              </a:rPr>
              <a:t>E</a:t>
            </a:r>
            <a:r>
              <a:rPr lang="en-US" sz="1000" dirty="0" err="1">
                <a:solidFill>
                  <a:srgbClr val="5A5A55"/>
                </a:solidFill>
                <a:latin typeface="Calibri" pitchFamily="34" charset="0"/>
                <a:ea typeface="Calibri" pitchFamily="34" charset="-122"/>
                <a:cs typeface="Calibri" pitchFamily="34" charset="-120"/>
              </a:rPr>
              <a:t>xecutive</a:t>
            </a:r>
            <a:r>
              <a:rPr lang="en-US" sz="1000" dirty="0">
                <a:solidFill>
                  <a:srgbClr val="5A5A55"/>
                </a:solidFill>
                <a:latin typeface="Calibri" pitchFamily="34" charset="0"/>
                <a:ea typeface="Calibri" pitchFamily="34" charset="-122"/>
                <a:cs typeface="Calibri" pitchFamily="34" charset="-120"/>
              </a:rPr>
              <a:t>, Organizational, Life, Health, Results Coaching </a:t>
            </a:r>
            <a:endParaRPr lang="en-US" sz="1000" dirty="0"/>
          </a:p>
        </p:txBody>
      </p:sp>
      <p:sp>
        <p:nvSpPr>
          <p:cNvPr id="35" name="Text 33"/>
          <p:cNvSpPr/>
          <p:nvPr/>
        </p:nvSpPr>
        <p:spPr>
          <a:xfrm>
            <a:off x="6409944" y="4816456"/>
            <a:ext cx="2377440" cy="201168"/>
          </a:xfrm>
          <a:prstGeom prst="rect">
            <a:avLst/>
          </a:prstGeom>
          <a:noFill/>
          <a:ln/>
        </p:spPr>
        <p:txBody>
          <a:bodyPr wrap="square" rtlCol="0" anchor="ctr"/>
          <a:lstStyle/>
          <a:p>
            <a:pPr marL="0" indent="0" algn="l">
              <a:buNone/>
            </a:pPr>
            <a:r>
              <a:rPr lang="en-US" sz="1000" dirty="0">
                <a:solidFill>
                  <a:srgbClr val="5A5A55"/>
                </a:solidFill>
                <a:latin typeface="Calibri" pitchFamily="34" charset="0"/>
                <a:ea typeface="Calibri" pitchFamily="34" charset="-122"/>
                <a:cs typeface="Calibri" pitchFamily="34" charset="-120"/>
              </a:rPr>
              <a:t>psychology</a:t>
            </a:r>
            <a:endParaRPr lang="en-US" sz="1000" dirty="0"/>
          </a:p>
        </p:txBody>
      </p:sp>
      <p:sp>
        <p:nvSpPr>
          <p:cNvPr id="36" name="Text 34"/>
          <p:cNvSpPr/>
          <p:nvPr/>
        </p:nvSpPr>
        <p:spPr>
          <a:xfrm>
            <a:off x="548640" y="4983480"/>
            <a:ext cx="8138160" cy="201168"/>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 2025 Elements Method. All rights reserved.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10"/>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48640" y="502920"/>
            <a:ext cx="8046720" cy="274320"/>
          </a:xfrm>
          <a:prstGeom prst="rect">
            <a:avLst/>
          </a:prstGeom>
          <a:noFill/>
          <a:ln/>
        </p:spPr>
        <p:txBody>
          <a:bodyPr wrap="square" rtlCol="0" anchor="ctr"/>
          <a:lstStyle/>
          <a:p>
            <a:pPr marL="0" indent="0" algn="l">
              <a:buNone/>
            </a:pPr>
            <a:r>
              <a:rPr lang="en-US" sz="900" b="1" kern="0" spc="500" dirty="0">
                <a:solidFill>
                  <a:srgbClr val="C9A96E"/>
                </a:solidFill>
                <a:latin typeface="Arial" pitchFamily="34" charset="0"/>
                <a:ea typeface="Arial" pitchFamily="34" charset="-122"/>
                <a:cs typeface="Arial" pitchFamily="34" charset="-120"/>
              </a:rPr>
              <a:t>ELEMENTS METHOD</a:t>
            </a:r>
            <a:endParaRPr lang="en-US" sz="900" dirty="0"/>
          </a:p>
        </p:txBody>
      </p:sp>
      <p:sp>
        <p:nvSpPr>
          <p:cNvPr id="4" name="Text 2"/>
          <p:cNvSpPr/>
          <p:nvPr/>
        </p:nvSpPr>
        <p:spPr>
          <a:xfrm>
            <a:off x="548640" y="914400"/>
            <a:ext cx="8046720" cy="256032"/>
          </a:xfrm>
          <a:prstGeom prst="rect">
            <a:avLst/>
          </a:prstGeom>
          <a:noFill/>
          <a:ln/>
        </p:spPr>
        <p:txBody>
          <a:bodyPr wrap="square" rtlCol="0" anchor="ctr"/>
          <a:lstStyle/>
          <a:p>
            <a:pPr marL="0" indent="0" algn="l">
              <a:buNone/>
            </a:pPr>
            <a:r>
              <a:rPr lang="en-US" sz="1000" kern="0" spc="200" dirty="0">
                <a:solidFill>
                  <a:srgbClr val="AAAAAA"/>
                </a:solidFill>
                <a:latin typeface="Arial" pitchFamily="34" charset="0"/>
                <a:ea typeface="Arial" pitchFamily="34" charset="-122"/>
                <a:cs typeface="Arial" pitchFamily="34" charset="-120"/>
              </a:rPr>
              <a:t>HOMEPAGE · ESPAÑOL — HERO</a:t>
            </a:r>
            <a:endParaRPr lang="en-US" sz="1000" dirty="0"/>
          </a:p>
        </p:txBody>
      </p:sp>
      <p:sp>
        <p:nvSpPr>
          <p:cNvPr id="5" name="Text 3"/>
          <p:cNvSpPr/>
          <p:nvPr/>
        </p:nvSpPr>
        <p:spPr>
          <a:xfrm>
            <a:off x="548640" y="1280160"/>
            <a:ext cx="8046720" cy="146304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Lidera desde tu</a:t>
            </a:r>
            <a:endParaRPr lang="en-US" sz="4000" dirty="0"/>
          </a:p>
          <a:p>
            <a:pPr marL="0" indent="0" algn="l">
              <a:buNone/>
            </a:pPr>
            <a:r>
              <a:rPr lang="en-US" sz="4000" b="1" dirty="0">
                <a:solidFill>
                  <a:srgbClr val="FFFFFF"/>
                </a:solidFill>
                <a:latin typeface="Cambria" pitchFamily="34" charset="0"/>
                <a:ea typeface="Cambria" pitchFamily="34" charset="-122"/>
                <a:cs typeface="Cambria" pitchFamily="34" charset="-120"/>
              </a:rPr>
              <a:t>naturaleza profunda</a:t>
            </a:r>
            <a:endParaRPr lang="en-US" sz="4000" dirty="0"/>
          </a:p>
        </p:txBody>
      </p:sp>
      <p:sp>
        <p:nvSpPr>
          <p:cNvPr id="6" name="Text 4"/>
          <p:cNvSpPr/>
          <p:nvPr/>
        </p:nvSpPr>
        <p:spPr>
          <a:xfrm>
            <a:off x="548640" y="2880360"/>
            <a:ext cx="6858000" cy="640080"/>
          </a:xfrm>
          <a:prstGeom prst="rect">
            <a:avLst/>
          </a:prstGeom>
          <a:noFill/>
          <a:ln/>
        </p:spPr>
        <p:txBody>
          <a:bodyPr wrap="square" rtlCol="0" anchor="ctr"/>
          <a:lstStyle/>
          <a:p>
            <a:pPr marL="0" indent="0" algn="l">
              <a:buNone/>
            </a:pPr>
            <a:r>
              <a:rPr lang="en-US" sz="1600" i="1" dirty="0">
                <a:solidFill>
                  <a:srgbClr val="C9A96E"/>
                </a:solidFill>
                <a:latin typeface="Cambria" pitchFamily="34" charset="0"/>
                <a:ea typeface="Cambria" pitchFamily="34" charset="-122"/>
                <a:cs typeface="Cambria" pitchFamily="34" charset="-120"/>
              </a:rPr>
              <a:t>Experiencias de transformación para líderes y organizaciones, ancladas en la sabiduría del Agua, el Fuego, el Aire y la Tierra.</a:t>
            </a:r>
            <a:endParaRPr lang="en-US" sz="1600" dirty="0"/>
          </a:p>
        </p:txBody>
      </p:sp>
      <p:sp>
        <p:nvSpPr>
          <p:cNvPr id="7" name="Shape 5"/>
          <p:cNvSpPr/>
          <p:nvPr/>
        </p:nvSpPr>
        <p:spPr>
          <a:xfrm>
            <a:off x="0" y="4983480"/>
            <a:ext cx="9144000" cy="164592"/>
          </a:xfrm>
          <a:prstGeom prst="rect">
            <a:avLst/>
          </a:prstGeom>
          <a:solidFill>
            <a:srgbClr val="2C2C2A"/>
          </a:solidFill>
          <a:ln w="12700">
            <a:solidFill>
              <a:srgbClr val="2C2C2A"/>
            </a:solidFill>
            <a:prstDash val="solid"/>
          </a:ln>
        </p:spPr>
        <p:txBody>
          <a:bodyPr/>
          <a:lstStyle/>
          <a:p>
            <a:endParaRPr lang="en-US"/>
          </a:p>
        </p:txBody>
      </p:sp>
      <p:sp>
        <p:nvSpPr>
          <p:cNvPr id="8" name="Text 6"/>
          <p:cNvSpPr/>
          <p:nvPr/>
        </p:nvSpPr>
        <p:spPr>
          <a:xfrm>
            <a:off x="548640" y="4864608"/>
            <a:ext cx="8046720" cy="256032"/>
          </a:xfrm>
          <a:prstGeom prst="rect">
            <a:avLst/>
          </a:prstGeom>
          <a:noFill/>
          <a:ln/>
        </p:spPr>
        <p:txBody>
          <a:bodyPr wrap="square" rtlCol="0" anchor="ctr"/>
          <a:lstStyle/>
          <a:p>
            <a:pPr marL="0" indent="0" algn="l">
              <a:buNone/>
            </a:pPr>
            <a:r>
              <a:rPr lang="en-US" sz="900" dirty="0">
                <a:solidFill>
                  <a:srgbClr val="AAAAAA"/>
                </a:solidFill>
                <a:latin typeface="Calibri" pitchFamily="34" charset="0"/>
                <a:ea typeface="Calibri" pitchFamily="34" charset="-122"/>
                <a:cs typeface="Calibri" pitchFamily="34" charset="-120"/>
              </a:rPr>
              <a:t>Contenido del Sitio Web · Elements Method · 2025</a:t>
            </a:r>
            <a:endParaRPr lang="en-US" sz="900" dirty="0"/>
          </a:p>
        </p:txBody>
      </p:sp>
      <p:sp>
        <p:nvSpPr>
          <p:cNvPr id="9" name="Shape 7"/>
          <p:cNvSpPr/>
          <p:nvPr/>
        </p:nvSpPr>
        <p:spPr>
          <a:xfrm>
            <a:off x="548640" y="3858768"/>
            <a:ext cx="1828800" cy="329184"/>
          </a:xfrm>
          <a:prstGeom prst="roundRect">
            <a:avLst>
              <a:gd name="adj" fmla="val 22222"/>
            </a:avLst>
          </a:prstGeom>
          <a:solidFill>
            <a:srgbClr val="C9A96E"/>
          </a:solidFill>
          <a:ln w="12700">
            <a:solidFill>
              <a:srgbClr val="C9A96E"/>
            </a:solidFill>
            <a:prstDash val="solid"/>
          </a:ln>
        </p:spPr>
        <p:txBody>
          <a:bodyPr/>
          <a:lstStyle/>
          <a:p>
            <a:endParaRPr lang="en-US"/>
          </a:p>
        </p:txBody>
      </p:sp>
      <p:sp>
        <p:nvSpPr>
          <p:cNvPr id="10" name="Text 8"/>
          <p:cNvSpPr/>
          <p:nvPr/>
        </p:nvSpPr>
        <p:spPr>
          <a:xfrm>
            <a:off x="548640" y="3858768"/>
            <a:ext cx="1828800" cy="329184"/>
          </a:xfrm>
          <a:prstGeom prst="rect">
            <a:avLst/>
          </a:prstGeom>
          <a:noFill/>
          <a:ln/>
        </p:spPr>
        <p:txBody>
          <a:bodyPr wrap="square" rtlCol="0" anchor="ctr"/>
          <a:lstStyle/>
          <a:p>
            <a:pPr marL="0" indent="0" algn="ctr">
              <a:buNone/>
            </a:pPr>
            <a:r>
              <a:rPr lang="en-US" sz="1000" b="1" dirty="0">
                <a:solidFill>
                  <a:srgbClr val="111810"/>
                </a:solidFill>
                <a:latin typeface="Calibri" pitchFamily="34" charset="0"/>
                <a:ea typeface="Calibri" pitchFamily="34" charset="-122"/>
                <a:cs typeface="Calibri" pitchFamily="34" charset="-120"/>
              </a:rPr>
              <a:t>Explorar Programas</a:t>
            </a:r>
            <a:endParaRPr lang="en-US" sz="1000" dirty="0"/>
          </a:p>
        </p:txBody>
      </p:sp>
      <p:sp>
        <p:nvSpPr>
          <p:cNvPr id="11" name="Shape 9"/>
          <p:cNvSpPr/>
          <p:nvPr/>
        </p:nvSpPr>
        <p:spPr>
          <a:xfrm>
            <a:off x="2514600" y="3858768"/>
            <a:ext cx="1737360" cy="329184"/>
          </a:xfrm>
          <a:prstGeom prst="roundRect">
            <a:avLst>
              <a:gd name="adj" fmla="val 22222"/>
            </a:avLst>
          </a:prstGeom>
          <a:solidFill>
            <a:srgbClr val="FFFFFF">
              <a:alpha val="10000"/>
            </a:srgbClr>
          </a:solidFill>
          <a:ln w="12700">
            <a:solidFill>
              <a:srgbClr val="C9A96E"/>
            </a:solidFill>
            <a:prstDash val="solid"/>
          </a:ln>
        </p:spPr>
        <p:txBody>
          <a:bodyPr/>
          <a:lstStyle/>
          <a:p>
            <a:endParaRPr lang="en-US"/>
          </a:p>
        </p:txBody>
      </p:sp>
      <p:sp>
        <p:nvSpPr>
          <p:cNvPr id="12" name="Text 10"/>
          <p:cNvSpPr/>
          <p:nvPr/>
        </p:nvSpPr>
        <p:spPr>
          <a:xfrm>
            <a:off x="2514600" y="3858768"/>
            <a:ext cx="1737360" cy="329184"/>
          </a:xfrm>
          <a:prstGeom prst="rect">
            <a:avLst/>
          </a:prstGeom>
          <a:noFill/>
          <a:ln/>
        </p:spPr>
        <p:txBody>
          <a:bodyPr wrap="square" rtlCol="0" anchor="ctr"/>
          <a:lstStyle/>
          <a:p>
            <a:pPr marL="0" indent="0" algn="ctr">
              <a:buNone/>
            </a:pPr>
            <a:r>
              <a:rPr lang="en-US" sz="1000" dirty="0">
                <a:solidFill>
                  <a:srgbClr val="C9A96E"/>
                </a:solidFill>
                <a:latin typeface="Calibri" pitchFamily="34" charset="0"/>
                <a:ea typeface="Calibri" pitchFamily="34" charset="-122"/>
                <a:cs typeface="Calibri" pitchFamily="34" charset="-120"/>
              </a:rPr>
              <a:t>Conocer el Método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137160"/>
            <a:ext cx="8229600" cy="274320"/>
          </a:xfrm>
          <a:prstGeom prst="rect">
            <a:avLst/>
          </a:prstGeom>
          <a:noFill/>
          <a:ln/>
        </p:spPr>
        <p:txBody>
          <a:bodyPr wrap="square" rtlCol="0" anchor="ctr"/>
          <a:lstStyle/>
          <a:p>
            <a:pPr marL="0" indent="0" algn="l">
              <a:buNone/>
            </a:pPr>
            <a:r>
              <a:rPr lang="en-US" sz="900" b="1" kern="0" spc="400" dirty="0">
                <a:solidFill>
                  <a:srgbClr val="C9A96E"/>
                </a:solidFill>
                <a:latin typeface="Arial" pitchFamily="34" charset="0"/>
                <a:ea typeface="Arial" pitchFamily="34" charset="-122"/>
                <a:cs typeface="Arial" pitchFamily="34" charset="-120"/>
              </a:rPr>
              <a:t>HOMEPAGE · ESPAÑOL — LOS CUATRO ELEMENTOS</a:t>
            </a:r>
            <a:endParaRPr lang="en-US" sz="900" dirty="0"/>
          </a:p>
        </p:txBody>
      </p:sp>
      <p:sp>
        <p:nvSpPr>
          <p:cNvPr id="4" name="Shape 2"/>
          <p:cNvSpPr/>
          <p:nvPr/>
        </p:nvSpPr>
        <p:spPr>
          <a:xfrm>
            <a:off x="502920" y="484632"/>
            <a:ext cx="8138160" cy="0"/>
          </a:xfrm>
          <a:prstGeom prst="line">
            <a:avLst/>
          </a:prstGeom>
          <a:noFill/>
          <a:ln w="12700">
            <a:solidFill>
              <a:srgbClr val="F4F2EE"/>
            </a:solidFill>
            <a:prstDash val="solid"/>
          </a:ln>
        </p:spPr>
        <p:txBody>
          <a:bodyPr/>
          <a:lstStyle/>
          <a:p>
            <a:endParaRPr lang="en-US"/>
          </a:p>
        </p:txBody>
      </p:sp>
      <p:sp>
        <p:nvSpPr>
          <p:cNvPr id="5" name="Text 3"/>
          <p:cNvSpPr/>
          <p:nvPr/>
        </p:nvSpPr>
        <p:spPr>
          <a:xfrm>
            <a:off x="502920" y="594360"/>
            <a:ext cx="8138160" cy="1005840"/>
          </a:xfrm>
          <a:prstGeom prst="rect">
            <a:avLst/>
          </a:prstGeom>
          <a:noFill/>
          <a:ln/>
        </p:spPr>
        <p:txBody>
          <a:bodyPr wrap="square" rtlCol="0" anchor="ctr"/>
          <a:lstStyle/>
          <a:p>
            <a:pPr marL="0" indent="0" algn="l">
              <a:buNone/>
            </a:pPr>
            <a:r>
              <a:rPr lang="en-US" sz="2400" b="1" dirty="0">
                <a:solidFill>
                  <a:srgbClr val="2C2C2A"/>
                </a:solidFill>
                <a:latin typeface="Cambria" pitchFamily="34" charset="0"/>
                <a:ea typeface="Cambria" pitchFamily="34" charset="-122"/>
                <a:cs typeface="Cambria" pitchFamily="34" charset="-120"/>
              </a:rPr>
              <a:t>La naturaleza no gestiona. La naturaleza lidera.</a:t>
            </a:r>
            <a:endParaRPr lang="en-US" sz="2400" dirty="0"/>
          </a:p>
        </p:txBody>
      </p:sp>
      <p:sp>
        <p:nvSpPr>
          <p:cNvPr id="6" name="Text 4"/>
          <p:cNvSpPr/>
          <p:nvPr/>
        </p:nvSpPr>
        <p:spPr>
          <a:xfrm>
            <a:off x="502920" y="1234440"/>
            <a:ext cx="8138160" cy="658368"/>
          </a:xfrm>
          <a:prstGeom prst="rect">
            <a:avLst/>
          </a:prstGeom>
          <a:noFill/>
          <a:ln/>
        </p:spPr>
        <p:txBody>
          <a:bodyPr wrap="square" rtlCol="0" anchor="t"/>
          <a:lstStyle/>
          <a:p>
            <a:pPr marL="0" indent="0" algn="l">
              <a:buNone/>
            </a:pPr>
            <a:r>
              <a:rPr lang="en-US" sz="1200" dirty="0">
                <a:solidFill>
                  <a:srgbClr val="2C2C2A"/>
                </a:solidFill>
                <a:latin typeface="Calibri" pitchFamily="34" charset="0"/>
                <a:ea typeface="Calibri" pitchFamily="34" charset="-122"/>
                <a:cs typeface="Calibri" pitchFamily="34" charset="-120"/>
              </a:rPr>
              <a:t>El Elements Method devuelve a los ejecutivos a su fuente instintiva de poder. A través de experiencias inmersivas en entornos naturales, los líderes descubren las cuatro fuerzas fundamentales que moldean el liderazgo resiliente, auténtico y efectivo. Esto no es un retiro. Es un regreso.</a:t>
            </a:r>
            <a:endParaRPr lang="en-US" sz="1200" dirty="0"/>
          </a:p>
        </p:txBody>
      </p:sp>
      <p:sp>
        <p:nvSpPr>
          <p:cNvPr id="7" name="Shape 5"/>
          <p:cNvSpPr/>
          <p:nvPr/>
        </p:nvSpPr>
        <p:spPr>
          <a:xfrm>
            <a:off x="320040" y="2029968"/>
            <a:ext cx="2057400" cy="2834640"/>
          </a:xfrm>
          <a:prstGeom prst="roundRect">
            <a:avLst>
              <a:gd name="adj" fmla="val 4444"/>
            </a:avLst>
          </a:prstGeom>
          <a:solidFill>
            <a:srgbClr val="EAF4FA"/>
          </a:solidFill>
          <a:ln w="12700">
            <a:solidFill>
              <a:srgbClr val="EAF4FA"/>
            </a:solidFill>
            <a:prstDash val="solid"/>
          </a:ln>
          <a:effectLst>
            <a:outerShdw blurRad="101600" dist="25400" dir="2700000" algn="bl" rotWithShape="0">
              <a:srgbClr val="000000">
                <a:alpha val="9000"/>
              </a:srgbClr>
            </a:outerShdw>
          </a:effectLst>
        </p:spPr>
        <p:txBody>
          <a:bodyPr/>
          <a:lstStyle/>
          <a:p>
            <a:endParaRPr lang="en-US"/>
          </a:p>
        </p:txBody>
      </p:sp>
      <p:sp>
        <p:nvSpPr>
          <p:cNvPr id="8" name="Text 6"/>
          <p:cNvSpPr/>
          <p:nvPr/>
        </p:nvSpPr>
        <p:spPr>
          <a:xfrm>
            <a:off x="448056" y="2139696"/>
            <a:ext cx="1801368" cy="310896"/>
          </a:xfrm>
          <a:prstGeom prst="rect">
            <a:avLst/>
          </a:prstGeom>
          <a:noFill/>
          <a:ln/>
        </p:spPr>
        <p:txBody>
          <a:bodyPr wrap="square" lIns="0" tIns="0" rIns="0" bIns="0" rtlCol="0" anchor="ctr"/>
          <a:lstStyle/>
          <a:p>
            <a:pPr marL="0" indent="0" algn="l">
              <a:buNone/>
            </a:pPr>
            <a:r>
              <a:rPr lang="en-US" sz="1400" b="1" dirty="0">
                <a:solidFill>
                  <a:srgbClr val="2B6B8A"/>
                </a:solidFill>
                <a:latin typeface="Cambria" pitchFamily="34" charset="0"/>
                <a:ea typeface="Cambria" pitchFamily="34" charset="-122"/>
                <a:cs typeface="Cambria" pitchFamily="34" charset="-120"/>
              </a:rPr>
              <a:t>Agua</a:t>
            </a:r>
            <a:endParaRPr lang="en-US" sz="1400" dirty="0"/>
          </a:p>
        </p:txBody>
      </p:sp>
      <p:sp>
        <p:nvSpPr>
          <p:cNvPr id="9" name="Text 7"/>
          <p:cNvSpPr/>
          <p:nvPr/>
        </p:nvSpPr>
        <p:spPr>
          <a:xfrm>
            <a:off x="448056" y="2468880"/>
            <a:ext cx="1801368" cy="237744"/>
          </a:xfrm>
          <a:prstGeom prst="rect">
            <a:avLst/>
          </a:prstGeom>
          <a:noFill/>
          <a:ln/>
        </p:spPr>
        <p:txBody>
          <a:bodyPr wrap="square" rtlCol="0" anchor="ctr"/>
          <a:lstStyle/>
          <a:p>
            <a:pPr marL="0" indent="0" algn="l">
              <a:buNone/>
            </a:pPr>
            <a:r>
              <a:rPr lang="en-US" sz="900" i="1" dirty="0">
                <a:solidFill>
                  <a:srgbClr val="2B6B8A"/>
                </a:solidFill>
                <a:latin typeface="Calibri" pitchFamily="34" charset="0"/>
                <a:ea typeface="Calibri" pitchFamily="34" charset="-122"/>
                <a:cs typeface="Calibri" pitchFamily="34" charset="-120"/>
              </a:rPr>
              <a:t>Claridad · Flujo · Profundidad</a:t>
            </a:r>
            <a:endParaRPr lang="en-US" sz="900" dirty="0"/>
          </a:p>
        </p:txBody>
      </p:sp>
      <p:sp>
        <p:nvSpPr>
          <p:cNvPr id="10" name="Shape 8"/>
          <p:cNvSpPr/>
          <p:nvPr/>
        </p:nvSpPr>
        <p:spPr>
          <a:xfrm>
            <a:off x="448056" y="2743200"/>
            <a:ext cx="1801368" cy="0"/>
          </a:xfrm>
          <a:prstGeom prst="line">
            <a:avLst/>
          </a:prstGeom>
          <a:noFill/>
          <a:ln w="6350">
            <a:solidFill>
              <a:srgbClr val="2B6B8A">
                <a:alpha val="45000"/>
              </a:srgbClr>
            </a:solidFill>
            <a:prstDash val="solid"/>
          </a:ln>
        </p:spPr>
        <p:txBody>
          <a:bodyPr/>
          <a:lstStyle/>
          <a:p>
            <a:endParaRPr lang="en-US"/>
          </a:p>
        </p:txBody>
      </p:sp>
      <p:sp>
        <p:nvSpPr>
          <p:cNvPr id="11" name="Text 9"/>
          <p:cNvSpPr/>
          <p:nvPr/>
        </p:nvSpPr>
        <p:spPr>
          <a:xfrm>
            <a:off x="448056" y="2807208"/>
            <a:ext cx="1801368" cy="1920240"/>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Cultiva al líder que escucha profundo, se adapta con fluidez y mantiene la claridad incluso en condiciones turbulentas. El Agua enseña a encontrar el camino sin perder la dirección.</a:t>
            </a:r>
            <a:endParaRPr lang="en-US" sz="1000" dirty="0"/>
          </a:p>
        </p:txBody>
      </p:sp>
      <p:sp>
        <p:nvSpPr>
          <p:cNvPr id="12" name="Shape 10"/>
          <p:cNvSpPr/>
          <p:nvPr/>
        </p:nvSpPr>
        <p:spPr>
          <a:xfrm>
            <a:off x="2532888" y="2029968"/>
            <a:ext cx="2057400" cy="2834640"/>
          </a:xfrm>
          <a:prstGeom prst="roundRect">
            <a:avLst>
              <a:gd name="adj" fmla="val 4444"/>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13" name="Text 11"/>
          <p:cNvSpPr/>
          <p:nvPr/>
        </p:nvSpPr>
        <p:spPr>
          <a:xfrm>
            <a:off x="2660904" y="2139696"/>
            <a:ext cx="1801368" cy="310896"/>
          </a:xfrm>
          <a:prstGeom prst="rect">
            <a:avLst/>
          </a:prstGeom>
          <a:noFill/>
          <a:ln/>
        </p:spPr>
        <p:txBody>
          <a:bodyPr wrap="square" lIns="0" tIns="0" rIns="0" bIns="0" rtlCol="0" anchor="ctr"/>
          <a:lstStyle/>
          <a:p>
            <a:pPr marL="0" indent="0" algn="l">
              <a:buNone/>
            </a:pPr>
            <a:r>
              <a:rPr lang="en-US" sz="1400" b="1" dirty="0">
                <a:solidFill>
                  <a:srgbClr val="C4622D"/>
                </a:solidFill>
                <a:latin typeface="Cambria" pitchFamily="34" charset="0"/>
                <a:ea typeface="Cambria" pitchFamily="34" charset="-122"/>
                <a:cs typeface="Cambria" pitchFamily="34" charset="-120"/>
              </a:rPr>
              <a:t>Fuego</a:t>
            </a:r>
            <a:endParaRPr lang="en-US" sz="1400" dirty="0"/>
          </a:p>
        </p:txBody>
      </p:sp>
      <p:sp>
        <p:nvSpPr>
          <p:cNvPr id="14" name="Text 12"/>
          <p:cNvSpPr/>
          <p:nvPr/>
        </p:nvSpPr>
        <p:spPr>
          <a:xfrm>
            <a:off x="2660904" y="2468880"/>
            <a:ext cx="1801368" cy="237744"/>
          </a:xfrm>
          <a:prstGeom prst="rect">
            <a:avLst/>
          </a:prstGeom>
          <a:noFill/>
          <a:ln/>
        </p:spPr>
        <p:txBody>
          <a:bodyPr wrap="square" rtlCol="0" anchor="ctr"/>
          <a:lstStyle/>
          <a:p>
            <a:pPr marL="0" indent="0" algn="l">
              <a:buNone/>
            </a:pPr>
            <a:r>
              <a:rPr lang="en-US" sz="900" i="1" dirty="0">
                <a:solidFill>
                  <a:srgbClr val="C4622D"/>
                </a:solidFill>
                <a:latin typeface="Calibri" pitchFamily="34" charset="0"/>
                <a:ea typeface="Calibri" pitchFamily="34" charset="-122"/>
                <a:cs typeface="Calibri" pitchFamily="34" charset="-120"/>
              </a:rPr>
              <a:t>Visión · Coraje · Activación</a:t>
            </a:r>
            <a:endParaRPr lang="en-US" sz="900" dirty="0"/>
          </a:p>
        </p:txBody>
      </p:sp>
      <p:sp>
        <p:nvSpPr>
          <p:cNvPr id="15" name="Shape 13"/>
          <p:cNvSpPr/>
          <p:nvPr/>
        </p:nvSpPr>
        <p:spPr>
          <a:xfrm>
            <a:off x="2660904" y="2743200"/>
            <a:ext cx="1801368" cy="0"/>
          </a:xfrm>
          <a:prstGeom prst="line">
            <a:avLst/>
          </a:prstGeom>
          <a:noFill/>
          <a:ln w="6350">
            <a:solidFill>
              <a:srgbClr val="C4622D">
                <a:alpha val="45000"/>
              </a:srgbClr>
            </a:solidFill>
            <a:prstDash val="solid"/>
          </a:ln>
        </p:spPr>
        <p:txBody>
          <a:bodyPr/>
          <a:lstStyle/>
          <a:p>
            <a:endParaRPr lang="en-US"/>
          </a:p>
        </p:txBody>
      </p:sp>
      <p:sp>
        <p:nvSpPr>
          <p:cNvPr id="16" name="Text 14"/>
          <p:cNvSpPr/>
          <p:nvPr/>
        </p:nvSpPr>
        <p:spPr>
          <a:xfrm>
            <a:off x="2660904" y="2807208"/>
            <a:ext cx="1801368" cy="1920240"/>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Enciende al líder que transforma, inspira y moviliza a otros hacia lo que importa. El Fuego enseña a quemar lo innecesario e iluminar lo esencial.</a:t>
            </a:r>
            <a:endParaRPr lang="en-US" sz="1000" dirty="0"/>
          </a:p>
        </p:txBody>
      </p:sp>
      <p:sp>
        <p:nvSpPr>
          <p:cNvPr id="17" name="Shape 15"/>
          <p:cNvSpPr/>
          <p:nvPr/>
        </p:nvSpPr>
        <p:spPr>
          <a:xfrm>
            <a:off x="4745736" y="2029968"/>
            <a:ext cx="2057400" cy="2834640"/>
          </a:xfrm>
          <a:prstGeom prst="roundRect">
            <a:avLst>
              <a:gd name="adj" fmla="val 4444"/>
            </a:avLst>
          </a:prstGeom>
          <a:solidFill>
            <a:srgbClr val="EEF5F9"/>
          </a:solidFill>
          <a:ln w="12700">
            <a:solidFill>
              <a:srgbClr val="EEF5F9"/>
            </a:solidFill>
            <a:prstDash val="solid"/>
          </a:ln>
          <a:effectLst>
            <a:outerShdw blurRad="101600" dist="25400" dir="2700000" algn="bl" rotWithShape="0">
              <a:srgbClr val="000000">
                <a:alpha val="9000"/>
              </a:srgbClr>
            </a:outerShdw>
          </a:effectLst>
        </p:spPr>
        <p:txBody>
          <a:bodyPr/>
          <a:lstStyle/>
          <a:p>
            <a:endParaRPr lang="en-US"/>
          </a:p>
        </p:txBody>
      </p:sp>
      <p:sp>
        <p:nvSpPr>
          <p:cNvPr id="18" name="Text 16"/>
          <p:cNvSpPr/>
          <p:nvPr/>
        </p:nvSpPr>
        <p:spPr>
          <a:xfrm>
            <a:off x="4873752" y="2139696"/>
            <a:ext cx="1801368" cy="310896"/>
          </a:xfrm>
          <a:prstGeom prst="rect">
            <a:avLst/>
          </a:prstGeom>
          <a:noFill/>
          <a:ln/>
        </p:spPr>
        <p:txBody>
          <a:bodyPr wrap="square" lIns="0" tIns="0" rIns="0" bIns="0" rtlCol="0" anchor="ctr"/>
          <a:lstStyle/>
          <a:p>
            <a:pPr marL="0" indent="0" algn="l">
              <a:buNone/>
            </a:pPr>
            <a:r>
              <a:rPr lang="en-US" sz="1400" b="1" dirty="0">
                <a:solidFill>
                  <a:srgbClr val="7A9BAD"/>
                </a:solidFill>
                <a:latin typeface="Cambria" pitchFamily="34" charset="0"/>
                <a:ea typeface="Cambria" pitchFamily="34" charset="-122"/>
                <a:cs typeface="Cambria" pitchFamily="34" charset="-120"/>
              </a:rPr>
              <a:t>Aire</a:t>
            </a:r>
            <a:endParaRPr lang="en-US" sz="1400" dirty="0"/>
          </a:p>
        </p:txBody>
      </p:sp>
      <p:sp>
        <p:nvSpPr>
          <p:cNvPr id="19" name="Text 17"/>
          <p:cNvSpPr/>
          <p:nvPr/>
        </p:nvSpPr>
        <p:spPr>
          <a:xfrm>
            <a:off x="4873752" y="2468880"/>
            <a:ext cx="1801368" cy="237744"/>
          </a:xfrm>
          <a:prstGeom prst="rect">
            <a:avLst/>
          </a:prstGeom>
          <a:noFill/>
          <a:ln/>
        </p:spPr>
        <p:txBody>
          <a:bodyPr wrap="square" rtlCol="0" anchor="ctr"/>
          <a:lstStyle/>
          <a:p>
            <a:pPr marL="0" indent="0" algn="l">
              <a:buNone/>
            </a:pPr>
            <a:r>
              <a:rPr lang="en-US" sz="900" i="1" dirty="0">
                <a:solidFill>
                  <a:srgbClr val="7A9BAD"/>
                </a:solidFill>
                <a:latin typeface="Calibri" pitchFamily="34" charset="0"/>
                <a:ea typeface="Calibri" pitchFamily="34" charset="-122"/>
                <a:cs typeface="Calibri" pitchFamily="34" charset="-120"/>
              </a:rPr>
              <a:t>Perspectiva · Comunicación · Libertad</a:t>
            </a:r>
            <a:endParaRPr lang="en-US" sz="900" dirty="0"/>
          </a:p>
        </p:txBody>
      </p:sp>
      <p:sp>
        <p:nvSpPr>
          <p:cNvPr id="20" name="Shape 18"/>
          <p:cNvSpPr/>
          <p:nvPr/>
        </p:nvSpPr>
        <p:spPr>
          <a:xfrm>
            <a:off x="4873752" y="2743200"/>
            <a:ext cx="1801368" cy="0"/>
          </a:xfrm>
          <a:prstGeom prst="line">
            <a:avLst/>
          </a:prstGeom>
          <a:noFill/>
          <a:ln w="6350">
            <a:solidFill>
              <a:srgbClr val="7A9BAD">
                <a:alpha val="45000"/>
              </a:srgbClr>
            </a:solidFill>
            <a:prstDash val="solid"/>
          </a:ln>
        </p:spPr>
        <p:txBody>
          <a:bodyPr/>
          <a:lstStyle/>
          <a:p>
            <a:endParaRPr lang="en-US"/>
          </a:p>
        </p:txBody>
      </p:sp>
      <p:sp>
        <p:nvSpPr>
          <p:cNvPr id="21" name="Text 19"/>
          <p:cNvSpPr/>
          <p:nvPr/>
        </p:nvSpPr>
        <p:spPr>
          <a:xfrm>
            <a:off x="4873752" y="2807208"/>
            <a:ext cx="1801368" cy="1920240"/>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Desarrolla al líder que ve el panorama completo, comunica con precisión y crea espacio para que otros respiren y crezcan. El Aire enseña a elevarse y mirar más lejos.</a:t>
            </a:r>
            <a:endParaRPr lang="en-US" sz="1000" dirty="0"/>
          </a:p>
        </p:txBody>
      </p:sp>
      <p:sp>
        <p:nvSpPr>
          <p:cNvPr id="22" name="Shape 20"/>
          <p:cNvSpPr/>
          <p:nvPr/>
        </p:nvSpPr>
        <p:spPr>
          <a:xfrm>
            <a:off x="6958584" y="2029968"/>
            <a:ext cx="2057400" cy="2834640"/>
          </a:xfrm>
          <a:prstGeom prst="roundRect">
            <a:avLst>
              <a:gd name="adj" fmla="val 4444"/>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23" name="Text 21"/>
          <p:cNvSpPr/>
          <p:nvPr/>
        </p:nvSpPr>
        <p:spPr>
          <a:xfrm>
            <a:off x="7086600" y="2139696"/>
            <a:ext cx="1801368" cy="310896"/>
          </a:xfrm>
          <a:prstGeom prst="rect">
            <a:avLst/>
          </a:prstGeom>
          <a:noFill/>
          <a:ln/>
        </p:spPr>
        <p:txBody>
          <a:bodyPr wrap="square" lIns="0" tIns="0" rIns="0" bIns="0" rtlCol="0" anchor="ctr"/>
          <a:lstStyle/>
          <a:p>
            <a:pPr marL="0" indent="0" algn="l">
              <a:buNone/>
            </a:pPr>
            <a:r>
              <a:rPr lang="en-US" sz="1400" b="1" dirty="0">
                <a:solidFill>
                  <a:srgbClr val="3D5A3E"/>
                </a:solidFill>
                <a:latin typeface="Cambria" pitchFamily="34" charset="0"/>
                <a:ea typeface="Cambria" pitchFamily="34" charset="-122"/>
                <a:cs typeface="Cambria" pitchFamily="34" charset="-120"/>
              </a:rPr>
              <a:t>Tierra</a:t>
            </a:r>
            <a:endParaRPr lang="en-US" sz="1400" dirty="0"/>
          </a:p>
        </p:txBody>
      </p:sp>
      <p:sp>
        <p:nvSpPr>
          <p:cNvPr id="24" name="Text 22"/>
          <p:cNvSpPr/>
          <p:nvPr/>
        </p:nvSpPr>
        <p:spPr>
          <a:xfrm>
            <a:off x="7086600" y="2468880"/>
            <a:ext cx="1801368" cy="237744"/>
          </a:xfrm>
          <a:prstGeom prst="rect">
            <a:avLst/>
          </a:prstGeom>
          <a:noFill/>
          <a:ln/>
        </p:spPr>
        <p:txBody>
          <a:bodyPr wrap="square" rtlCol="0" anchor="ctr"/>
          <a:lstStyle/>
          <a:p>
            <a:pPr marL="0" indent="0" algn="l">
              <a:buNone/>
            </a:pPr>
            <a:r>
              <a:rPr lang="en-US" sz="900" i="1" dirty="0">
                <a:solidFill>
                  <a:srgbClr val="3D5A3E"/>
                </a:solidFill>
                <a:latin typeface="Calibri" pitchFamily="34" charset="0"/>
                <a:ea typeface="Calibri" pitchFamily="34" charset="-122"/>
                <a:cs typeface="Calibri" pitchFamily="34" charset="-120"/>
              </a:rPr>
              <a:t>Arraigo · Confianza · Raíces</a:t>
            </a:r>
            <a:endParaRPr lang="en-US" sz="900" dirty="0"/>
          </a:p>
        </p:txBody>
      </p:sp>
      <p:sp>
        <p:nvSpPr>
          <p:cNvPr id="25" name="Shape 23"/>
          <p:cNvSpPr/>
          <p:nvPr/>
        </p:nvSpPr>
        <p:spPr>
          <a:xfrm>
            <a:off x="7086600" y="2743200"/>
            <a:ext cx="1801368" cy="0"/>
          </a:xfrm>
          <a:prstGeom prst="line">
            <a:avLst/>
          </a:prstGeom>
          <a:noFill/>
          <a:ln w="6350">
            <a:solidFill>
              <a:srgbClr val="3D5A3E">
                <a:alpha val="45000"/>
              </a:srgbClr>
            </a:solidFill>
            <a:prstDash val="solid"/>
          </a:ln>
        </p:spPr>
        <p:txBody>
          <a:bodyPr/>
          <a:lstStyle/>
          <a:p>
            <a:endParaRPr lang="en-US"/>
          </a:p>
        </p:txBody>
      </p:sp>
      <p:sp>
        <p:nvSpPr>
          <p:cNvPr id="26" name="Text 24"/>
          <p:cNvSpPr/>
          <p:nvPr/>
        </p:nvSpPr>
        <p:spPr>
          <a:xfrm>
            <a:off x="7086600" y="2807208"/>
            <a:ext cx="1801368" cy="1920240"/>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Encarna al líder que ancla a su equipo, construye confianza duradera y crea entornos donde personas y organizaciones florecen. La Tierra enseña que la fuerza real crece desde raíces profundas.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137160"/>
            <a:ext cx="8229600" cy="274320"/>
          </a:xfrm>
          <a:prstGeom prst="rect">
            <a:avLst/>
          </a:prstGeom>
          <a:noFill/>
          <a:ln/>
        </p:spPr>
        <p:txBody>
          <a:bodyPr wrap="square" rtlCol="0" anchor="ctr"/>
          <a:lstStyle/>
          <a:p>
            <a:pPr marL="0" indent="0" algn="l">
              <a:buNone/>
            </a:pPr>
            <a:r>
              <a:rPr lang="en-US" sz="900" b="1" kern="0" spc="400" dirty="0">
                <a:solidFill>
                  <a:srgbClr val="C9A96E"/>
                </a:solidFill>
                <a:latin typeface="Arial" pitchFamily="34" charset="0"/>
                <a:ea typeface="Arial" pitchFamily="34" charset="-122"/>
                <a:cs typeface="Arial" pitchFamily="34" charset="-120"/>
              </a:rPr>
              <a:t>HOMEPAGE · ESPAÑOL — PROGRAMAS + FORMULARIO DE CONTACTO</a:t>
            </a:r>
            <a:endParaRPr lang="en-US" sz="900" dirty="0"/>
          </a:p>
        </p:txBody>
      </p:sp>
      <p:sp>
        <p:nvSpPr>
          <p:cNvPr id="4" name="Shape 2"/>
          <p:cNvSpPr/>
          <p:nvPr/>
        </p:nvSpPr>
        <p:spPr>
          <a:xfrm>
            <a:off x="502920" y="484632"/>
            <a:ext cx="8138160" cy="0"/>
          </a:xfrm>
          <a:prstGeom prst="line">
            <a:avLst/>
          </a:prstGeom>
          <a:noFill/>
          <a:ln w="12700">
            <a:solidFill>
              <a:srgbClr val="F4F2EE"/>
            </a:solidFill>
            <a:prstDash val="solid"/>
          </a:ln>
        </p:spPr>
        <p:txBody>
          <a:bodyPr/>
          <a:lstStyle/>
          <a:p>
            <a:endParaRPr lang="en-US"/>
          </a:p>
        </p:txBody>
      </p:sp>
      <p:sp>
        <p:nvSpPr>
          <p:cNvPr id="5" name="Text 3"/>
          <p:cNvSpPr/>
          <p:nvPr/>
        </p:nvSpPr>
        <p:spPr>
          <a:xfrm>
            <a:off x="502920" y="594360"/>
            <a:ext cx="8138160" cy="1005840"/>
          </a:xfrm>
          <a:prstGeom prst="rect">
            <a:avLst/>
          </a:prstGeom>
          <a:noFill/>
          <a:ln/>
        </p:spPr>
        <p:txBody>
          <a:bodyPr wrap="square" rtlCol="0" anchor="ctr"/>
          <a:lstStyle/>
          <a:p>
            <a:pPr marL="0" indent="0" algn="l">
              <a:buNone/>
            </a:pPr>
            <a:r>
              <a:rPr lang="en-US" sz="2400" b="1" dirty="0">
                <a:solidFill>
                  <a:srgbClr val="2C2C2A"/>
                </a:solidFill>
                <a:latin typeface="Cambria" pitchFamily="34" charset="0"/>
                <a:ea typeface="Cambria" pitchFamily="34" charset="-122"/>
                <a:cs typeface="Cambria" pitchFamily="34" charset="-120"/>
              </a:rPr>
              <a:t>Elige tu Camino</a:t>
            </a:r>
            <a:endParaRPr lang="en-US" sz="2400" dirty="0"/>
          </a:p>
        </p:txBody>
      </p:sp>
      <p:sp>
        <p:nvSpPr>
          <p:cNvPr id="6" name="Shape 4"/>
          <p:cNvSpPr/>
          <p:nvPr/>
        </p:nvSpPr>
        <p:spPr>
          <a:xfrm>
            <a:off x="320040" y="1371600"/>
            <a:ext cx="2788920" cy="3337560"/>
          </a:xfrm>
          <a:prstGeom prst="roundRect">
            <a:avLst>
              <a:gd name="adj" fmla="val 3279"/>
            </a:avLst>
          </a:prstGeom>
          <a:solidFill>
            <a:srgbClr val="EAF4FA"/>
          </a:solidFill>
          <a:ln w="12700">
            <a:solidFill>
              <a:srgbClr val="EAF4FA"/>
            </a:solidFill>
            <a:prstDash val="solid"/>
          </a:ln>
          <a:effectLst>
            <a:outerShdw blurRad="101600" dist="25400" dir="2700000" algn="bl" rotWithShape="0">
              <a:srgbClr val="000000">
                <a:alpha val="9000"/>
              </a:srgbClr>
            </a:outerShdw>
          </a:effectLst>
        </p:spPr>
        <p:txBody>
          <a:bodyPr/>
          <a:lstStyle/>
          <a:p>
            <a:endParaRPr lang="en-US"/>
          </a:p>
        </p:txBody>
      </p:sp>
      <p:sp>
        <p:nvSpPr>
          <p:cNvPr id="7" name="Text 5"/>
          <p:cNvSpPr/>
          <p:nvPr/>
        </p:nvSpPr>
        <p:spPr>
          <a:xfrm>
            <a:off x="457200" y="1481328"/>
            <a:ext cx="2514600" cy="201168"/>
          </a:xfrm>
          <a:prstGeom prst="rect">
            <a:avLst/>
          </a:prstGeom>
          <a:noFill/>
          <a:ln/>
        </p:spPr>
        <p:txBody>
          <a:bodyPr wrap="square" rtlCol="0" anchor="ctr"/>
          <a:lstStyle/>
          <a:p>
            <a:pPr marL="0" indent="0" algn="l">
              <a:buNone/>
            </a:pPr>
            <a:r>
              <a:rPr lang="en-US" sz="750" b="1" kern="0" spc="50" dirty="0">
                <a:solidFill>
                  <a:srgbClr val="2B6B8A"/>
                </a:solidFill>
                <a:latin typeface="Arial" pitchFamily="34" charset="0"/>
                <a:ea typeface="Arial" pitchFamily="34" charset="-122"/>
                <a:cs typeface="Arial" pitchFamily="34" charset="-120"/>
              </a:rPr>
              <a:t>El Camino · Grupal</a:t>
            </a:r>
            <a:endParaRPr lang="en-US" sz="750" dirty="0"/>
          </a:p>
        </p:txBody>
      </p:sp>
      <p:sp>
        <p:nvSpPr>
          <p:cNvPr id="8" name="Text 6"/>
          <p:cNvSpPr/>
          <p:nvPr/>
        </p:nvSpPr>
        <p:spPr>
          <a:xfrm>
            <a:off x="457200" y="1700784"/>
            <a:ext cx="2514600" cy="365760"/>
          </a:xfrm>
          <a:prstGeom prst="rect">
            <a:avLst/>
          </a:prstGeom>
          <a:noFill/>
          <a:ln/>
        </p:spPr>
        <p:txBody>
          <a:bodyPr wrap="square" lIns="0" tIns="0" rIns="0" bIns="0" rtlCol="0" anchor="ctr"/>
          <a:lstStyle/>
          <a:p>
            <a:pPr marL="0" indent="0" algn="l">
              <a:buNone/>
            </a:pPr>
            <a:r>
              <a:rPr lang="en-US" sz="1900" b="1" dirty="0">
                <a:solidFill>
                  <a:srgbClr val="2B6B8A"/>
                </a:solidFill>
                <a:latin typeface="Cambria" pitchFamily="34" charset="0"/>
                <a:ea typeface="Cambria" pitchFamily="34" charset="-122"/>
                <a:cs typeface="Cambria" pitchFamily="34" charset="-120"/>
              </a:rPr>
              <a:t>Raíces</a:t>
            </a:r>
            <a:endParaRPr lang="en-US" sz="1900" dirty="0"/>
          </a:p>
        </p:txBody>
      </p:sp>
      <p:sp>
        <p:nvSpPr>
          <p:cNvPr id="9" name="Text 7"/>
          <p:cNvSpPr/>
          <p:nvPr/>
        </p:nvSpPr>
        <p:spPr>
          <a:xfrm>
            <a:off x="457200" y="2084832"/>
            <a:ext cx="2514600" cy="237744"/>
          </a:xfrm>
          <a:prstGeom prst="rect">
            <a:avLst/>
          </a:prstGeom>
          <a:noFill/>
          <a:ln/>
        </p:spPr>
        <p:txBody>
          <a:bodyPr wrap="square" rtlCol="0" anchor="ctr"/>
          <a:lstStyle/>
          <a:p>
            <a:pPr marL="0" indent="0" algn="l">
              <a:buNone/>
            </a:pPr>
            <a:r>
              <a:rPr lang="en-US" sz="1000" i="1" dirty="0">
                <a:solidFill>
                  <a:srgbClr val="5A5A55"/>
                </a:solidFill>
                <a:latin typeface="Calibri" pitchFamily="34" charset="0"/>
                <a:ea typeface="Calibri" pitchFamily="34" charset="-122"/>
                <a:cs typeface="Calibri" pitchFamily="34" charset="-120"/>
              </a:rPr>
              <a:t>Programa de inmersión de 5 meses</a:t>
            </a:r>
            <a:endParaRPr lang="en-US" sz="1000" dirty="0"/>
          </a:p>
        </p:txBody>
      </p:sp>
      <p:sp>
        <p:nvSpPr>
          <p:cNvPr id="10" name="Shape 8"/>
          <p:cNvSpPr/>
          <p:nvPr/>
        </p:nvSpPr>
        <p:spPr>
          <a:xfrm>
            <a:off x="457200" y="2350008"/>
            <a:ext cx="2514600" cy="0"/>
          </a:xfrm>
          <a:prstGeom prst="line">
            <a:avLst/>
          </a:prstGeom>
          <a:noFill/>
          <a:ln w="6350">
            <a:solidFill>
              <a:srgbClr val="2B6B8A">
                <a:alpha val="45000"/>
              </a:srgbClr>
            </a:solidFill>
            <a:prstDash val="solid"/>
          </a:ln>
        </p:spPr>
        <p:txBody>
          <a:bodyPr/>
          <a:lstStyle/>
          <a:p>
            <a:endParaRPr lang="en-US"/>
          </a:p>
        </p:txBody>
      </p:sp>
      <p:sp>
        <p:nvSpPr>
          <p:cNvPr id="11" name="Text 9"/>
          <p:cNvSpPr/>
          <p:nvPr/>
        </p:nvSpPr>
        <p:spPr>
          <a:xfrm>
            <a:off x="457200" y="2404872"/>
            <a:ext cx="2514600" cy="1737360"/>
          </a:xfrm>
          <a:prstGeom prst="rect">
            <a:avLst/>
          </a:prstGeom>
          <a:noFill/>
          <a:ln/>
        </p:spPr>
        <p:txBody>
          <a:bodyPr wrap="square" rtlCol="0" anchor="t"/>
          <a:lstStyle/>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1 inmersión presencial en naturaleza por mes</a:t>
            </a:r>
            <a:endParaRPr lang="en-US" sz="950" dirty="0"/>
          </a:p>
          <a:p>
            <a:pPr marL="342900" indent="-342900" algn="l">
              <a:buSzPct val="100000"/>
              <a:buChar char="•"/>
            </a:pPr>
            <a:r>
              <a:rPr lang="en-US" sz="950" dirty="0" err="1">
                <a:solidFill>
                  <a:srgbClr val="2C2C2A"/>
                </a:solidFill>
                <a:latin typeface="Calibri" pitchFamily="34" charset="0"/>
                <a:ea typeface="Calibri" pitchFamily="34" charset="-122"/>
                <a:cs typeface="Calibri" pitchFamily="34" charset="-120"/>
              </a:rPr>
              <a:t>Acceso</a:t>
            </a:r>
            <a:r>
              <a:rPr lang="en-US" sz="950" dirty="0">
                <a:solidFill>
                  <a:srgbClr val="2C2C2A"/>
                </a:solidFill>
                <a:latin typeface="Calibri" pitchFamily="34" charset="0"/>
                <a:ea typeface="Calibri" pitchFamily="34" charset="-122"/>
                <a:cs typeface="Calibri" pitchFamily="34" charset="-120"/>
              </a:rPr>
              <a:t> especial a </a:t>
            </a:r>
            <a:r>
              <a:rPr lang="en-US" sz="950" dirty="0" err="1">
                <a:solidFill>
                  <a:srgbClr val="2C2C2A"/>
                </a:solidFill>
                <a:latin typeface="Calibri" pitchFamily="34" charset="0"/>
                <a:ea typeface="Calibri" pitchFamily="34" charset="-122"/>
                <a:cs typeface="Calibri" pitchFamily="34" charset="-120"/>
              </a:rPr>
              <a:t>progama</a:t>
            </a:r>
            <a:r>
              <a:rPr lang="en-US" sz="950" dirty="0">
                <a:solidFill>
                  <a:srgbClr val="2C2C2A"/>
                </a:solidFill>
                <a:latin typeface="Calibri" pitchFamily="34" charset="0"/>
                <a:ea typeface="Calibri" pitchFamily="34" charset="-122"/>
                <a:cs typeface="Calibri" pitchFamily="34" charset="-120"/>
              </a:rPr>
              <a:t> de </a:t>
            </a:r>
            <a:r>
              <a:rPr lang="en-US" sz="950" dirty="0" err="1">
                <a:solidFill>
                  <a:srgbClr val="2C2C2A"/>
                </a:solidFill>
                <a:latin typeface="Calibri" pitchFamily="34" charset="0"/>
                <a:ea typeface="Calibri" pitchFamily="34" charset="-122"/>
                <a:cs typeface="Calibri" pitchFamily="34" charset="-120"/>
              </a:rPr>
              <a:t>continuidad</a:t>
            </a:r>
            <a:r>
              <a:rPr lang="en-US" sz="950" dirty="0">
                <a:solidFill>
                  <a:srgbClr val="2C2C2A"/>
                </a:solidFill>
                <a:latin typeface="Calibri" pitchFamily="34" charset="0"/>
                <a:ea typeface="Calibri" pitchFamily="34" charset="-122"/>
                <a:cs typeface="Calibri" pitchFamily="34" charset="-120"/>
              </a:rPr>
              <a:t> - coaching individual 2 sesiones de coaching individual </a:t>
            </a:r>
            <a:r>
              <a:rPr lang="en-US" sz="950" dirty="0" err="1">
                <a:solidFill>
                  <a:srgbClr val="2C2C2A"/>
                </a:solidFill>
                <a:latin typeface="Calibri" pitchFamily="34" charset="0"/>
                <a:ea typeface="Calibri" pitchFamily="34" charset="-122"/>
                <a:cs typeface="Calibri" pitchFamily="34" charset="-120"/>
              </a:rPr>
              <a:t>por</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mes</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por</a:t>
            </a:r>
            <a:r>
              <a:rPr lang="en-US" sz="950" dirty="0">
                <a:solidFill>
                  <a:srgbClr val="2C2C2A"/>
                </a:solidFill>
                <a:latin typeface="Calibri" pitchFamily="34" charset="0"/>
                <a:ea typeface="Calibri" pitchFamily="34" charset="-122"/>
                <a:cs typeface="Calibri" pitchFamily="34" charset="-120"/>
              </a:rPr>
              <a:t> 6 meses – Costo </a:t>
            </a:r>
            <a:r>
              <a:rPr lang="en-US" sz="950" dirty="0" err="1">
                <a:solidFill>
                  <a:srgbClr val="2C2C2A"/>
                </a:solidFill>
                <a:latin typeface="Calibri" pitchFamily="34" charset="0"/>
                <a:ea typeface="Calibri" pitchFamily="34" charset="-122"/>
                <a:cs typeface="Calibri" pitchFamily="34" charset="-120"/>
              </a:rPr>
              <a:t>adicional</a:t>
            </a:r>
            <a:r>
              <a:rPr lang="en-US" sz="950" dirty="0">
                <a:solidFill>
                  <a:srgbClr val="2C2C2A"/>
                </a:solidFill>
                <a:latin typeface="Calibri" pitchFamily="34" charset="0"/>
                <a:ea typeface="Calibri" pitchFamily="34" charset="-122"/>
                <a:cs typeface="Calibri" pitchFamily="34" charset="-120"/>
              </a:rPr>
              <a:t> </a:t>
            </a:r>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4 </a:t>
            </a:r>
            <a:r>
              <a:rPr lang="en-US" sz="950" dirty="0" err="1">
                <a:solidFill>
                  <a:srgbClr val="2C2C2A"/>
                </a:solidFill>
                <a:latin typeface="Calibri" pitchFamily="34" charset="0"/>
                <a:ea typeface="Calibri" pitchFamily="34" charset="-122"/>
                <a:cs typeface="Calibri" pitchFamily="34" charset="-120"/>
              </a:rPr>
              <a:t>metodologías</a:t>
            </a:r>
            <a:r>
              <a:rPr lang="en-US" sz="950" dirty="0">
                <a:solidFill>
                  <a:srgbClr val="2C2C2A"/>
                </a:solidFill>
                <a:latin typeface="Calibri" pitchFamily="34" charset="0"/>
                <a:ea typeface="Calibri" pitchFamily="34" charset="-122"/>
                <a:cs typeface="Calibri" pitchFamily="34" charset="-120"/>
              </a:rPr>
              <a:t> a </a:t>
            </a:r>
            <a:r>
              <a:rPr lang="en-US" sz="950" dirty="0" err="1">
                <a:solidFill>
                  <a:srgbClr val="2C2C2A"/>
                </a:solidFill>
                <a:latin typeface="Calibri" pitchFamily="34" charset="0"/>
                <a:ea typeface="Calibri" pitchFamily="34" charset="-122"/>
                <a:cs typeface="Calibri" pitchFamily="34" charset="-120"/>
              </a:rPr>
              <a:t>implementar</a:t>
            </a:r>
            <a:r>
              <a:rPr lang="en-US" sz="950" dirty="0">
                <a:solidFill>
                  <a:srgbClr val="2C2C2A"/>
                </a:solidFill>
                <a:latin typeface="Calibri" pitchFamily="34" charset="0"/>
                <a:ea typeface="Calibri" pitchFamily="34" charset="-122"/>
                <a:cs typeface="Calibri" pitchFamily="34" charset="-120"/>
              </a:rPr>
              <a:t> y </a:t>
            </a:r>
            <a:r>
              <a:rPr lang="es-MX" sz="950" dirty="0">
                <a:solidFill>
                  <a:srgbClr val="2C2C2A"/>
                </a:solidFill>
                <a:latin typeface="Calibri" pitchFamily="34" charset="0"/>
                <a:ea typeface="Calibri" pitchFamily="34" charset="-122"/>
                <a:cs typeface="Calibri" pitchFamily="34" charset="-120"/>
              </a:rPr>
              <a:t>practicar </a:t>
            </a:r>
          </a:p>
          <a:p>
            <a:pPr marL="342900" indent="-342900" algn="l">
              <a:buSzPct val="100000"/>
              <a:buChar char="•"/>
            </a:pPr>
            <a:r>
              <a:rPr lang="es-MX" sz="950" dirty="0">
                <a:solidFill>
                  <a:srgbClr val="2C2C2A"/>
                </a:solidFill>
                <a:latin typeface="Calibri" pitchFamily="34" charset="0"/>
                <a:ea typeface="Calibri" pitchFamily="34" charset="-122"/>
                <a:cs typeface="Calibri" pitchFamily="34" charset="-120"/>
              </a:rPr>
              <a:t>Entornos Naturales seleccionados </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Recorrido por los 4 </a:t>
            </a:r>
            <a:r>
              <a:rPr lang="en-US" sz="950" dirty="0" err="1">
                <a:solidFill>
                  <a:srgbClr val="2C2C2A"/>
                </a:solidFill>
                <a:latin typeface="Calibri" pitchFamily="34" charset="0"/>
                <a:ea typeface="Calibri" pitchFamily="34" charset="-122"/>
                <a:cs typeface="Calibri" pitchFamily="34" charset="-120"/>
              </a:rPr>
              <a:t>elementos</a:t>
            </a:r>
            <a:r>
              <a:rPr lang="en-US" sz="950" dirty="0">
                <a:solidFill>
                  <a:srgbClr val="2C2C2A"/>
                </a:solidFill>
                <a:latin typeface="Calibri" pitchFamily="34" charset="0"/>
                <a:ea typeface="Calibri" pitchFamily="34" charset="-122"/>
                <a:cs typeface="Calibri" pitchFamily="34" charset="-120"/>
              </a:rPr>
              <a:t> + 1</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Acceso a comunidad de </a:t>
            </a:r>
            <a:r>
              <a:rPr lang="en-US" sz="950" dirty="0" err="1">
                <a:solidFill>
                  <a:srgbClr val="2C2C2A"/>
                </a:solidFill>
                <a:latin typeface="Calibri" pitchFamily="34" charset="0"/>
                <a:ea typeface="Calibri" pitchFamily="34" charset="-122"/>
                <a:cs typeface="Calibri" pitchFamily="34" charset="-120"/>
              </a:rPr>
              <a:t>práctica</a:t>
            </a:r>
            <a:r>
              <a:rPr lang="en-US" sz="950" dirty="0">
                <a:solidFill>
                  <a:srgbClr val="2C2C2A"/>
                </a:solidFill>
                <a:latin typeface="Calibri" pitchFamily="34" charset="0"/>
                <a:ea typeface="Calibri" pitchFamily="34" charset="-122"/>
                <a:cs typeface="Calibri" pitchFamily="34" charset="-120"/>
              </a:rPr>
              <a:t> y coaches</a:t>
            </a:r>
            <a:endParaRPr lang="en-US" sz="950" dirty="0"/>
          </a:p>
        </p:txBody>
      </p:sp>
      <p:sp>
        <p:nvSpPr>
          <p:cNvPr id="12" name="Shape 10"/>
          <p:cNvSpPr/>
          <p:nvPr/>
        </p:nvSpPr>
        <p:spPr>
          <a:xfrm>
            <a:off x="457200" y="4279392"/>
            <a:ext cx="1737360" cy="274320"/>
          </a:xfrm>
          <a:prstGeom prst="roundRect">
            <a:avLst>
              <a:gd name="adj" fmla="val 26667"/>
            </a:avLst>
          </a:prstGeom>
          <a:solidFill>
            <a:srgbClr val="2B6B8A"/>
          </a:solidFill>
          <a:ln w="12700">
            <a:solidFill>
              <a:srgbClr val="2B6B8A"/>
            </a:solidFill>
            <a:prstDash val="solid"/>
          </a:ln>
        </p:spPr>
        <p:txBody>
          <a:bodyPr/>
          <a:lstStyle/>
          <a:p>
            <a:endParaRPr lang="en-US"/>
          </a:p>
        </p:txBody>
      </p:sp>
      <p:sp>
        <p:nvSpPr>
          <p:cNvPr id="13" name="Text 11"/>
          <p:cNvSpPr/>
          <p:nvPr/>
        </p:nvSpPr>
        <p:spPr>
          <a:xfrm>
            <a:off x="457200" y="4279392"/>
            <a:ext cx="173736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Comenzar Raíces</a:t>
            </a:r>
            <a:endParaRPr lang="en-US" sz="950" dirty="0"/>
          </a:p>
        </p:txBody>
      </p:sp>
      <p:sp>
        <p:nvSpPr>
          <p:cNvPr id="14" name="Shape 12"/>
          <p:cNvSpPr/>
          <p:nvPr/>
        </p:nvSpPr>
        <p:spPr>
          <a:xfrm>
            <a:off x="3264408" y="1371600"/>
            <a:ext cx="2788920" cy="3337560"/>
          </a:xfrm>
          <a:prstGeom prst="roundRect">
            <a:avLst>
              <a:gd name="adj" fmla="val 3279"/>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15" name="Text 13"/>
          <p:cNvSpPr/>
          <p:nvPr/>
        </p:nvSpPr>
        <p:spPr>
          <a:xfrm>
            <a:off x="3401568" y="1481328"/>
            <a:ext cx="2514600" cy="201168"/>
          </a:xfrm>
          <a:prstGeom prst="rect">
            <a:avLst/>
          </a:prstGeom>
          <a:noFill/>
          <a:ln/>
        </p:spPr>
        <p:txBody>
          <a:bodyPr wrap="square" rtlCol="0" anchor="ctr"/>
          <a:lstStyle/>
          <a:p>
            <a:pPr marL="0" indent="0" algn="l">
              <a:buNone/>
            </a:pPr>
            <a:r>
              <a:rPr lang="en-US" sz="750" b="1" kern="0" spc="50" dirty="0">
                <a:solidFill>
                  <a:srgbClr val="C4622D"/>
                </a:solidFill>
                <a:latin typeface="Arial" pitchFamily="34" charset="0"/>
                <a:ea typeface="Arial" pitchFamily="34" charset="-122"/>
                <a:cs typeface="Arial" pitchFamily="34" charset="-120"/>
              </a:rPr>
              <a:t>Intensivo · Grupal</a:t>
            </a:r>
            <a:endParaRPr lang="en-US" sz="750" dirty="0"/>
          </a:p>
        </p:txBody>
      </p:sp>
      <p:sp>
        <p:nvSpPr>
          <p:cNvPr id="16" name="Text 14"/>
          <p:cNvSpPr/>
          <p:nvPr/>
        </p:nvSpPr>
        <p:spPr>
          <a:xfrm>
            <a:off x="3401568" y="1700784"/>
            <a:ext cx="2514600" cy="365760"/>
          </a:xfrm>
          <a:prstGeom prst="rect">
            <a:avLst/>
          </a:prstGeom>
          <a:noFill/>
          <a:ln/>
        </p:spPr>
        <p:txBody>
          <a:bodyPr wrap="square" lIns="0" tIns="0" rIns="0" bIns="0" rtlCol="0" anchor="ctr"/>
          <a:lstStyle/>
          <a:p>
            <a:pPr marL="0" indent="0" algn="l">
              <a:buNone/>
            </a:pPr>
            <a:r>
              <a:rPr lang="en-US" sz="1900" b="1" dirty="0">
                <a:solidFill>
                  <a:srgbClr val="C4622D"/>
                </a:solidFill>
                <a:latin typeface="Cambria" pitchFamily="34" charset="0"/>
                <a:ea typeface="Cambria" pitchFamily="34" charset="-122"/>
                <a:cs typeface="Cambria" pitchFamily="34" charset="-120"/>
              </a:rPr>
              <a:t>Corriente</a:t>
            </a:r>
            <a:endParaRPr lang="en-US" sz="1900" dirty="0"/>
          </a:p>
        </p:txBody>
      </p:sp>
      <p:sp>
        <p:nvSpPr>
          <p:cNvPr id="17" name="Text 15"/>
          <p:cNvSpPr/>
          <p:nvPr/>
        </p:nvSpPr>
        <p:spPr>
          <a:xfrm>
            <a:off x="3401568" y="2084832"/>
            <a:ext cx="2514600" cy="237744"/>
          </a:xfrm>
          <a:prstGeom prst="rect">
            <a:avLst/>
          </a:prstGeom>
          <a:noFill/>
          <a:ln/>
        </p:spPr>
        <p:txBody>
          <a:bodyPr wrap="square" rtlCol="0" anchor="ctr"/>
          <a:lstStyle/>
          <a:p>
            <a:pPr marL="0" indent="0" algn="l">
              <a:buNone/>
            </a:pPr>
            <a:r>
              <a:rPr lang="en-US" sz="1000" i="1" dirty="0">
                <a:solidFill>
                  <a:srgbClr val="5A5A55"/>
                </a:solidFill>
                <a:latin typeface="Calibri" pitchFamily="34" charset="0"/>
                <a:ea typeface="Calibri" pitchFamily="34" charset="-122"/>
                <a:cs typeface="Calibri" pitchFamily="34" charset="-120"/>
              </a:rPr>
              <a:t>Experiencia de inmersión acelerada</a:t>
            </a:r>
            <a:endParaRPr lang="en-US" sz="1000" dirty="0"/>
          </a:p>
        </p:txBody>
      </p:sp>
      <p:sp>
        <p:nvSpPr>
          <p:cNvPr id="18" name="Shape 16"/>
          <p:cNvSpPr/>
          <p:nvPr/>
        </p:nvSpPr>
        <p:spPr>
          <a:xfrm>
            <a:off x="3401568" y="2350008"/>
            <a:ext cx="2514600" cy="0"/>
          </a:xfrm>
          <a:prstGeom prst="line">
            <a:avLst/>
          </a:prstGeom>
          <a:noFill/>
          <a:ln w="6350">
            <a:solidFill>
              <a:srgbClr val="C4622D">
                <a:alpha val="45000"/>
              </a:srgbClr>
            </a:solidFill>
            <a:prstDash val="solid"/>
          </a:ln>
        </p:spPr>
        <p:txBody>
          <a:bodyPr/>
          <a:lstStyle/>
          <a:p>
            <a:endParaRPr lang="en-US"/>
          </a:p>
        </p:txBody>
      </p:sp>
      <p:sp>
        <p:nvSpPr>
          <p:cNvPr id="19" name="Text 17"/>
          <p:cNvSpPr/>
          <p:nvPr/>
        </p:nvSpPr>
        <p:spPr>
          <a:xfrm>
            <a:off x="3401568" y="2404872"/>
            <a:ext cx="2514600" cy="1737360"/>
          </a:xfrm>
          <a:prstGeom prst="rect">
            <a:avLst/>
          </a:prstGeom>
          <a:noFill/>
          <a:ln/>
        </p:spPr>
        <p:txBody>
          <a:bodyPr wrap="square" rtlCol="0" anchor="t"/>
          <a:lstStyle/>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2 inmersiones presenciales por mes</a:t>
            </a:r>
            <a:endParaRPr lang="en-US" sz="950" dirty="0"/>
          </a:p>
          <a:p>
            <a:pPr marL="342900" indent="-342900" algn="l">
              <a:buSzPct val="100000"/>
              <a:buChar char="•"/>
            </a:pPr>
            <a:r>
              <a:rPr lang="en-US" sz="950" dirty="0" err="1">
                <a:solidFill>
                  <a:srgbClr val="2C2C2A"/>
                </a:solidFill>
                <a:latin typeface="Calibri" pitchFamily="34" charset="0"/>
                <a:ea typeface="Calibri" pitchFamily="34" charset="-122"/>
                <a:cs typeface="Calibri" pitchFamily="34" charset="-120"/>
              </a:rPr>
              <a:t>Acceso</a:t>
            </a:r>
            <a:r>
              <a:rPr lang="en-US" sz="950" dirty="0">
                <a:solidFill>
                  <a:srgbClr val="2C2C2A"/>
                </a:solidFill>
                <a:latin typeface="Calibri" pitchFamily="34" charset="0"/>
                <a:ea typeface="Calibri" pitchFamily="34" charset="-122"/>
                <a:cs typeface="Calibri" pitchFamily="34" charset="-120"/>
              </a:rPr>
              <a:t> especial  a </a:t>
            </a:r>
            <a:r>
              <a:rPr lang="en-US" sz="950" dirty="0" err="1">
                <a:solidFill>
                  <a:srgbClr val="2C2C2A"/>
                </a:solidFill>
                <a:latin typeface="Calibri" pitchFamily="34" charset="0"/>
                <a:ea typeface="Calibri" pitchFamily="34" charset="-122"/>
                <a:cs typeface="Calibri" pitchFamily="34" charset="-120"/>
              </a:rPr>
              <a:t>programa</a:t>
            </a:r>
            <a:r>
              <a:rPr lang="en-US" sz="950" dirty="0">
                <a:solidFill>
                  <a:srgbClr val="2C2C2A"/>
                </a:solidFill>
                <a:latin typeface="Calibri" pitchFamily="34" charset="0"/>
                <a:ea typeface="Calibri" pitchFamily="34" charset="-122"/>
                <a:cs typeface="Calibri" pitchFamily="34" charset="-120"/>
              </a:rPr>
              <a:t> de </a:t>
            </a:r>
            <a:r>
              <a:rPr lang="en-US" sz="950" dirty="0" err="1">
                <a:solidFill>
                  <a:srgbClr val="2C2C2A"/>
                </a:solidFill>
                <a:latin typeface="Calibri" pitchFamily="34" charset="0"/>
                <a:ea typeface="Calibri" pitchFamily="34" charset="-122"/>
                <a:cs typeface="Calibri" pitchFamily="34" charset="-120"/>
              </a:rPr>
              <a:t>continidad</a:t>
            </a:r>
            <a:r>
              <a:rPr lang="en-US" sz="950" dirty="0">
                <a:solidFill>
                  <a:srgbClr val="2C2C2A"/>
                </a:solidFill>
                <a:latin typeface="Calibri" pitchFamily="34" charset="0"/>
                <a:ea typeface="Calibri" pitchFamily="34" charset="-122"/>
                <a:cs typeface="Calibri" pitchFamily="34" charset="-120"/>
              </a:rPr>
              <a:t> -2 sesiones de coaching </a:t>
            </a:r>
            <a:r>
              <a:rPr lang="en-US" sz="950" dirty="0" err="1">
                <a:solidFill>
                  <a:srgbClr val="2C2C2A"/>
                </a:solidFill>
                <a:latin typeface="Calibri" pitchFamily="34" charset="0"/>
                <a:ea typeface="Calibri" pitchFamily="34" charset="-122"/>
                <a:cs typeface="Calibri" pitchFamily="34" charset="-120"/>
              </a:rPr>
              <a:t>por</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mes</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por</a:t>
            </a:r>
            <a:r>
              <a:rPr lang="en-US" sz="950" dirty="0">
                <a:solidFill>
                  <a:srgbClr val="2C2C2A"/>
                </a:solidFill>
                <a:latin typeface="Calibri" pitchFamily="34" charset="0"/>
                <a:ea typeface="Calibri" pitchFamily="34" charset="-122"/>
                <a:cs typeface="Calibri" pitchFamily="34" charset="-120"/>
              </a:rPr>
              <a:t> 6 meses – Costo </a:t>
            </a:r>
            <a:r>
              <a:rPr lang="en-US" sz="950" dirty="0" err="1">
                <a:solidFill>
                  <a:srgbClr val="2C2C2A"/>
                </a:solidFill>
                <a:latin typeface="Calibri" pitchFamily="34" charset="0"/>
                <a:ea typeface="Calibri" pitchFamily="34" charset="-122"/>
                <a:cs typeface="Calibri" pitchFamily="34" charset="-120"/>
              </a:rPr>
              <a:t>adicional</a:t>
            </a:r>
            <a:r>
              <a:rPr lang="en-US" sz="950" dirty="0">
                <a:solidFill>
                  <a:srgbClr val="2C2C2A"/>
                </a:solidFill>
                <a:latin typeface="Calibri" pitchFamily="34" charset="0"/>
                <a:ea typeface="Calibri" pitchFamily="34" charset="-122"/>
                <a:cs typeface="Calibri" pitchFamily="34" charset="-120"/>
              </a:rPr>
              <a:t> </a:t>
            </a:r>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4 </a:t>
            </a:r>
            <a:r>
              <a:rPr lang="es-MX" sz="950" dirty="0">
                <a:solidFill>
                  <a:srgbClr val="2C2C2A"/>
                </a:solidFill>
                <a:latin typeface="Calibri" pitchFamily="34" charset="0"/>
                <a:ea typeface="Calibri" pitchFamily="34" charset="-122"/>
                <a:cs typeface="Calibri" pitchFamily="34" charset="-120"/>
              </a:rPr>
              <a:t>metodologías a practicar</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Entornos naturales </a:t>
            </a:r>
            <a:r>
              <a:rPr lang="en-US" sz="950" dirty="0" err="1">
                <a:solidFill>
                  <a:srgbClr val="2C2C2A"/>
                </a:solidFill>
                <a:latin typeface="Calibri" pitchFamily="34" charset="0"/>
                <a:ea typeface="Calibri" pitchFamily="34" charset="-122"/>
                <a:cs typeface="Calibri" pitchFamily="34" charset="-120"/>
              </a:rPr>
              <a:t>seleccionados</a:t>
            </a:r>
            <a:endParaRPr lang="en-US" sz="950" dirty="0">
              <a:solidFill>
                <a:srgbClr val="2C2C2A"/>
              </a:solidFill>
              <a:latin typeface="Calibri" pitchFamily="34" charset="0"/>
              <a:ea typeface="Calibri" pitchFamily="34" charset="-122"/>
              <a:cs typeface="Calibri" pitchFamily="34" charset="-120"/>
            </a:endParaRPr>
          </a:p>
          <a:p>
            <a:pPr marL="342900" indent="-342900" algn="l">
              <a:buSzPct val="100000"/>
              <a:buChar char="•"/>
            </a:pPr>
            <a:r>
              <a:rPr lang="es-ES" sz="950" dirty="0"/>
              <a:t>Recorrido por los 4 elementos + 1</a:t>
            </a:r>
            <a:endParaRPr lang="en-US" sz="950" dirty="0"/>
          </a:p>
          <a:p>
            <a:pPr marL="342900" indent="-342900" algn="l">
              <a:buSzPct val="100000"/>
              <a:buChar char="•"/>
            </a:pPr>
            <a:r>
              <a:rPr lang="en-US" sz="950" dirty="0" err="1">
                <a:solidFill>
                  <a:srgbClr val="2C2C2A"/>
                </a:solidFill>
                <a:latin typeface="Calibri" pitchFamily="34" charset="0"/>
                <a:ea typeface="Calibri" pitchFamily="34" charset="-122"/>
                <a:cs typeface="Calibri" pitchFamily="34" charset="-120"/>
              </a:rPr>
              <a:t>Integración</a:t>
            </a:r>
            <a:r>
              <a:rPr lang="en-US" sz="950" dirty="0">
                <a:solidFill>
                  <a:srgbClr val="2C2C2A"/>
                </a:solidFill>
                <a:latin typeface="Calibri" pitchFamily="34" charset="0"/>
                <a:ea typeface="Calibri" pitchFamily="34" charset="-122"/>
                <a:cs typeface="Calibri" pitchFamily="34" charset="-120"/>
              </a:rPr>
              <a:t> e </a:t>
            </a:r>
            <a:r>
              <a:rPr lang="en-US" sz="950" dirty="0" err="1">
                <a:solidFill>
                  <a:srgbClr val="2C2C2A"/>
                </a:solidFill>
                <a:latin typeface="Calibri" pitchFamily="34" charset="0"/>
                <a:ea typeface="Calibri" pitchFamily="34" charset="-122"/>
                <a:cs typeface="Calibri" pitchFamily="34" charset="-120"/>
              </a:rPr>
              <a:t>implementación</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acelerada</a:t>
            </a:r>
            <a:r>
              <a:rPr lang="en-US" sz="950" dirty="0">
                <a:solidFill>
                  <a:srgbClr val="2C2C2A"/>
                </a:solidFill>
                <a:latin typeface="Calibri" pitchFamily="34" charset="0"/>
                <a:ea typeface="Calibri" pitchFamily="34" charset="-122"/>
                <a:cs typeface="Calibri" pitchFamily="34" charset="-120"/>
              </a:rPr>
              <a:t> por elemento</a:t>
            </a:r>
            <a:endParaRPr lang="en-US" sz="950" dirty="0"/>
          </a:p>
          <a:p>
            <a:pPr marL="342900" indent="-342900" algn="l">
              <a:buSzPct val="100000"/>
              <a:buChar char="•"/>
            </a:pPr>
            <a:r>
              <a:rPr lang="en-US" sz="950" dirty="0" err="1">
                <a:solidFill>
                  <a:srgbClr val="2C2C2A"/>
                </a:solidFill>
                <a:latin typeface="Calibri" pitchFamily="34" charset="0"/>
                <a:ea typeface="Calibri" pitchFamily="34" charset="-122"/>
                <a:cs typeface="Calibri" pitchFamily="34" charset="-120"/>
              </a:rPr>
              <a:t>Acceso</a:t>
            </a:r>
            <a:r>
              <a:rPr lang="en-US" sz="950" dirty="0">
                <a:solidFill>
                  <a:srgbClr val="2C2C2A"/>
                </a:solidFill>
                <a:latin typeface="Calibri" pitchFamily="34" charset="0"/>
                <a:ea typeface="Calibri" pitchFamily="34" charset="-122"/>
                <a:cs typeface="Calibri" pitchFamily="34" charset="-120"/>
              </a:rPr>
              <a:t> a comunidad de </a:t>
            </a:r>
            <a:r>
              <a:rPr lang="en-US" sz="950" dirty="0" err="1">
                <a:solidFill>
                  <a:srgbClr val="2C2C2A"/>
                </a:solidFill>
                <a:latin typeface="Calibri" pitchFamily="34" charset="0"/>
                <a:ea typeface="Calibri" pitchFamily="34" charset="-122"/>
                <a:cs typeface="Calibri" pitchFamily="34" charset="-120"/>
              </a:rPr>
              <a:t>práctica</a:t>
            </a:r>
            <a:r>
              <a:rPr lang="en-US" sz="950" dirty="0">
                <a:solidFill>
                  <a:srgbClr val="2C2C2A"/>
                </a:solidFill>
                <a:latin typeface="Calibri" pitchFamily="34" charset="0"/>
                <a:ea typeface="Calibri" pitchFamily="34" charset="-122"/>
                <a:cs typeface="Calibri" pitchFamily="34" charset="-120"/>
              </a:rPr>
              <a:t> y coaches </a:t>
            </a:r>
            <a:endParaRPr lang="en-US" sz="950" dirty="0"/>
          </a:p>
        </p:txBody>
      </p:sp>
      <p:sp>
        <p:nvSpPr>
          <p:cNvPr id="20" name="Shape 18"/>
          <p:cNvSpPr/>
          <p:nvPr/>
        </p:nvSpPr>
        <p:spPr>
          <a:xfrm>
            <a:off x="3401568" y="4279392"/>
            <a:ext cx="1737360" cy="274320"/>
          </a:xfrm>
          <a:prstGeom prst="roundRect">
            <a:avLst>
              <a:gd name="adj" fmla="val 26667"/>
            </a:avLst>
          </a:prstGeom>
          <a:solidFill>
            <a:srgbClr val="C4622D"/>
          </a:solidFill>
          <a:ln w="12700">
            <a:solidFill>
              <a:srgbClr val="C4622D"/>
            </a:solidFill>
            <a:prstDash val="solid"/>
          </a:ln>
        </p:spPr>
        <p:txBody>
          <a:bodyPr/>
          <a:lstStyle/>
          <a:p>
            <a:endParaRPr lang="en-US"/>
          </a:p>
        </p:txBody>
      </p:sp>
      <p:sp>
        <p:nvSpPr>
          <p:cNvPr id="21" name="Text 19"/>
          <p:cNvSpPr/>
          <p:nvPr/>
        </p:nvSpPr>
        <p:spPr>
          <a:xfrm>
            <a:off x="3401568" y="4279392"/>
            <a:ext cx="173736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Comenzar Corriente</a:t>
            </a:r>
            <a:endParaRPr lang="en-US" sz="950" dirty="0"/>
          </a:p>
        </p:txBody>
      </p:sp>
      <p:sp>
        <p:nvSpPr>
          <p:cNvPr id="22" name="Shape 20"/>
          <p:cNvSpPr/>
          <p:nvPr/>
        </p:nvSpPr>
        <p:spPr>
          <a:xfrm>
            <a:off x="6208776" y="1371600"/>
            <a:ext cx="2788920" cy="3337560"/>
          </a:xfrm>
          <a:prstGeom prst="roundRect">
            <a:avLst>
              <a:gd name="adj" fmla="val 3279"/>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23" name="Text 21"/>
          <p:cNvSpPr/>
          <p:nvPr/>
        </p:nvSpPr>
        <p:spPr>
          <a:xfrm>
            <a:off x="6345936" y="1481328"/>
            <a:ext cx="2514600" cy="201168"/>
          </a:xfrm>
          <a:prstGeom prst="rect">
            <a:avLst/>
          </a:prstGeom>
          <a:noFill/>
          <a:ln/>
        </p:spPr>
        <p:txBody>
          <a:bodyPr wrap="square" rtlCol="0" anchor="ctr"/>
          <a:lstStyle/>
          <a:p>
            <a:pPr marL="0" indent="0" algn="l">
              <a:buNone/>
            </a:pPr>
            <a:r>
              <a:rPr lang="en-US" sz="750" b="1" kern="0" spc="50" dirty="0">
                <a:solidFill>
                  <a:srgbClr val="3D5A3E"/>
                </a:solidFill>
                <a:latin typeface="Arial" pitchFamily="34" charset="0"/>
                <a:ea typeface="Arial" pitchFamily="34" charset="-122"/>
                <a:cs typeface="Arial" pitchFamily="34" charset="-120"/>
              </a:rPr>
              <a:t>Inmersión Total · Retiro </a:t>
            </a:r>
            <a:r>
              <a:rPr lang="en-US" sz="750" b="1" kern="0" spc="50" dirty="0" err="1">
                <a:solidFill>
                  <a:srgbClr val="3D5A3E"/>
                </a:solidFill>
                <a:latin typeface="Arial" pitchFamily="34" charset="0"/>
                <a:ea typeface="Arial" pitchFamily="34" charset="-122"/>
                <a:cs typeface="Arial" pitchFamily="34" charset="-120"/>
              </a:rPr>
              <a:t>Grupal</a:t>
            </a:r>
            <a:r>
              <a:rPr lang="en-US" sz="750" b="1" kern="0" spc="50" dirty="0">
                <a:solidFill>
                  <a:srgbClr val="3D5A3E"/>
                </a:solidFill>
                <a:latin typeface="Arial" pitchFamily="34" charset="0"/>
                <a:ea typeface="Arial" pitchFamily="34" charset="-122"/>
                <a:cs typeface="Arial" pitchFamily="34" charset="-120"/>
              </a:rPr>
              <a:t> 3 días.</a:t>
            </a:r>
            <a:endParaRPr lang="en-US" sz="750" dirty="0"/>
          </a:p>
        </p:txBody>
      </p:sp>
      <p:sp>
        <p:nvSpPr>
          <p:cNvPr id="24" name="Text 22"/>
          <p:cNvSpPr/>
          <p:nvPr/>
        </p:nvSpPr>
        <p:spPr>
          <a:xfrm>
            <a:off x="6345936" y="1700784"/>
            <a:ext cx="2514600" cy="365760"/>
          </a:xfrm>
          <a:prstGeom prst="rect">
            <a:avLst/>
          </a:prstGeom>
          <a:noFill/>
          <a:ln/>
        </p:spPr>
        <p:txBody>
          <a:bodyPr wrap="square" lIns="0" tIns="0" rIns="0" bIns="0" rtlCol="0" anchor="ctr"/>
          <a:lstStyle/>
          <a:p>
            <a:pPr marL="0" indent="0" algn="l">
              <a:buNone/>
            </a:pPr>
            <a:r>
              <a:rPr lang="en-US" sz="1900" b="1" dirty="0">
                <a:solidFill>
                  <a:srgbClr val="3D5A3E"/>
                </a:solidFill>
                <a:latin typeface="Cambria" pitchFamily="34" charset="0"/>
                <a:ea typeface="Cambria" pitchFamily="34" charset="-122"/>
                <a:cs typeface="Cambria" pitchFamily="34" charset="-120"/>
              </a:rPr>
              <a:t>Fuente</a:t>
            </a:r>
            <a:endParaRPr lang="en-US" sz="1900" dirty="0"/>
          </a:p>
        </p:txBody>
      </p:sp>
      <p:sp>
        <p:nvSpPr>
          <p:cNvPr id="25" name="Text 23"/>
          <p:cNvSpPr/>
          <p:nvPr/>
        </p:nvSpPr>
        <p:spPr>
          <a:xfrm>
            <a:off x="6345936" y="2084832"/>
            <a:ext cx="2514600" cy="237744"/>
          </a:xfrm>
          <a:prstGeom prst="rect">
            <a:avLst/>
          </a:prstGeom>
          <a:noFill/>
          <a:ln/>
        </p:spPr>
        <p:txBody>
          <a:bodyPr wrap="square" rtlCol="0" anchor="ctr"/>
          <a:lstStyle/>
          <a:p>
            <a:pPr marL="0" indent="0" algn="l">
              <a:buNone/>
            </a:pPr>
            <a:r>
              <a:rPr lang="en-US" sz="1000" i="1" dirty="0">
                <a:solidFill>
                  <a:srgbClr val="5A5A55"/>
                </a:solidFill>
                <a:latin typeface="Calibri" pitchFamily="34" charset="0"/>
                <a:ea typeface="Calibri" pitchFamily="34" charset="-122"/>
                <a:cs typeface="Calibri" pitchFamily="34" charset="-120"/>
              </a:rPr>
              <a:t>La transformación más completa</a:t>
            </a:r>
            <a:endParaRPr lang="en-US" sz="1000" dirty="0"/>
          </a:p>
        </p:txBody>
      </p:sp>
      <p:sp>
        <p:nvSpPr>
          <p:cNvPr id="26" name="Shape 24"/>
          <p:cNvSpPr/>
          <p:nvPr/>
        </p:nvSpPr>
        <p:spPr>
          <a:xfrm>
            <a:off x="6345936" y="2350008"/>
            <a:ext cx="2514600" cy="0"/>
          </a:xfrm>
          <a:prstGeom prst="line">
            <a:avLst/>
          </a:prstGeom>
          <a:noFill/>
          <a:ln w="6350">
            <a:solidFill>
              <a:srgbClr val="3D5A3E">
                <a:alpha val="45000"/>
              </a:srgbClr>
            </a:solidFill>
            <a:prstDash val="solid"/>
          </a:ln>
        </p:spPr>
        <p:txBody>
          <a:bodyPr/>
          <a:lstStyle/>
          <a:p>
            <a:endParaRPr lang="en-US"/>
          </a:p>
        </p:txBody>
      </p:sp>
      <p:sp>
        <p:nvSpPr>
          <p:cNvPr id="27" name="Text 25"/>
          <p:cNvSpPr/>
          <p:nvPr/>
        </p:nvSpPr>
        <p:spPr>
          <a:xfrm>
            <a:off x="6345936" y="2404872"/>
            <a:ext cx="2514600" cy="1737360"/>
          </a:xfrm>
          <a:prstGeom prst="rect">
            <a:avLst/>
          </a:prstGeom>
          <a:noFill/>
          <a:ln/>
        </p:spPr>
        <p:txBody>
          <a:bodyPr wrap="square" rtlCol="0" anchor="t"/>
          <a:lstStyle/>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4 inmersiones </a:t>
            </a:r>
            <a:r>
              <a:rPr lang="en-US" sz="950" dirty="0" err="1">
                <a:solidFill>
                  <a:srgbClr val="2C2C2A"/>
                </a:solidFill>
                <a:latin typeface="Calibri" pitchFamily="34" charset="0"/>
                <a:ea typeface="Calibri" pitchFamily="34" charset="-122"/>
                <a:cs typeface="Calibri" pitchFamily="34" charset="-120"/>
              </a:rPr>
              <a:t>presenciales</a:t>
            </a:r>
            <a:r>
              <a:rPr lang="en-US" sz="950" dirty="0">
                <a:solidFill>
                  <a:srgbClr val="2C2C2A"/>
                </a:solidFill>
                <a:latin typeface="Calibri" pitchFamily="34" charset="0"/>
                <a:ea typeface="Calibri" pitchFamily="34" charset="-122"/>
                <a:cs typeface="Calibri" pitchFamily="34" charset="-120"/>
              </a:rPr>
              <a:t> </a:t>
            </a:r>
            <a:endParaRPr lang="en-US" sz="950" dirty="0"/>
          </a:p>
          <a:p>
            <a:pPr marL="342900" indent="-342900" algn="l">
              <a:buSzPct val="100000"/>
              <a:buChar char="•"/>
            </a:pPr>
            <a:r>
              <a:rPr lang="en-US" sz="950" dirty="0" err="1">
                <a:solidFill>
                  <a:srgbClr val="2C2C2A"/>
                </a:solidFill>
                <a:latin typeface="Calibri" pitchFamily="34" charset="0"/>
                <a:ea typeface="Calibri" pitchFamily="34" charset="-122"/>
                <a:cs typeface="Calibri" pitchFamily="34" charset="-120"/>
              </a:rPr>
              <a:t>Acceso</a:t>
            </a:r>
            <a:r>
              <a:rPr lang="en-US" sz="950" dirty="0">
                <a:solidFill>
                  <a:srgbClr val="2C2C2A"/>
                </a:solidFill>
                <a:latin typeface="Calibri" pitchFamily="34" charset="0"/>
                <a:ea typeface="Calibri" pitchFamily="34" charset="-122"/>
                <a:cs typeface="Calibri" pitchFamily="34" charset="-120"/>
              </a:rPr>
              <a:t> especial a </a:t>
            </a:r>
            <a:r>
              <a:rPr lang="en-US" sz="950" dirty="0" err="1">
                <a:solidFill>
                  <a:srgbClr val="2C2C2A"/>
                </a:solidFill>
                <a:latin typeface="Calibri" pitchFamily="34" charset="0"/>
                <a:ea typeface="Calibri" pitchFamily="34" charset="-122"/>
                <a:cs typeface="Calibri" pitchFamily="34" charset="-120"/>
              </a:rPr>
              <a:t>programa</a:t>
            </a:r>
            <a:r>
              <a:rPr lang="en-US" sz="950" dirty="0">
                <a:solidFill>
                  <a:srgbClr val="2C2C2A"/>
                </a:solidFill>
                <a:latin typeface="Calibri" pitchFamily="34" charset="0"/>
                <a:ea typeface="Calibri" pitchFamily="34" charset="-122"/>
                <a:cs typeface="Calibri" pitchFamily="34" charset="-120"/>
              </a:rPr>
              <a:t> de </a:t>
            </a:r>
            <a:r>
              <a:rPr lang="en-US" sz="950" dirty="0" err="1">
                <a:solidFill>
                  <a:srgbClr val="2C2C2A"/>
                </a:solidFill>
                <a:latin typeface="Calibri" pitchFamily="34" charset="0"/>
                <a:ea typeface="Calibri" pitchFamily="34" charset="-122"/>
                <a:cs typeface="Calibri" pitchFamily="34" charset="-120"/>
              </a:rPr>
              <a:t>continuidad</a:t>
            </a:r>
            <a:r>
              <a:rPr lang="en-US" sz="950" dirty="0">
                <a:solidFill>
                  <a:srgbClr val="2C2C2A"/>
                </a:solidFill>
                <a:latin typeface="Calibri" pitchFamily="34" charset="0"/>
                <a:ea typeface="Calibri" pitchFamily="34" charset="-122"/>
                <a:cs typeface="Calibri" pitchFamily="34" charset="-120"/>
              </a:rPr>
              <a:t> 2 </a:t>
            </a:r>
            <a:r>
              <a:rPr lang="en-US" sz="950" dirty="0" err="1">
                <a:solidFill>
                  <a:srgbClr val="2C2C2A"/>
                </a:solidFill>
                <a:latin typeface="Calibri" pitchFamily="34" charset="0"/>
                <a:ea typeface="Calibri" pitchFamily="34" charset="-122"/>
                <a:cs typeface="Calibri" pitchFamily="34" charset="-120"/>
              </a:rPr>
              <a:t>sesiones</a:t>
            </a:r>
            <a:r>
              <a:rPr lang="en-US" sz="950" dirty="0">
                <a:solidFill>
                  <a:srgbClr val="2C2C2A"/>
                </a:solidFill>
                <a:latin typeface="Calibri" pitchFamily="34" charset="0"/>
                <a:ea typeface="Calibri" pitchFamily="34" charset="-122"/>
                <a:cs typeface="Calibri" pitchFamily="34" charset="-120"/>
              </a:rPr>
              <a:t> de coaching individual </a:t>
            </a:r>
            <a:r>
              <a:rPr lang="en-US" sz="950" dirty="0" err="1">
                <a:solidFill>
                  <a:srgbClr val="2C2C2A"/>
                </a:solidFill>
                <a:latin typeface="Calibri" pitchFamily="34" charset="0"/>
                <a:ea typeface="Calibri" pitchFamily="34" charset="-122"/>
                <a:cs typeface="Calibri" pitchFamily="34" charset="-120"/>
              </a:rPr>
              <a:t>por</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mes</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por</a:t>
            </a:r>
            <a:r>
              <a:rPr lang="en-US" sz="950" dirty="0">
                <a:solidFill>
                  <a:srgbClr val="2C2C2A"/>
                </a:solidFill>
                <a:latin typeface="Calibri" pitchFamily="34" charset="0"/>
                <a:ea typeface="Calibri" pitchFamily="34" charset="-122"/>
                <a:cs typeface="Calibri" pitchFamily="34" charset="-120"/>
              </a:rPr>
              <a:t> 6 meses. Costo </a:t>
            </a:r>
            <a:r>
              <a:rPr lang="en-US" sz="950" dirty="0" err="1">
                <a:solidFill>
                  <a:srgbClr val="2C2C2A"/>
                </a:solidFill>
                <a:latin typeface="Calibri" pitchFamily="34" charset="0"/>
                <a:ea typeface="Calibri" pitchFamily="34" charset="-122"/>
                <a:cs typeface="Calibri" pitchFamily="34" charset="-120"/>
              </a:rPr>
              <a:t>adicional</a:t>
            </a:r>
            <a:r>
              <a:rPr lang="en-US" sz="950" dirty="0">
                <a:solidFill>
                  <a:srgbClr val="2C2C2A"/>
                </a:solidFill>
                <a:latin typeface="Calibri" pitchFamily="34" charset="0"/>
                <a:ea typeface="Calibri" pitchFamily="34" charset="-122"/>
                <a:cs typeface="Calibri" pitchFamily="34" charset="-120"/>
              </a:rPr>
              <a:t> </a:t>
            </a:r>
            <a:endParaRPr lang="en-US" sz="950" dirty="0"/>
          </a:p>
          <a:p>
            <a:pPr marL="342900" indent="-342900" algn="l">
              <a:buSzPct val="100000"/>
              <a:buChar char="•"/>
            </a:pPr>
            <a:r>
              <a:rPr lang="en-US" sz="950" dirty="0" err="1">
                <a:solidFill>
                  <a:srgbClr val="2C2C2A"/>
                </a:solidFill>
                <a:latin typeface="Calibri" pitchFamily="34" charset="0"/>
                <a:ea typeface="Calibri" pitchFamily="34" charset="-122"/>
                <a:cs typeface="Calibri" pitchFamily="34" charset="-120"/>
              </a:rPr>
              <a:t>Entornos</a:t>
            </a:r>
            <a:r>
              <a:rPr lang="en-US" sz="950" dirty="0">
                <a:solidFill>
                  <a:srgbClr val="2C2C2A"/>
                </a:solidFill>
                <a:latin typeface="Calibri" pitchFamily="34" charset="0"/>
                <a:ea typeface="Calibri" pitchFamily="34" charset="-122"/>
                <a:cs typeface="Calibri" pitchFamily="34" charset="-120"/>
              </a:rPr>
              <a:t> naturales </a:t>
            </a:r>
            <a:r>
              <a:rPr lang="en-US" sz="950" dirty="0" err="1">
                <a:solidFill>
                  <a:srgbClr val="2C2C2A"/>
                </a:solidFill>
                <a:latin typeface="Calibri" pitchFamily="34" charset="0"/>
                <a:ea typeface="Calibri" pitchFamily="34" charset="-122"/>
                <a:cs typeface="Calibri" pitchFamily="34" charset="-120"/>
              </a:rPr>
              <a:t>seleccionados</a:t>
            </a:r>
            <a:r>
              <a:rPr lang="en-US" sz="950" dirty="0">
                <a:solidFill>
                  <a:srgbClr val="2C2C2A"/>
                </a:solidFill>
                <a:latin typeface="Calibri" pitchFamily="34" charset="0"/>
                <a:ea typeface="Calibri" pitchFamily="34" charset="-122"/>
                <a:cs typeface="Calibri" pitchFamily="34" charset="-120"/>
              </a:rPr>
              <a:t> </a:t>
            </a:r>
          </a:p>
          <a:p>
            <a:pPr marL="342900" indent="-342900" algn="l">
              <a:buSzPct val="100000"/>
              <a:buChar char="•"/>
            </a:pPr>
            <a:r>
              <a:rPr lang="en-US" sz="950" dirty="0" err="1">
                <a:solidFill>
                  <a:srgbClr val="2C2C2A"/>
                </a:solidFill>
                <a:latin typeface="Calibri" pitchFamily="34" charset="0"/>
                <a:ea typeface="Calibri" pitchFamily="34" charset="-122"/>
                <a:cs typeface="Calibri" pitchFamily="34" charset="-120"/>
              </a:rPr>
              <a:t>Recorrido</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por</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los</a:t>
            </a:r>
            <a:r>
              <a:rPr lang="en-US" sz="950" dirty="0">
                <a:solidFill>
                  <a:srgbClr val="2C2C2A"/>
                </a:solidFill>
                <a:latin typeface="Calibri" pitchFamily="34" charset="0"/>
                <a:ea typeface="Calibri" pitchFamily="34" charset="-122"/>
                <a:cs typeface="Calibri" pitchFamily="34" charset="-120"/>
              </a:rPr>
              <a:t> 4 </a:t>
            </a:r>
            <a:r>
              <a:rPr lang="en-US" sz="950" dirty="0" err="1">
                <a:solidFill>
                  <a:srgbClr val="2C2C2A"/>
                </a:solidFill>
                <a:latin typeface="Calibri" pitchFamily="34" charset="0"/>
                <a:ea typeface="Calibri" pitchFamily="34" charset="-122"/>
                <a:cs typeface="Calibri" pitchFamily="34" charset="-120"/>
              </a:rPr>
              <a:t>elementos</a:t>
            </a:r>
            <a:r>
              <a:rPr lang="en-US" sz="950" dirty="0">
                <a:solidFill>
                  <a:srgbClr val="2C2C2A"/>
                </a:solidFill>
                <a:latin typeface="Calibri" pitchFamily="34" charset="0"/>
                <a:ea typeface="Calibri" pitchFamily="34" charset="-122"/>
                <a:cs typeface="Calibri" pitchFamily="34" charset="-120"/>
              </a:rPr>
              <a:t> + 1 </a:t>
            </a:r>
          </a:p>
          <a:p>
            <a:pPr marL="342900" indent="-342900" algn="l">
              <a:buSzPct val="100000"/>
              <a:buChar char="•"/>
            </a:pPr>
            <a:r>
              <a:rPr lang="en-US" sz="950" dirty="0" err="1">
                <a:solidFill>
                  <a:srgbClr val="2C2C2A"/>
                </a:solidFill>
                <a:latin typeface="Calibri" pitchFamily="34" charset="0"/>
                <a:ea typeface="Calibri" pitchFamily="34" charset="-122"/>
                <a:cs typeface="Calibri" pitchFamily="34" charset="-120"/>
              </a:rPr>
              <a:t>Integración</a:t>
            </a:r>
            <a:r>
              <a:rPr lang="en-US" sz="950" dirty="0">
                <a:solidFill>
                  <a:srgbClr val="2C2C2A"/>
                </a:solidFill>
                <a:latin typeface="Calibri" pitchFamily="34" charset="0"/>
                <a:ea typeface="Calibri" pitchFamily="34" charset="-122"/>
                <a:cs typeface="Calibri" pitchFamily="34" charset="-120"/>
              </a:rPr>
              <a:t> y </a:t>
            </a:r>
            <a:r>
              <a:rPr lang="en-US" sz="950" dirty="0" err="1">
                <a:solidFill>
                  <a:srgbClr val="2C2C2A"/>
                </a:solidFill>
                <a:latin typeface="Calibri" pitchFamily="34" charset="0"/>
                <a:ea typeface="Calibri" pitchFamily="34" charset="-122"/>
                <a:cs typeface="Calibri" pitchFamily="34" charset="-120"/>
              </a:rPr>
              <a:t>práctica</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imersiva</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por</a:t>
            </a:r>
            <a:r>
              <a:rPr lang="en-US" sz="950" dirty="0">
                <a:solidFill>
                  <a:srgbClr val="2C2C2A"/>
                </a:solidFill>
                <a:latin typeface="Calibri" pitchFamily="34" charset="0"/>
                <a:ea typeface="Calibri" pitchFamily="34" charset="-122"/>
                <a:cs typeface="Calibri" pitchFamily="34" charset="-120"/>
              </a:rPr>
              <a:t> </a:t>
            </a:r>
            <a:r>
              <a:rPr lang="en-US" sz="950" dirty="0" err="1">
                <a:solidFill>
                  <a:srgbClr val="2C2C2A"/>
                </a:solidFill>
                <a:latin typeface="Calibri" pitchFamily="34" charset="0"/>
                <a:ea typeface="Calibri" pitchFamily="34" charset="-122"/>
                <a:cs typeface="Calibri" pitchFamily="34" charset="-120"/>
              </a:rPr>
              <a:t>metodología</a:t>
            </a:r>
            <a:r>
              <a:rPr lang="en-US" sz="950" dirty="0">
                <a:solidFill>
                  <a:srgbClr val="2C2C2A"/>
                </a:solidFill>
                <a:latin typeface="Calibri" pitchFamily="34" charset="0"/>
                <a:ea typeface="Calibri" pitchFamily="34" charset="-122"/>
                <a:cs typeface="Calibri" pitchFamily="34" charset="-120"/>
              </a:rPr>
              <a:t> y </a:t>
            </a:r>
            <a:r>
              <a:rPr lang="en-US" sz="950" dirty="0" err="1">
                <a:solidFill>
                  <a:srgbClr val="2C2C2A"/>
                </a:solidFill>
                <a:latin typeface="Calibri" pitchFamily="34" charset="0"/>
                <a:ea typeface="Calibri" pitchFamily="34" charset="-122"/>
                <a:cs typeface="Calibri" pitchFamily="34" charset="-120"/>
              </a:rPr>
              <a:t>elemento</a:t>
            </a:r>
            <a:r>
              <a:rPr lang="en-US" sz="950" dirty="0">
                <a:solidFill>
                  <a:srgbClr val="2C2C2A"/>
                </a:solidFill>
                <a:latin typeface="Calibri" pitchFamily="34" charset="0"/>
                <a:ea typeface="Calibri" pitchFamily="34" charset="-122"/>
                <a:cs typeface="Calibri" pitchFamily="34" charset="-120"/>
              </a:rPr>
              <a:t>.</a:t>
            </a:r>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Mapa de liderazgo 1:1 por elemento</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Integración con comunidad de </a:t>
            </a:r>
            <a:r>
              <a:rPr lang="en-US" sz="950" dirty="0" err="1">
                <a:solidFill>
                  <a:srgbClr val="2C2C2A"/>
                </a:solidFill>
                <a:latin typeface="Calibri" pitchFamily="34" charset="0"/>
                <a:ea typeface="Calibri" pitchFamily="34" charset="-122"/>
                <a:cs typeface="Calibri" pitchFamily="34" charset="-120"/>
              </a:rPr>
              <a:t>retiros</a:t>
            </a:r>
            <a:r>
              <a:rPr lang="en-US" sz="950" dirty="0">
                <a:solidFill>
                  <a:srgbClr val="2C2C2A"/>
                </a:solidFill>
                <a:latin typeface="Calibri" pitchFamily="34" charset="0"/>
                <a:ea typeface="Calibri" pitchFamily="34" charset="-122"/>
                <a:cs typeface="Calibri" pitchFamily="34" charset="-120"/>
              </a:rPr>
              <a:t> ejecutivos</a:t>
            </a:r>
            <a:endParaRPr lang="en-US" sz="950" dirty="0"/>
          </a:p>
        </p:txBody>
      </p:sp>
      <p:sp>
        <p:nvSpPr>
          <p:cNvPr id="28" name="Shape 26"/>
          <p:cNvSpPr/>
          <p:nvPr/>
        </p:nvSpPr>
        <p:spPr>
          <a:xfrm>
            <a:off x="6345936" y="4279392"/>
            <a:ext cx="1737360" cy="274320"/>
          </a:xfrm>
          <a:prstGeom prst="roundRect">
            <a:avLst>
              <a:gd name="adj" fmla="val 26667"/>
            </a:avLst>
          </a:prstGeom>
          <a:solidFill>
            <a:srgbClr val="3D5A3E"/>
          </a:solidFill>
          <a:ln w="12700">
            <a:solidFill>
              <a:srgbClr val="3D5A3E"/>
            </a:solidFill>
            <a:prstDash val="solid"/>
          </a:ln>
        </p:spPr>
        <p:txBody>
          <a:bodyPr/>
          <a:lstStyle/>
          <a:p>
            <a:endParaRPr lang="en-US"/>
          </a:p>
        </p:txBody>
      </p:sp>
      <p:sp>
        <p:nvSpPr>
          <p:cNvPr id="29" name="Text 27"/>
          <p:cNvSpPr/>
          <p:nvPr/>
        </p:nvSpPr>
        <p:spPr>
          <a:xfrm>
            <a:off x="6345936" y="4279392"/>
            <a:ext cx="173736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Comenzar Fuente</a:t>
            </a:r>
            <a:endParaRPr lang="en-US" sz="950" dirty="0"/>
          </a:p>
        </p:txBody>
      </p:sp>
      <p:sp>
        <p:nvSpPr>
          <p:cNvPr id="30" name="Shape 28"/>
          <p:cNvSpPr/>
          <p:nvPr/>
        </p:nvSpPr>
        <p:spPr>
          <a:xfrm>
            <a:off x="502920" y="4773168"/>
            <a:ext cx="8138160" cy="274320"/>
          </a:xfrm>
          <a:prstGeom prst="roundRect">
            <a:avLst>
              <a:gd name="adj" fmla="val 20000"/>
            </a:avLst>
          </a:prstGeom>
          <a:solidFill>
            <a:srgbClr val="F5ECD8"/>
          </a:solidFill>
          <a:ln w="12700">
            <a:solidFill>
              <a:srgbClr val="F5ECD8"/>
            </a:solidFill>
            <a:prstDash val="solid"/>
          </a:ln>
        </p:spPr>
        <p:txBody>
          <a:bodyPr/>
          <a:lstStyle/>
          <a:p>
            <a:endParaRPr lang="en-US"/>
          </a:p>
        </p:txBody>
      </p:sp>
      <p:sp>
        <p:nvSpPr>
          <p:cNvPr id="31" name="Text 29"/>
          <p:cNvSpPr/>
          <p:nvPr/>
        </p:nvSpPr>
        <p:spPr>
          <a:xfrm>
            <a:off x="640080" y="4791456"/>
            <a:ext cx="7863840" cy="237744"/>
          </a:xfrm>
          <a:prstGeom prst="rect">
            <a:avLst/>
          </a:prstGeom>
          <a:noFill/>
          <a:ln/>
        </p:spPr>
        <p:txBody>
          <a:bodyPr wrap="square" rtlCol="0" anchor="ctr"/>
          <a:lstStyle/>
          <a:p>
            <a:pPr marL="0" indent="0" algn="l">
              <a:buNone/>
            </a:pPr>
            <a:r>
              <a:rPr lang="en-US" sz="900" i="1" dirty="0">
                <a:solidFill>
                  <a:srgbClr val="5A5A55"/>
                </a:solidFill>
                <a:latin typeface="Calibri" pitchFamily="34" charset="0"/>
                <a:ea typeface="Calibri" pitchFamily="34" charset="-122"/>
                <a:cs typeface="Calibri" pitchFamily="34" charset="-120"/>
              </a:rPr>
              <a:t>Formulario de contacto: Nombre · Apellido · Email · Organización · Programa de interés · Mensaje — CTA: Enviar y Comenzar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6B8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48640" y="502920"/>
            <a:ext cx="8046720" cy="256032"/>
          </a:xfrm>
          <a:prstGeom prst="rect">
            <a:avLst/>
          </a:prstGeom>
          <a:noFill/>
          <a:ln/>
        </p:spPr>
        <p:txBody>
          <a:bodyPr wrap="square" rtlCol="0" anchor="ctr"/>
          <a:lstStyle/>
          <a:p>
            <a:pPr marL="0" indent="0" algn="l">
              <a:buNone/>
            </a:pPr>
            <a:r>
              <a:rPr lang="en-US" sz="900" b="1" kern="0" spc="300" dirty="0">
                <a:solidFill>
                  <a:srgbClr val="F5ECD8"/>
                </a:solidFill>
                <a:latin typeface="Arial" pitchFamily="34" charset="0"/>
                <a:ea typeface="Arial" pitchFamily="34" charset="-122"/>
                <a:cs typeface="Arial" pitchFamily="34" charset="-120"/>
              </a:rPr>
              <a:t>ELEMENTS METHOD  ·  PÁGINA DE PROGRAMA</a:t>
            </a:r>
            <a:endParaRPr lang="en-US" sz="900" dirty="0"/>
          </a:p>
        </p:txBody>
      </p:sp>
      <p:sp>
        <p:nvSpPr>
          <p:cNvPr id="4" name="Text 2"/>
          <p:cNvSpPr/>
          <p:nvPr/>
        </p:nvSpPr>
        <p:spPr>
          <a:xfrm>
            <a:off x="548640" y="914400"/>
            <a:ext cx="8046720" cy="256032"/>
          </a:xfrm>
          <a:prstGeom prst="rect">
            <a:avLst/>
          </a:prstGeom>
          <a:noFill/>
          <a:ln/>
        </p:spPr>
        <p:txBody>
          <a:bodyPr wrap="square" rtlCol="0" anchor="ctr"/>
          <a:lstStyle/>
          <a:p>
            <a:pPr marL="0" indent="0" algn="l">
              <a:buNone/>
            </a:pPr>
            <a:r>
              <a:rPr lang="en-US" sz="1100" dirty="0">
                <a:solidFill>
                  <a:srgbClr val="EAF4FA"/>
                </a:solidFill>
                <a:latin typeface="Calibri" pitchFamily="34" charset="0"/>
                <a:ea typeface="Calibri" pitchFamily="34" charset="-122"/>
                <a:cs typeface="Calibri" pitchFamily="34" charset="-120"/>
              </a:rPr>
              <a:t>Group Program · 4 Months</a:t>
            </a:r>
            <a:endParaRPr lang="en-US" sz="1100" dirty="0"/>
          </a:p>
        </p:txBody>
      </p:sp>
      <p:sp>
        <p:nvSpPr>
          <p:cNvPr id="5" name="Text 3"/>
          <p:cNvSpPr/>
          <p:nvPr/>
        </p:nvSpPr>
        <p:spPr>
          <a:xfrm>
            <a:off x="548640" y="1234440"/>
            <a:ext cx="8046720" cy="1188720"/>
          </a:xfrm>
          <a:prstGeom prst="rect">
            <a:avLst/>
          </a:prstGeom>
          <a:noFill/>
          <a:ln/>
        </p:spPr>
        <p:txBody>
          <a:bodyPr wrap="square" rtlCol="0" anchor="ctr"/>
          <a:lstStyle/>
          <a:p>
            <a:pPr marL="0" indent="0" algn="l">
              <a:buNone/>
            </a:pPr>
            <a:r>
              <a:rPr lang="en-US" sz="4800" b="1" dirty="0">
                <a:solidFill>
                  <a:srgbClr val="FFFFFF"/>
                </a:solidFill>
                <a:latin typeface="Cambria" pitchFamily="34" charset="0"/>
                <a:ea typeface="Cambria" pitchFamily="34" charset="-122"/>
                <a:cs typeface="Cambria" pitchFamily="34" charset="-120"/>
              </a:rPr>
              <a:t>Roots Journey</a:t>
            </a:r>
            <a:endParaRPr lang="en-US" sz="4800" dirty="0"/>
          </a:p>
        </p:txBody>
      </p:sp>
      <p:sp>
        <p:nvSpPr>
          <p:cNvPr id="6" name="Text 4"/>
          <p:cNvSpPr/>
          <p:nvPr/>
        </p:nvSpPr>
        <p:spPr>
          <a:xfrm>
            <a:off x="548640" y="2560320"/>
            <a:ext cx="6400800" cy="502920"/>
          </a:xfrm>
          <a:prstGeom prst="rect">
            <a:avLst/>
          </a:prstGeom>
          <a:noFill/>
          <a:ln/>
        </p:spPr>
        <p:txBody>
          <a:bodyPr wrap="square" rtlCol="0" anchor="ctr"/>
          <a:lstStyle/>
          <a:p>
            <a:pPr marL="0" indent="0" algn="l">
              <a:buNone/>
            </a:pPr>
            <a:r>
              <a:rPr lang="en-US" sz="1800" i="1" dirty="0">
                <a:solidFill>
                  <a:srgbClr val="EAF4FA"/>
                </a:solidFill>
                <a:latin typeface="Cambria" pitchFamily="34" charset="0"/>
                <a:ea typeface="Cambria" pitchFamily="34" charset="-122"/>
                <a:cs typeface="Cambria" pitchFamily="34" charset="-120"/>
              </a:rPr>
              <a:t>Find your foundation. Lead from your depths.</a:t>
            </a:r>
            <a:endParaRPr lang="en-US" sz="1800" dirty="0"/>
          </a:p>
        </p:txBody>
      </p:sp>
      <p:sp>
        <p:nvSpPr>
          <p:cNvPr id="7" name="Text 5"/>
          <p:cNvSpPr/>
          <p:nvPr/>
        </p:nvSpPr>
        <p:spPr>
          <a:xfrm>
            <a:off x="548640" y="3474720"/>
            <a:ext cx="2011680" cy="640080"/>
          </a:xfrm>
          <a:prstGeom prst="rect">
            <a:avLst/>
          </a:prstGeom>
          <a:noFill/>
          <a:ln/>
        </p:spPr>
        <p:txBody>
          <a:bodyPr wrap="square" rtlCol="0" anchor="ctr"/>
          <a:lstStyle/>
          <a:p>
            <a:pPr marL="0" indent="0" algn="l">
              <a:buNone/>
            </a:pPr>
            <a:r>
              <a:rPr lang="es-MX" sz="3600" b="1" dirty="0">
                <a:solidFill>
                  <a:srgbClr val="FFFFFF"/>
                </a:solidFill>
                <a:latin typeface="Cambria" pitchFamily="34" charset="0"/>
                <a:ea typeface="Cambria" pitchFamily="34" charset="-122"/>
              </a:rPr>
              <a:t>5</a:t>
            </a:r>
            <a:endParaRPr lang="en-US" sz="3600" dirty="0"/>
          </a:p>
        </p:txBody>
      </p:sp>
      <p:sp>
        <p:nvSpPr>
          <p:cNvPr id="8" name="Text 6"/>
          <p:cNvSpPr/>
          <p:nvPr/>
        </p:nvSpPr>
        <p:spPr>
          <a:xfrm>
            <a:off x="548640" y="4114800"/>
            <a:ext cx="2011680" cy="274320"/>
          </a:xfrm>
          <a:prstGeom prst="rect">
            <a:avLst/>
          </a:prstGeom>
          <a:noFill/>
          <a:ln/>
        </p:spPr>
        <p:txBody>
          <a:bodyPr wrap="square" rtlCol="0" anchor="ctr"/>
          <a:lstStyle/>
          <a:p>
            <a:pPr marL="0" indent="0" algn="l">
              <a:buNone/>
            </a:pPr>
            <a:r>
              <a:rPr lang="en-US" sz="1000" dirty="0">
                <a:solidFill>
                  <a:srgbClr val="EAF4FA"/>
                </a:solidFill>
                <a:latin typeface="Calibri" pitchFamily="34" charset="0"/>
                <a:ea typeface="Calibri" pitchFamily="34" charset="-122"/>
                <a:cs typeface="Calibri" pitchFamily="34" charset="-120"/>
              </a:rPr>
              <a:t>Months</a:t>
            </a:r>
            <a:endParaRPr lang="en-US" sz="1000" dirty="0"/>
          </a:p>
        </p:txBody>
      </p:sp>
      <p:sp>
        <p:nvSpPr>
          <p:cNvPr id="9" name="Text 7"/>
          <p:cNvSpPr/>
          <p:nvPr/>
        </p:nvSpPr>
        <p:spPr>
          <a:xfrm>
            <a:off x="2724912" y="3474720"/>
            <a:ext cx="2011680" cy="640080"/>
          </a:xfrm>
          <a:prstGeom prst="rect">
            <a:avLst/>
          </a:prstGeom>
          <a:noFill/>
          <a:ln/>
        </p:spPr>
        <p:txBody>
          <a:bodyPr wrap="square" rtlCol="0" anchor="ctr"/>
          <a:lstStyle/>
          <a:p>
            <a:pPr marL="0" indent="0" algn="l">
              <a:buNone/>
            </a:pPr>
            <a:r>
              <a:rPr lang="es-MX" sz="3600" b="1" dirty="0">
                <a:solidFill>
                  <a:srgbClr val="FFFFFF"/>
                </a:solidFill>
                <a:latin typeface="Cambria" pitchFamily="34" charset="0"/>
                <a:ea typeface="Cambria" pitchFamily="34" charset="-122"/>
              </a:rPr>
              <a:t>5</a:t>
            </a:r>
            <a:endParaRPr lang="en-US" sz="3600" dirty="0"/>
          </a:p>
        </p:txBody>
      </p:sp>
      <p:sp>
        <p:nvSpPr>
          <p:cNvPr id="10" name="Text 8"/>
          <p:cNvSpPr/>
          <p:nvPr/>
        </p:nvSpPr>
        <p:spPr>
          <a:xfrm>
            <a:off x="2724912" y="4114800"/>
            <a:ext cx="2011680" cy="274320"/>
          </a:xfrm>
          <a:prstGeom prst="rect">
            <a:avLst/>
          </a:prstGeom>
          <a:noFill/>
          <a:ln/>
        </p:spPr>
        <p:txBody>
          <a:bodyPr wrap="square" rtlCol="0" anchor="ctr"/>
          <a:lstStyle/>
          <a:p>
            <a:pPr marL="0" indent="0" algn="l">
              <a:buNone/>
            </a:pPr>
            <a:r>
              <a:rPr lang="en-US" sz="1000" dirty="0">
                <a:solidFill>
                  <a:srgbClr val="EAF4FA"/>
                </a:solidFill>
                <a:latin typeface="Calibri" pitchFamily="34" charset="0"/>
                <a:ea typeface="Calibri" pitchFamily="34" charset="-122"/>
                <a:cs typeface="Calibri" pitchFamily="34" charset="-120"/>
              </a:rPr>
              <a:t>In-Person Immersions</a:t>
            </a:r>
            <a:endParaRPr lang="en-US" sz="1000" dirty="0"/>
          </a:p>
        </p:txBody>
      </p:sp>
      <p:sp>
        <p:nvSpPr>
          <p:cNvPr id="11" name="Text 9"/>
          <p:cNvSpPr/>
          <p:nvPr/>
        </p:nvSpPr>
        <p:spPr>
          <a:xfrm>
            <a:off x="4901184" y="3474720"/>
            <a:ext cx="2011680" cy="640080"/>
          </a:xfrm>
          <a:prstGeom prst="rect">
            <a:avLst/>
          </a:prstGeom>
          <a:noFill/>
          <a:ln/>
        </p:spPr>
        <p:txBody>
          <a:bodyPr wrap="square" rtlCol="0" anchor="ctr"/>
          <a:lstStyle/>
          <a:p>
            <a:pPr marL="0" indent="0" algn="l">
              <a:buNone/>
            </a:pPr>
            <a:r>
              <a:rPr lang="es-MX" sz="3600" b="1" dirty="0">
                <a:solidFill>
                  <a:srgbClr val="FFFFFF"/>
                </a:solidFill>
                <a:latin typeface="Cambria" pitchFamily="34" charset="0"/>
                <a:ea typeface="Cambria" pitchFamily="34" charset="-122"/>
              </a:rPr>
              <a:t>4 </a:t>
            </a:r>
            <a:endParaRPr lang="en-US" sz="3600" dirty="0"/>
          </a:p>
        </p:txBody>
      </p:sp>
      <p:sp>
        <p:nvSpPr>
          <p:cNvPr id="12" name="Text 10"/>
          <p:cNvSpPr/>
          <p:nvPr/>
        </p:nvSpPr>
        <p:spPr>
          <a:xfrm>
            <a:off x="4901184" y="4114800"/>
            <a:ext cx="2011680" cy="274320"/>
          </a:xfrm>
          <a:prstGeom prst="rect">
            <a:avLst/>
          </a:prstGeom>
          <a:noFill/>
          <a:ln/>
        </p:spPr>
        <p:txBody>
          <a:bodyPr wrap="square" rtlCol="0" anchor="ctr"/>
          <a:lstStyle/>
          <a:p>
            <a:pPr marL="0" indent="0" algn="l">
              <a:buNone/>
            </a:pPr>
            <a:r>
              <a:rPr lang="es-MX" sz="1000" dirty="0">
                <a:solidFill>
                  <a:srgbClr val="EAF4FA"/>
                </a:solidFill>
                <a:latin typeface="Calibri" pitchFamily="34" charset="0"/>
                <a:ea typeface="Calibri" pitchFamily="34" charset="-122"/>
                <a:cs typeface="Calibri" pitchFamily="34" charset="-120"/>
              </a:rPr>
              <a:t>L</a:t>
            </a:r>
            <a:r>
              <a:rPr lang="en-US" sz="1000" dirty="0" err="1">
                <a:solidFill>
                  <a:srgbClr val="EAF4FA"/>
                </a:solidFill>
                <a:latin typeface="Calibri" pitchFamily="34" charset="0"/>
                <a:ea typeface="Calibri" pitchFamily="34" charset="-122"/>
                <a:cs typeface="Calibri" pitchFamily="34" charset="-120"/>
              </a:rPr>
              <a:t>eadership</a:t>
            </a:r>
            <a:r>
              <a:rPr lang="en-US" sz="1000" dirty="0">
                <a:solidFill>
                  <a:srgbClr val="EAF4FA"/>
                </a:solidFill>
                <a:latin typeface="Calibri" pitchFamily="34" charset="0"/>
                <a:ea typeface="Calibri" pitchFamily="34" charset="-122"/>
                <a:cs typeface="Calibri" pitchFamily="34" charset="-120"/>
              </a:rPr>
              <a:t> Frameworks</a:t>
            </a:r>
            <a:endParaRPr lang="en-US" sz="1000" dirty="0"/>
          </a:p>
        </p:txBody>
      </p:sp>
      <p:sp>
        <p:nvSpPr>
          <p:cNvPr id="13" name="Text 11"/>
          <p:cNvSpPr/>
          <p:nvPr/>
        </p:nvSpPr>
        <p:spPr>
          <a:xfrm>
            <a:off x="7077456" y="3474720"/>
            <a:ext cx="2011680" cy="640080"/>
          </a:xfrm>
          <a:prstGeom prst="rect">
            <a:avLst/>
          </a:prstGeom>
          <a:noFill/>
          <a:ln/>
        </p:spPr>
        <p:txBody>
          <a:bodyPr wrap="square" rtlCol="0" anchor="ctr"/>
          <a:lstStyle/>
          <a:p>
            <a:pPr marL="0" indent="0" algn="l">
              <a:buNone/>
            </a:pPr>
            <a:r>
              <a:rPr lang="es-MX" sz="3600" b="1" dirty="0">
                <a:solidFill>
                  <a:srgbClr val="FFFFFF"/>
                </a:solidFill>
                <a:latin typeface="Cambria" pitchFamily="34" charset="0"/>
                <a:ea typeface="Cambria" pitchFamily="34" charset="-122"/>
              </a:rPr>
              <a:t>12</a:t>
            </a:r>
            <a:endParaRPr lang="en-US" sz="3600" dirty="0"/>
          </a:p>
        </p:txBody>
      </p:sp>
      <p:sp>
        <p:nvSpPr>
          <p:cNvPr id="14" name="Text 12"/>
          <p:cNvSpPr/>
          <p:nvPr/>
        </p:nvSpPr>
        <p:spPr>
          <a:xfrm>
            <a:off x="7077456" y="4114800"/>
            <a:ext cx="2011680" cy="274320"/>
          </a:xfrm>
          <a:prstGeom prst="rect">
            <a:avLst/>
          </a:prstGeom>
          <a:noFill/>
          <a:ln/>
        </p:spPr>
        <p:txBody>
          <a:bodyPr wrap="square" rtlCol="0" anchor="ctr"/>
          <a:lstStyle/>
          <a:p>
            <a:pPr marL="0" indent="0" algn="l">
              <a:buNone/>
            </a:pPr>
            <a:r>
              <a:rPr lang="es-MX" sz="1000" dirty="0">
                <a:solidFill>
                  <a:schemeClr val="bg1"/>
                </a:solidFill>
              </a:rPr>
              <a:t>Coaching</a:t>
            </a:r>
            <a:r>
              <a:rPr lang="es-MX" sz="1000" dirty="0"/>
              <a:t> </a:t>
            </a:r>
            <a:r>
              <a:rPr lang="es-MX" sz="1000" dirty="0">
                <a:solidFill>
                  <a:schemeClr val="bg1"/>
                </a:solidFill>
              </a:rPr>
              <a:t>Sessions</a:t>
            </a:r>
            <a:r>
              <a:rPr lang="es-MX" sz="1000" dirty="0"/>
              <a:t> </a:t>
            </a:r>
            <a:endParaRPr lang="en-US" sz="1000" dirty="0"/>
          </a:p>
        </p:txBody>
      </p:sp>
      <p:sp>
        <p:nvSpPr>
          <p:cNvPr id="15" name="Shape 13"/>
          <p:cNvSpPr/>
          <p:nvPr/>
        </p:nvSpPr>
        <p:spPr>
          <a:xfrm>
            <a:off x="0" y="4983480"/>
            <a:ext cx="9144000" cy="164592"/>
          </a:xfrm>
          <a:prstGeom prst="rect">
            <a:avLst/>
          </a:prstGeom>
          <a:solidFill>
            <a:srgbClr val="1A4A63"/>
          </a:solidFill>
          <a:ln w="12700">
            <a:solidFill>
              <a:srgbClr val="1A4A63"/>
            </a:solidFill>
            <a:prstDash val="solid"/>
          </a:ln>
        </p:spPr>
        <p:txBody>
          <a:bodyPr/>
          <a:lstStyle/>
          <a:p>
            <a:endParaRPr lang="en-US"/>
          </a:p>
        </p:txBody>
      </p:sp>
      <p:sp>
        <p:nvSpPr>
          <p:cNvPr id="16" name="Text 14"/>
          <p:cNvSpPr/>
          <p:nvPr/>
        </p:nvSpPr>
        <p:spPr>
          <a:xfrm>
            <a:off x="548640" y="4864608"/>
            <a:ext cx="8046720" cy="256032"/>
          </a:xfrm>
          <a:prstGeom prst="rect">
            <a:avLst/>
          </a:prstGeom>
          <a:noFill/>
          <a:ln/>
        </p:spPr>
        <p:txBody>
          <a:bodyPr wrap="square" rtlCol="0" anchor="ctr"/>
          <a:lstStyle/>
          <a:p>
            <a:pPr marL="0" indent="0" algn="l">
              <a:buNone/>
            </a:pPr>
            <a:r>
              <a:rPr lang="en-US" sz="900" dirty="0">
                <a:solidFill>
                  <a:srgbClr val="EAF4FA"/>
                </a:solidFill>
                <a:latin typeface="Calibri" pitchFamily="34" charset="0"/>
                <a:ea typeface="Calibri" pitchFamily="34" charset="-122"/>
                <a:cs typeface="Calibri" pitchFamily="34" charset="-120"/>
              </a:rPr>
              <a:t>elementsmethod.com/roots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137160"/>
            <a:ext cx="8229600" cy="274320"/>
          </a:xfrm>
          <a:prstGeom prst="rect">
            <a:avLst/>
          </a:prstGeom>
          <a:noFill/>
          <a:ln/>
        </p:spPr>
        <p:txBody>
          <a:bodyPr wrap="square" rtlCol="0" anchor="ctr"/>
          <a:lstStyle/>
          <a:p>
            <a:pPr marL="0" indent="0" algn="l">
              <a:buNone/>
            </a:pPr>
            <a:r>
              <a:rPr lang="en-US" sz="900" b="1" kern="0" spc="400" dirty="0">
                <a:solidFill>
                  <a:srgbClr val="C9A96E"/>
                </a:solidFill>
                <a:latin typeface="Arial" pitchFamily="34" charset="0"/>
                <a:ea typeface="Arial" pitchFamily="34" charset="-122"/>
                <a:cs typeface="Arial" pitchFamily="34" charset="-120"/>
              </a:rPr>
              <a:t>RAÍCES — ARCO DE 4 MESES</a:t>
            </a:r>
            <a:endParaRPr lang="en-US" sz="900" dirty="0"/>
          </a:p>
        </p:txBody>
      </p:sp>
      <p:sp>
        <p:nvSpPr>
          <p:cNvPr id="4" name="Shape 2"/>
          <p:cNvSpPr/>
          <p:nvPr/>
        </p:nvSpPr>
        <p:spPr>
          <a:xfrm>
            <a:off x="502920" y="484632"/>
            <a:ext cx="8138160" cy="0"/>
          </a:xfrm>
          <a:prstGeom prst="line">
            <a:avLst/>
          </a:prstGeom>
          <a:noFill/>
          <a:ln w="12700">
            <a:solidFill>
              <a:srgbClr val="F4F2EE"/>
            </a:solidFill>
            <a:prstDash val="solid"/>
          </a:ln>
        </p:spPr>
        <p:txBody>
          <a:bodyPr/>
          <a:lstStyle/>
          <a:p>
            <a:endParaRPr lang="en-US"/>
          </a:p>
        </p:txBody>
      </p:sp>
      <p:sp>
        <p:nvSpPr>
          <p:cNvPr id="5" name="Text 3"/>
          <p:cNvSpPr/>
          <p:nvPr/>
        </p:nvSpPr>
        <p:spPr>
          <a:xfrm>
            <a:off x="502920" y="594360"/>
            <a:ext cx="8138160" cy="1005840"/>
          </a:xfrm>
          <a:prstGeom prst="rect">
            <a:avLst/>
          </a:prstGeom>
          <a:noFill/>
          <a:ln/>
        </p:spPr>
        <p:txBody>
          <a:bodyPr wrap="square" rtlCol="0" anchor="ctr"/>
          <a:lstStyle/>
          <a:p>
            <a:pPr marL="0" indent="0" algn="l">
              <a:buNone/>
            </a:pPr>
            <a:r>
              <a:rPr lang="en-US" sz="2600" b="1" dirty="0">
                <a:solidFill>
                  <a:srgbClr val="2C2C2A"/>
                </a:solidFill>
                <a:latin typeface="Cambria" pitchFamily="34" charset="0"/>
                <a:ea typeface="Cambria" pitchFamily="34" charset="-122"/>
                <a:cs typeface="Cambria" pitchFamily="34" charset="-120"/>
              </a:rPr>
              <a:t>Your Five Month Program </a:t>
            </a:r>
            <a:r>
              <a:rPr lang="en-US" sz="1600" b="1" dirty="0">
                <a:solidFill>
                  <a:srgbClr val="2C2C2A"/>
                </a:solidFill>
                <a:latin typeface="Cambria" pitchFamily="34" charset="0"/>
                <a:ea typeface="Cambria" pitchFamily="34" charset="-122"/>
                <a:cs typeface="Cambria" pitchFamily="34" charset="-120"/>
              </a:rPr>
              <a:t>(</a:t>
            </a:r>
            <a:r>
              <a:rPr lang="en-US" sz="1000" b="1" dirty="0" err="1">
                <a:solidFill>
                  <a:srgbClr val="2C2C2A"/>
                </a:solidFill>
                <a:latin typeface="Cambria" pitchFamily="34" charset="0"/>
                <a:ea typeface="Cambria" pitchFamily="34" charset="-122"/>
                <a:cs typeface="Cambria" pitchFamily="34" charset="-120"/>
              </a:rPr>
              <a:t>aqui</a:t>
            </a:r>
            <a:r>
              <a:rPr lang="en-US" sz="1000" b="1" dirty="0">
                <a:solidFill>
                  <a:srgbClr val="2C2C2A"/>
                </a:solidFill>
                <a:latin typeface="Cambria" pitchFamily="34" charset="0"/>
                <a:ea typeface="Cambria" pitchFamily="34" charset="-122"/>
                <a:cs typeface="Cambria" pitchFamily="34" charset="-120"/>
              </a:rPr>
              <a:t> las </a:t>
            </a:r>
            <a:r>
              <a:rPr lang="en-US" sz="1000" b="1" dirty="0" err="1">
                <a:solidFill>
                  <a:srgbClr val="2C2C2A"/>
                </a:solidFill>
                <a:latin typeface="Cambria" pitchFamily="34" charset="0"/>
                <a:ea typeface="Cambria" pitchFamily="34" charset="-122"/>
                <a:cs typeface="Cambria" pitchFamily="34" charset="-120"/>
              </a:rPr>
              <a:t>actividades</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serán</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publicadas</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en</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cada</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retiro</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por</a:t>
            </a:r>
            <a:r>
              <a:rPr lang="en-US" sz="1000" b="1" dirty="0">
                <a:solidFill>
                  <a:srgbClr val="2C2C2A"/>
                </a:solidFill>
                <a:latin typeface="Cambria" pitchFamily="34" charset="0"/>
                <a:ea typeface="Cambria" pitchFamily="34" charset="-122"/>
                <a:cs typeface="Cambria" pitchFamily="34" charset="-120"/>
              </a:rPr>
              <a:t> individual, Lo </a:t>
            </a:r>
            <a:r>
              <a:rPr lang="en-US" sz="1000" b="1" dirty="0" err="1">
                <a:solidFill>
                  <a:srgbClr val="2C2C2A"/>
                </a:solidFill>
                <a:latin typeface="Cambria" pitchFamily="34" charset="0"/>
                <a:ea typeface="Cambria" pitchFamily="34" charset="-122"/>
                <a:cs typeface="Cambria" pitchFamily="34" charset="-120"/>
              </a:rPr>
              <a:t>que</a:t>
            </a:r>
            <a:r>
              <a:rPr lang="en-US" sz="1000" b="1" dirty="0">
                <a:solidFill>
                  <a:srgbClr val="2C2C2A"/>
                </a:solidFill>
                <a:latin typeface="Cambria" pitchFamily="34" charset="0"/>
                <a:ea typeface="Cambria" pitchFamily="34" charset="-122"/>
                <a:cs typeface="Cambria" pitchFamily="34" charset="-120"/>
              </a:rPr>
              <a:t> no </a:t>
            </a:r>
            <a:r>
              <a:rPr lang="en-US" sz="1000" b="1" dirty="0" err="1">
                <a:solidFill>
                  <a:srgbClr val="2C2C2A"/>
                </a:solidFill>
                <a:latin typeface="Cambria" pitchFamily="34" charset="0"/>
                <a:ea typeface="Cambria" pitchFamily="34" charset="-122"/>
                <a:cs typeface="Cambria" pitchFamily="34" charset="-120"/>
              </a:rPr>
              <a:t>ambia</a:t>
            </a:r>
            <a:r>
              <a:rPr lang="en-US" sz="1000" b="1" dirty="0">
                <a:solidFill>
                  <a:srgbClr val="2C2C2A"/>
                </a:solidFill>
                <a:latin typeface="Cambria" pitchFamily="34" charset="0"/>
                <a:ea typeface="Cambria" pitchFamily="34" charset="-122"/>
                <a:cs typeface="Cambria" pitchFamily="34" charset="-120"/>
              </a:rPr>
              <a:t> es </a:t>
            </a:r>
            <a:r>
              <a:rPr lang="en-US" sz="1000" b="1" dirty="0" err="1">
                <a:solidFill>
                  <a:srgbClr val="2C2C2A"/>
                </a:solidFill>
                <a:latin typeface="Cambria" pitchFamily="34" charset="0"/>
                <a:ea typeface="Cambria" pitchFamily="34" charset="-122"/>
                <a:cs typeface="Cambria" pitchFamily="34" charset="-120"/>
              </a:rPr>
              <a:t>el</a:t>
            </a:r>
            <a:r>
              <a:rPr lang="en-US" sz="1000" b="1" dirty="0">
                <a:solidFill>
                  <a:srgbClr val="2C2C2A"/>
                </a:solidFill>
                <a:latin typeface="Cambria" pitchFamily="34" charset="0"/>
                <a:ea typeface="Cambria" pitchFamily="34" charset="-122"/>
                <a:cs typeface="Cambria" pitchFamily="34" charset="-120"/>
              </a:rPr>
              <a:t> patron – </a:t>
            </a:r>
            <a:r>
              <a:rPr lang="en-US" sz="1000" b="1" dirty="0" err="1">
                <a:solidFill>
                  <a:srgbClr val="2C2C2A"/>
                </a:solidFill>
                <a:latin typeface="Cambria" pitchFamily="34" charset="0"/>
                <a:ea typeface="Cambria" pitchFamily="34" charset="-122"/>
                <a:cs typeface="Cambria" pitchFamily="34" charset="-120"/>
              </a:rPr>
              <a:t>naturaleza</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metodologia</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experiencia</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inmersiva</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reflexion</a:t>
            </a:r>
            <a:r>
              <a:rPr lang="en-US" sz="1000" b="1" dirty="0">
                <a:solidFill>
                  <a:srgbClr val="2C2C2A"/>
                </a:solidFill>
                <a:latin typeface="Cambria" pitchFamily="34" charset="0"/>
                <a:ea typeface="Cambria" pitchFamily="34" charset="-122"/>
                <a:cs typeface="Cambria" pitchFamily="34" charset="-120"/>
              </a:rPr>
              <a:t> </a:t>
            </a:r>
            <a:r>
              <a:rPr lang="en-US" sz="1000" b="1" dirty="0" err="1">
                <a:solidFill>
                  <a:srgbClr val="2C2C2A"/>
                </a:solidFill>
                <a:latin typeface="Cambria" pitchFamily="34" charset="0"/>
                <a:ea typeface="Cambria" pitchFamily="34" charset="-122"/>
                <a:cs typeface="Cambria" pitchFamily="34" charset="-120"/>
              </a:rPr>
              <a:t>por</a:t>
            </a:r>
            <a:r>
              <a:rPr lang="en-US" sz="1000" b="1" dirty="0">
                <a:solidFill>
                  <a:srgbClr val="2C2C2A"/>
                </a:solidFill>
                <a:latin typeface="Cambria" pitchFamily="34" charset="0"/>
                <a:ea typeface="Cambria" pitchFamily="34" charset="-122"/>
                <a:cs typeface="Cambria" pitchFamily="34" charset="-120"/>
              </a:rPr>
              <a:t> </a:t>
            </a:r>
            <a:r>
              <a:rPr lang="es-MX" sz="1000" b="1" dirty="0" err="1">
                <a:solidFill>
                  <a:srgbClr val="2C2C2A"/>
                </a:solidFill>
                <a:latin typeface="Cambria" pitchFamily="34" charset="0"/>
                <a:ea typeface="Cambria" pitchFamily="34" charset="-122"/>
                <a:cs typeface="Cambria" pitchFamily="34" charset="-120"/>
              </a:rPr>
              <a:t>element</a:t>
            </a:r>
            <a:r>
              <a:rPr lang="en-US" sz="1000" b="1" dirty="0">
                <a:solidFill>
                  <a:srgbClr val="2C2C2A"/>
                </a:solidFill>
                <a:latin typeface="Cambria" pitchFamily="34" charset="0"/>
                <a:ea typeface="Cambria" pitchFamily="34" charset="-122"/>
                <a:cs typeface="Cambria" pitchFamily="34" charset="-120"/>
              </a:rPr>
              <a:t>o)</a:t>
            </a:r>
            <a:endParaRPr lang="en-US" sz="1000" dirty="0"/>
          </a:p>
        </p:txBody>
      </p:sp>
      <p:sp>
        <p:nvSpPr>
          <p:cNvPr id="6" name="Shape 4"/>
          <p:cNvSpPr/>
          <p:nvPr/>
        </p:nvSpPr>
        <p:spPr>
          <a:xfrm>
            <a:off x="320040" y="1417320"/>
            <a:ext cx="2057400" cy="2366673"/>
          </a:xfrm>
          <a:prstGeom prst="roundRect">
            <a:avLst>
              <a:gd name="adj" fmla="val 4444"/>
            </a:avLst>
          </a:prstGeom>
          <a:solidFill>
            <a:srgbClr val="EAF4FA"/>
          </a:solidFill>
          <a:ln w="12700">
            <a:solidFill>
              <a:srgbClr val="EAF4FA"/>
            </a:solidFill>
            <a:prstDash val="solid"/>
          </a:ln>
          <a:effectLst>
            <a:outerShdw blurRad="101600" dist="25400" dir="2700000" algn="bl" rotWithShape="0">
              <a:srgbClr val="000000">
                <a:alpha val="9000"/>
              </a:srgbClr>
            </a:outerShdw>
          </a:effectLst>
        </p:spPr>
        <p:txBody>
          <a:bodyPr/>
          <a:lstStyle/>
          <a:p>
            <a:endParaRPr lang="en-US"/>
          </a:p>
        </p:txBody>
      </p:sp>
      <p:sp>
        <p:nvSpPr>
          <p:cNvPr id="7" name="Shape 5"/>
          <p:cNvSpPr/>
          <p:nvPr/>
        </p:nvSpPr>
        <p:spPr>
          <a:xfrm>
            <a:off x="448056" y="1527048"/>
            <a:ext cx="914400" cy="256032"/>
          </a:xfrm>
          <a:prstGeom prst="roundRect">
            <a:avLst>
              <a:gd name="adj" fmla="val 50000"/>
            </a:avLst>
          </a:prstGeom>
          <a:solidFill>
            <a:srgbClr val="2B6B8A"/>
          </a:solidFill>
          <a:ln w="12700">
            <a:solidFill>
              <a:srgbClr val="2B6B8A"/>
            </a:solidFill>
            <a:prstDash val="solid"/>
          </a:ln>
        </p:spPr>
        <p:txBody>
          <a:bodyPr/>
          <a:lstStyle/>
          <a:p>
            <a:endParaRPr lang="en-US"/>
          </a:p>
        </p:txBody>
      </p:sp>
      <p:sp>
        <p:nvSpPr>
          <p:cNvPr id="8" name="Text 6"/>
          <p:cNvSpPr/>
          <p:nvPr/>
        </p:nvSpPr>
        <p:spPr>
          <a:xfrm>
            <a:off x="448056" y="152704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Month 1</a:t>
            </a:r>
            <a:endParaRPr lang="en-US" sz="800" dirty="0"/>
          </a:p>
        </p:txBody>
      </p:sp>
      <p:sp>
        <p:nvSpPr>
          <p:cNvPr id="9" name="Text 7"/>
          <p:cNvSpPr/>
          <p:nvPr/>
        </p:nvSpPr>
        <p:spPr>
          <a:xfrm>
            <a:off x="448056" y="1856232"/>
            <a:ext cx="1801368" cy="320040"/>
          </a:xfrm>
          <a:prstGeom prst="rect">
            <a:avLst/>
          </a:prstGeom>
          <a:noFill/>
          <a:ln/>
        </p:spPr>
        <p:txBody>
          <a:bodyPr wrap="square" lIns="0" tIns="0" rIns="0" bIns="0" rtlCol="0" anchor="ctr"/>
          <a:lstStyle/>
          <a:p>
            <a:pPr marL="0" indent="0" algn="l">
              <a:buNone/>
            </a:pPr>
            <a:r>
              <a:rPr lang="en-US" sz="1500" b="1" dirty="0">
                <a:solidFill>
                  <a:srgbClr val="2B6B8A"/>
                </a:solidFill>
                <a:latin typeface="Cambria" pitchFamily="34" charset="0"/>
                <a:ea typeface="Cambria" pitchFamily="34" charset="-122"/>
                <a:cs typeface="Cambria" pitchFamily="34" charset="-120"/>
              </a:rPr>
              <a:t>Water</a:t>
            </a:r>
            <a:endParaRPr lang="en-US" sz="1500" dirty="0"/>
          </a:p>
        </p:txBody>
      </p:sp>
      <p:sp>
        <p:nvSpPr>
          <p:cNvPr id="10" name="Text 8"/>
          <p:cNvSpPr/>
          <p:nvPr/>
        </p:nvSpPr>
        <p:spPr>
          <a:xfrm>
            <a:off x="448056" y="2194560"/>
            <a:ext cx="1801368" cy="237744"/>
          </a:xfrm>
          <a:prstGeom prst="rect">
            <a:avLst/>
          </a:prstGeom>
          <a:noFill/>
          <a:ln/>
        </p:spPr>
        <p:txBody>
          <a:bodyPr wrap="square" rtlCol="0" anchor="ctr"/>
          <a:lstStyle/>
          <a:p>
            <a:pPr marL="0" indent="0" algn="l">
              <a:buNone/>
            </a:pPr>
            <a:r>
              <a:rPr lang="en-US" sz="1000" b="1" dirty="0">
                <a:solidFill>
                  <a:srgbClr val="2B6B8A"/>
                </a:solidFill>
                <a:latin typeface="Calibri" pitchFamily="34" charset="0"/>
                <a:ea typeface="Calibri" pitchFamily="34" charset="-122"/>
                <a:cs typeface="Calibri" pitchFamily="34" charset="-120"/>
              </a:rPr>
              <a:t>Clarity &amp; Listening</a:t>
            </a:r>
            <a:endParaRPr lang="en-US" sz="1000" dirty="0"/>
          </a:p>
        </p:txBody>
      </p:sp>
      <p:sp>
        <p:nvSpPr>
          <p:cNvPr id="11" name="Text 9"/>
          <p:cNvSpPr/>
          <p:nvPr/>
        </p:nvSpPr>
        <p:spPr>
          <a:xfrm>
            <a:off x="448056" y="2450592"/>
            <a:ext cx="1801368" cy="219456"/>
          </a:xfrm>
          <a:prstGeom prst="rect">
            <a:avLst/>
          </a:prstGeom>
          <a:noFill/>
          <a:ln/>
        </p:spPr>
        <p:txBody>
          <a:bodyPr wrap="square" rtlCol="0" anchor="ctr"/>
          <a:lstStyle/>
          <a:p>
            <a:pPr marL="0" indent="0" algn="l">
              <a:buNone/>
            </a:pPr>
            <a:r>
              <a:rPr lang="en-US" sz="900" i="1" dirty="0">
                <a:solidFill>
                  <a:srgbClr val="5A5A55"/>
                </a:solidFill>
                <a:latin typeface="Calibri" pitchFamily="34" charset="0"/>
                <a:ea typeface="Calibri" pitchFamily="34" charset="-122"/>
                <a:cs typeface="Calibri" pitchFamily="34" charset="-120"/>
              </a:rPr>
              <a:t>The Element of Flow</a:t>
            </a:r>
            <a:endParaRPr lang="en-US" sz="900" dirty="0"/>
          </a:p>
        </p:txBody>
      </p:sp>
      <p:sp>
        <p:nvSpPr>
          <p:cNvPr id="12" name="Shape 10"/>
          <p:cNvSpPr/>
          <p:nvPr/>
        </p:nvSpPr>
        <p:spPr>
          <a:xfrm>
            <a:off x="448056" y="2706624"/>
            <a:ext cx="1801368" cy="0"/>
          </a:xfrm>
          <a:prstGeom prst="line">
            <a:avLst/>
          </a:prstGeom>
          <a:noFill/>
          <a:ln w="6350">
            <a:solidFill>
              <a:srgbClr val="2B6B8A">
                <a:alpha val="45000"/>
              </a:srgbClr>
            </a:solidFill>
            <a:prstDash val="solid"/>
          </a:ln>
        </p:spPr>
        <p:txBody>
          <a:bodyPr/>
          <a:lstStyle/>
          <a:p>
            <a:endParaRPr lang="en-US"/>
          </a:p>
        </p:txBody>
      </p:sp>
      <p:sp>
        <p:nvSpPr>
          <p:cNvPr id="13" name="Text 11"/>
          <p:cNvSpPr/>
          <p:nvPr/>
        </p:nvSpPr>
        <p:spPr>
          <a:xfrm>
            <a:off x="448056" y="2770632"/>
            <a:ext cx="1801368" cy="1280160"/>
          </a:xfrm>
          <a:prstGeom prst="rect">
            <a:avLst/>
          </a:prstGeom>
          <a:noFill/>
          <a:ln/>
        </p:spPr>
        <p:txBody>
          <a:bodyPr wrap="square" rtlCol="0" anchor="t"/>
          <a:lstStyle/>
          <a:p>
            <a:pPr marL="342900" indent="-342900" algn="l">
              <a:buSzPct val="100000"/>
              <a:buChar char="•"/>
            </a:pPr>
            <a:endParaRPr lang="en-US" sz="1000" dirty="0"/>
          </a:p>
          <a:p>
            <a:pPr marL="342900" indent="-342900" algn="l">
              <a:buSzPct val="100000"/>
              <a:buChar char="•"/>
            </a:pPr>
            <a:endParaRPr lang="en-US" sz="1000" dirty="0"/>
          </a:p>
        </p:txBody>
      </p:sp>
      <p:sp>
        <p:nvSpPr>
          <p:cNvPr id="14" name="Shape 12"/>
          <p:cNvSpPr/>
          <p:nvPr/>
        </p:nvSpPr>
        <p:spPr>
          <a:xfrm>
            <a:off x="2546604" y="1403734"/>
            <a:ext cx="2057400" cy="2441318"/>
          </a:xfrm>
          <a:prstGeom prst="roundRect">
            <a:avLst>
              <a:gd name="adj" fmla="val 4444"/>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15" name="Shape 13"/>
          <p:cNvSpPr/>
          <p:nvPr/>
        </p:nvSpPr>
        <p:spPr>
          <a:xfrm>
            <a:off x="2660904" y="1527048"/>
            <a:ext cx="914400" cy="256032"/>
          </a:xfrm>
          <a:prstGeom prst="roundRect">
            <a:avLst>
              <a:gd name="adj" fmla="val 50000"/>
            </a:avLst>
          </a:prstGeom>
          <a:solidFill>
            <a:srgbClr val="C4622D"/>
          </a:solidFill>
          <a:ln w="12700">
            <a:solidFill>
              <a:srgbClr val="C4622D"/>
            </a:solidFill>
            <a:prstDash val="solid"/>
          </a:ln>
        </p:spPr>
        <p:txBody>
          <a:bodyPr/>
          <a:lstStyle/>
          <a:p>
            <a:endParaRPr lang="en-US"/>
          </a:p>
        </p:txBody>
      </p:sp>
      <p:sp>
        <p:nvSpPr>
          <p:cNvPr id="16" name="Text 14"/>
          <p:cNvSpPr/>
          <p:nvPr/>
        </p:nvSpPr>
        <p:spPr>
          <a:xfrm>
            <a:off x="2660904" y="152704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Month 2</a:t>
            </a:r>
            <a:endParaRPr lang="en-US" sz="800" dirty="0"/>
          </a:p>
        </p:txBody>
      </p:sp>
      <p:sp>
        <p:nvSpPr>
          <p:cNvPr id="17" name="Text 15"/>
          <p:cNvSpPr/>
          <p:nvPr/>
        </p:nvSpPr>
        <p:spPr>
          <a:xfrm>
            <a:off x="2660904" y="1856232"/>
            <a:ext cx="1801368" cy="320040"/>
          </a:xfrm>
          <a:prstGeom prst="rect">
            <a:avLst/>
          </a:prstGeom>
          <a:noFill/>
          <a:ln/>
        </p:spPr>
        <p:txBody>
          <a:bodyPr wrap="square" lIns="0" tIns="0" rIns="0" bIns="0" rtlCol="0" anchor="ctr"/>
          <a:lstStyle/>
          <a:p>
            <a:pPr marL="0" indent="0" algn="l">
              <a:buNone/>
            </a:pPr>
            <a:r>
              <a:rPr lang="en-US" sz="1500" b="1" dirty="0">
                <a:solidFill>
                  <a:srgbClr val="C4622D"/>
                </a:solidFill>
                <a:latin typeface="Cambria" pitchFamily="34" charset="0"/>
                <a:ea typeface="Cambria" pitchFamily="34" charset="-122"/>
                <a:cs typeface="Cambria" pitchFamily="34" charset="-120"/>
              </a:rPr>
              <a:t>Fire</a:t>
            </a:r>
            <a:endParaRPr lang="en-US" sz="1500" dirty="0"/>
          </a:p>
        </p:txBody>
      </p:sp>
      <p:sp>
        <p:nvSpPr>
          <p:cNvPr id="18" name="Text 16"/>
          <p:cNvSpPr/>
          <p:nvPr/>
        </p:nvSpPr>
        <p:spPr>
          <a:xfrm>
            <a:off x="2660904" y="2194560"/>
            <a:ext cx="1801368" cy="237744"/>
          </a:xfrm>
          <a:prstGeom prst="rect">
            <a:avLst/>
          </a:prstGeom>
          <a:noFill/>
          <a:ln/>
        </p:spPr>
        <p:txBody>
          <a:bodyPr wrap="square" rtlCol="0" anchor="ctr"/>
          <a:lstStyle/>
          <a:p>
            <a:pPr marL="0" indent="0" algn="l">
              <a:buNone/>
            </a:pPr>
            <a:r>
              <a:rPr lang="en-US" sz="1000" b="1" dirty="0">
                <a:solidFill>
                  <a:srgbClr val="C4622D"/>
                </a:solidFill>
                <a:latin typeface="Calibri" pitchFamily="34" charset="0"/>
                <a:ea typeface="Calibri" pitchFamily="34" charset="-122"/>
                <a:cs typeface="Calibri" pitchFamily="34" charset="-120"/>
              </a:rPr>
              <a:t>Vision &amp; Activation</a:t>
            </a:r>
            <a:endParaRPr lang="en-US" sz="1000" dirty="0"/>
          </a:p>
        </p:txBody>
      </p:sp>
      <p:sp>
        <p:nvSpPr>
          <p:cNvPr id="19" name="Text 17"/>
          <p:cNvSpPr/>
          <p:nvPr/>
        </p:nvSpPr>
        <p:spPr>
          <a:xfrm>
            <a:off x="2660904" y="2450592"/>
            <a:ext cx="1801368" cy="219456"/>
          </a:xfrm>
          <a:prstGeom prst="rect">
            <a:avLst/>
          </a:prstGeom>
          <a:noFill/>
          <a:ln/>
        </p:spPr>
        <p:txBody>
          <a:bodyPr wrap="square" rtlCol="0" anchor="ctr"/>
          <a:lstStyle/>
          <a:p>
            <a:pPr marL="0" indent="0" algn="l">
              <a:buNone/>
            </a:pPr>
            <a:r>
              <a:rPr lang="en-US" sz="900" i="1" dirty="0">
                <a:solidFill>
                  <a:srgbClr val="5A5A55"/>
                </a:solidFill>
                <a:latin typeface="Calibri" pitchFamily="34" charset="0"/>
                <a:ea typeface="Calibri" pitchFamily="34" charset="-122"/>
                <a:cs typeface="Calibri" pitchFamily="34" charset="-120"/>
              </a:rPr>
              <a:t>The Element of Courage</a:t>
            </a:r>
            <a:endParaRPr lang="en-US" sz="900" dirty="0"/>
          </a:p>
        </p:txBody>
      </p:sp>
      <p:sp>
        <p:nvSpPr>
          <p:cNvPr id="20" name="Shape 18"/>
          <p:cNvSpPr/>
          <p:nvPr/>
        </p:nvSpPr>
        <p:spPr>
          <a:xfrm>
            <a:off x="2660904" y="2706624"/>
            <a:ext cx="1801368" cy="0"/>
          </a:xfrm>
          <a:prstGeom prst="line">
            <a:avLst/>
          </a:prstGeom>
          <a:noFill/>
          <a:ln w="6350">
            <a:solidFill>
              <a:srgbClr val="C4622D">
                <a:alpha val="45000"/>
              </a:srgbClr>
            </a:solidFill>
            <a:prstDash val="solid"/>
          </a:ln>
        </p:spPr>
        <p:txBody>
          <a:bodyPr/>
          <a:lstStyle/>
          <a:p>
            <a:endParaRPr lang="en-US"/>
          </a:p>
        </p:txBody>
      </p:sp>
      <p:sp>
        <p:nvSpPr>
          <p:cNvPr id="21" name="Text 19"/>
          <p:cNvSpPr/>
          <p:nvPr/>
        </p:nvSpPr>
        <p:spPr>
          <a:xfrm>
            <a:off x="2660904" y="2770632"/>
            <a:ext cx="1801368" cy="1280160"/>
          </a:xfrm>
          <a:prstGeom prst="rect">
            <a:avLst/>
          </a:prstGeom>
          <a:noFill/>
          <a:ln/>
        </p:spPr>
        <p:txBody>
          <a:bodyPr wrap="square" rtlCol="0" anchor="t"/>
          <a:lstStyle/>
          <a:p>
            <a:pPr marL="342900" indent="-342900" algn="l">
              <a:buSzPct val="100000"/>
              <a:buChar char="•"/>
            </a:pPr>
            <a:endParaRPr lang="en-US" sz="1000" dirty="0"/>
          </a:p>
        </p:txBody>
      </p:sp>
      <p:sp>
        <p:nvSpPr>
          <p:cNvPr id="22" name="Shape 20"/>
          <p:cNvSpPr/>
          <p:nvPr/>
        </p:nvSpPr>
        <p:spPr>
          <a:xfrm>
            <a:off x="4745736" y="1417320"/>
            <a:ext cx="2057400" cy="2486714"/>
          </a:xfrm>
          <a:prstGeom prst="roundRect">
            <a:avLst>
              <a:gd name="adj" fmla="val 4444"/>
            </a:avLst>
          </a:prstGeom>
          <a:solidFill>
            <a:srgbClr val="EEF5F9"/>
          </a:solidFill>
          <a:ln w="12700">
            <a:solidFill>
              <a:srgbClr val="EEF5F9"/>
            </a:solidFill>
            <a:prstDash val="solid"/>
          </a:ln>
          <a:effectLst>
            <a:outerShdw blurRad="101600" dist="25400" dir="2700000" algn="bl" rotWithShape="0">
              <a:srgbClr val="000000">
                <a:alpha val="9000"/>
              </a:srgbClr>
            </a:outerShdw>
          </a:effectLst>
        </p:spPr>
        <p:txBody>
          <a:bodyPr/>
          <a:lstStyle/>
          <a:p>
            <a:endParaRPr lang="en-US"/>
          </a:p>
        </p:txBody>
      </p:sp>
      <p:sp>
        <p:nvSpPr>
          <p:cNvPr id="23" name="Shape 21"/>
          <p:cNvSpPr/>
          <p:nvPr/>
        </p:nvSpPr>
        <p:spPr>
          <a:xfrm>
            <a:off x="4873752" y="1527048"/>
            <a:ext cx="914400" cy="256032"/>
          </a:xfrm>
          <a:prstGeom prst="roundRect">
            <a:avLst>
              <a:gd name="adj" fmla="val 50000"/>
            </a:avLst>
          </a:prstGeom>
          <a:solidFill>
            <a:srgbClr val="7A9BAD"/>
          </a:solidFill>
          <a:ln w="12700">
            <a:solidFill>
              <a:srgbClr val="7A9BAD"/>
            </a:solidFill>
            <a:prstDash val="solid"/>
          </a:ln>
        </p:spPr>
        <p:txBody>
          <a:bodyPr/>
          <a:lstStyle/>
          <a:p>
            <a:endParaRPr lang="en-US"/>
          </a:p>
        </p:txBody>
      </p:sp>
      <p:sp>
        <p:nvSpPr>
          <p:cNvPr id="24" name="Text 22"/>
          <p:cNvSpPr/>
          <p:nvPr/>
        </p:nvSpPr>
        <p:spPr>
          <a:xfrm>
            <a:off x="4873752" y="152704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Month 3</a:t>
            </a:r>
            <a:endParaRPr lang="en-US" sz="800" dirty="0"/>
          </a:p>
        </p:txBody>
      </p:sp>
      <p:sp>
        <p:nvSpPr>
          <p:cNvPr id="25" name="Text 23"/>
          <p:cNvSpPr/>
          <p:nvPr/>
        </p:nvSpPr>
        <p:spPr>
          <a:xfrm>
            <a:off x="4873752" y="1856232"/>
            <a:ext cx="1801368" cy="320040"/>
          </a:xfrm>
          <a:prstGeom prst="rect">
            <a:avLst/>
          </a:prstGeom>
          <a:noFill/>
          <a:ln/>
        </p:spPr>
        <p:txBody>
          <a:bodyPr wrap="square" lIns="0" tIns="0" rIns="0" bIns="0" rtlCol="0" anchor="ctr"/>
          <a:lstStyle/>
          <a:p>
            <a:pPr marL="0" indent="0" algn="l">
              <a:buNone/>
            </a:pPr>
            <a:r>
              <a:rPr lang="en-US" sz="1500" b="1" dirty="0">
                <a:solidFill>
                  <a:srgbClr val="7A9BAD"/>
                </a:solidFill>
                <a:latin typeface="Cambria" pitchFamily="34" charset="0"/>
                <a:ea typeface="Cambria" pitchFamily="34" charset="-122"/>
                <a:cs typeface="Cambria" pitchFamily="34" charset="-120"/>
              </a:rPr>
              <a:t>Air</a:t>
            </a:r>
            <a:endParaRPr lang="en-US" sz="1500" dirty="0"/>
          </a:p>
        </p:txBody>
      </p:sp>
      <p:sp>
        <p:nvSpPr>
          <p:cNvPr id="26" name="Text 24"/>
          <p:cNvSpPr/>
          <p:nvPr/>
        </p:nvSpPr>
        <p:spPr>
          <a:xfrm>
            <a:off x="4873752" y="2194560"/>
            <a:ext cx="1801368" cy="237744"/>
          </a:xfrm>
          <a:prstGeom prst="rect">
            <a:avLst/>
          </a:prstGeom>
          <a:noFill/>
          <a:ln/>
        </p:spPr>
        <p:txBody>
          <a:bodyPr wrap="square" rtlCol="0" anchor="ctr"/>
          <a:lstStyle/>
          <a:p>
            <a:pPr marL="0" indent="0" algn="l">
              <a:buNone/>
            </a:pPr>
            <a:r>
              <a:rPr lang="en-US" sz="1000" b="1" dirty="0">
                <a:solidFill>
                  <a:srgbClr val="7A9BAD"/>
                </a:solidFill>
                <a:latin typeface="Calibri" pitchFamily="34" charset="0"/>
                <a:ea typeface="Calibri" pitchFamily="34" charset="-122"/>
                <a:cs typeface="Calibri" pitchFamily="34" charset="-120"/>
              </a:rPr>
              <a:t>Perspective &amp; Communication</a:t>
            </a:r>
            <a:endParaRPr lang="en-US" sz="1000" dirty="0"/>
          </a:p>
        </p:txBody>
      </p:sp>
      <p:sp>
        <p:nvSpPr>
          <p:cNvPr id="27" name="Text 25"/>
          <p:cNvSpPr/>
          <p:nvPr/>
        </p:nvSpPr>
        <p:spPr>
          <a:xfrm>
            <a:off x="4873752" y="2450592"/>
            <a:ext cx="1801368" cy="219456"/>
          </a:xfrm>
          <a:prstGeom prst="rect">
            <a:avLst/>
          </a:prstGeom>
          <a:noFill/>
          <a:ln/>
        </p:spPr>
        <p:txBody>
          <a:bodyPr wrap="square" rtlCol="0" anchor="ctr"/>
          <a:lstStyle/>
          <a:p>
            <a:pPr marL="0" indent="0" algn="l">
              <a:buNone/>
            </a:pPr>
            <a:r>
              <a:rPr lang="en-US" sz="900" i="1" dirty="0">
                <a:solidFill>
                  <a:srgbClr val="5A5A55"/>
                </a:solidFill>
                <a:latin typeface="Calibri" pitchFamily="34" charset="0"/>
                <a:ea typeface="Calibri" pitchFamily="34" charset="-122"/>
                <a:cs typeface="Calibri" pitchFamily="34" charset="-120"/>
              </a:rPr>
              <a:t>The Element of Freedom</a:t>
            </a:r>
            <a:endParaRPr lang="en-US" sz="900" dirty="0"/>
          </a:p>
        </p:txBody>
      </p:sp>
      <p:sp>
        <p:nvSpPr>
          <p:cNvPr id="28" name="Shape 26"/>
          <p:cNvSpPr/>
          <p:nvPr/>
        </p:nvSpPr>
        <p:spPr>
          <a:xfrm>
            <a:off x="4873752" y="2706624"/>
            <a:ext cx="1801368" cy="0"/>
          </a:xfrm>
          <a:prstGeom prst="line">
            <a:avLst/>
          </a:prstGeom>
          <a:noFill/>
          <a:ln w="6350">
            <a:solidFill>
              <a:srgbClr val="7A9BAD">
                <a:alpha val="45000"/>
              </a:srgbClr>
            </a:solidFill>
            <a:prstDash val="solid"/>
          </a:ln>
        </p:spPr>
        <p:txBody>
          <a:bodyPr/>
          <a:lstStyle/>
          <a:p>
            <a:endParaRPr lang="en-US"/>
          </a:p>
        </p:txBody>
      </p:sp>
      <p:sp>
        <p:nvSpPr>
          <p:cNvPr id="29" name="Text 27"/>
          <p:cNvSpPr/>
          <p:nvPr/>
        </p:nvSpPr>
        <p:spPr>
          <a:xfrm>
            <a:off x="4873752" y="2770632"/>
            <a:ext cx="1801368" cy="1280160"/>
          </a:xfrm>
          <a:prstGeom prst="rect">
            <a:avLst/>
          </a:prstGeom>
          <a:noFill/>
          <a:ln/>
        </p:spPr>
        <p:txBody>
          <a:bodyPr wrap="square" rtlCol="0" anchor="t"/>
          <a:lstStyle/>
          <a:p>
            <a:pPr marL="342900" indent="-342900" algn="l">
              <a:buSzPct val="100000"/>
              <a:buChar char="•"/>
            </a:pPr>
            <a:endParaRPr lang="en-US" sz="1000" dirty="0"/>
          </a:p>
        </p:txBody>
      </p:sp>
      <p:sp>
        <p:nvSpPr>
          <p:cNvPr id="30" name="Shape 28"/>
          <p:cNvSpPr/>
          <p:nvPr/>
        </p:nvSpPr>
        <p:spPr>
          <a:xfrm>
            <a:off x="6958584" y="1417320"/>
            <a:ext cx="2057400" cy="2523740"/>
          </a:xfrm>
          <a:prstGeom prst="roundRect">
            <a:avLst>
              <a:gd name="adj" fmla="val 4444"/>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31" name="Shape 29"/>
          <p:cNvSpPr/>
          <p:nvPr/>
        </p:nvSpPr>
        <p:spPr>
          <a:xfrm>
            <a:off x="7086600" y="1527048"/>
            <a:ext cx="914400" cy="256032"/>
          </a:xfrm>
          <a:prstGeom prst="roundRect">
            <a:avLst>
              <a:gd name="adj" fmla="val 50000"/>
            </a:avLst>
          </a:prstGeom>
          <a:solidFill>
            <a:srgbClr val="3D5A3E"/>
          </a:solidFill>
          <a:ln w="12700">
            <a:solidFill>
              <a:srgbClr val="3D5A3E"/>
            </a:solidFill>
            <a:prstDash val="solid"/>
          </a:ln>
        </p:spPr>
        <p:txBody>
          <a:bodyPr/>
          <a:lstStyle/>
          <a:p>
            <a:endParaRPr lang="en-US"/>
          </a:p>
        </p:txBody>
      </p:sp>
      <p:sp>
        <p:nvSpPr>
          <p:cNvPr id="32" name="Text 30"/>
          <p:cNvSpPr/>
          <p:nvPr/>
        </p:nvSpPr>
        <p:spPr>
          <a:xfrm>
            <a:off x="7086600" y="152704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Month 4</a:t>
            </a:r>
            <a:endParaRPr lang="en-US" sz="800" dirty="0"/>
          </a:p>
        </p:txBody>
      </p:sp>
      <p:sp>
        <p:nvSpPr>
          <p:cNvPr id="33" name="Text 31"/>
          <p:cNvSpPr/>
          <p:nvPr/>
        </p:nvSpPr>
        <p:spPr>
          <a:xfrm>
            <a:off x="7086600" y="1856232"/>
            <a:ext cx="1801368" cy="320040"/>
          </a:xfrm>
          <a:prstGeom prst="rect">
            <a:avLst/>
          </a:prstGeom>
          <a:noFill/>
          <a:ln/>
        </p:spPr>
        <p:txBody>
          <a:bodyPr wrap="square" lIns="0" tIns="0" rIns="0" bIns="0" rtlCol="0" anchor="ctr"/>
          <a:lstStyle/>
          <a:p>
            <a:pPr marL="0" indent="0" algn="l">
              <a:buNone/>
            </a:pPr>
            <a:r>
              <a:rPr lang="en-US" sz="1500" b="1" dirty="0">
                <a:solidFill>
                  <a:srgbClr val="3D5A3E"/>
                </a:solidFill>
                <a:latin typeface="Cambria" pitchFamily="34" charset="0"/>
                <a:ea typeface="Cambria" pitchFamily="34" charset="-122"/>
                <a:cs typeface="Cambria" pitchFamily="34" charset="-120"/>
              </a:rPr>
              <a:t>Earth</a:t>
            </a:r>
            <a:endParaRPr lang="en-US" sz="1500" dirty="0"/>
          </a:p>
        </p:txBody>
      </p:sp>
      <p:sp>
        <p:nvSpPr>
          <p:cNvPr id="34" name="Text 32"/>
          <p:cNvSpPr/>
          <p:nvPr/>
        </p:nvSpPr>
        <p:spPr>
          <a:xfrm>
            <a:off x="7086600" y="2194560"/>
            <a:ext cx="1801368" cy="237744"/>
          </a:xfrm>
          <a:prstGeom prst="rect">
            <a:avLst/>
          </a:prstGeom>
          <a:noFill/>
          <a:ln/>
        </p:spPr>
        <p:txBody>
          <a:bodyPr wrap="square" rtlCol="0" anchor="ctr"/>
          <a:lstStyle/>
          <a:p>
            <a:pPr marL="0" indent="0" algn="l">
              <a:buNone/>
            </a:pPr>
            <a:r>
              <a:rPr lang="en-US" sz="1000" b="1" dirty="0">
                <a:solidFill>
                  <a:srgbClr val="3D5A3E"/>
                </a:solidFill>
                <a:latin typeface="Calibri" pitchFamily="34" charset="0"/>
                <a:ea typeface="Calibri" pitchFamily="34" charset="-122"/>
                <a:cs typeface="Calibri" pitchFamily="34" charset="-120"/>
              </a:rPr>
              <a:t>Grounding &amp; Trust</a:t>
            </a:r>
            <a:endParaRPr lang="en-US" sz="1000" dirty="0"/>
          </a:p>
        </p:txBody>
      </p:sp>
      <p:sp>
        <p:nvSpPr>
          <p:cNvPr id="35" name="Text 33"/>
          <p:cNvSpPr/>
          <p:nvPr/>
        </p:nvSpPr>
        <p:spPr>
          <a:xfrm>
            <a:off x="7086600" y="2450592"/>
            <a:ext cx="1801368" cy="219456"/>
          </a:xfrm>
          <a:prstGeom prst="rect">
            <a:avLst/>
          </a:prstGeom>
          <a:noFill/>
          <a:ln/>
        </p:spPr>
        <p:txBody>
          <a:bodyPr wrap="square" rtlCol="0" anchor="ctr"/>
          <a:lstStyle/>
          <a:p>
            <a:pPr marL="0" indent="0" algn="l">
              <a:buNone/>
            </a:pPr>
            <a:r>
              <a:rPr lang="en-US" sz="900" i="1" dirty="0">
                <a:solidFill>
                  <a:srgbClr val="5A5A55"/>
                </a:solidFill>
                <a:latin typeface="Calibri" pitchFamily="34" charset="0"/>
                <a:ea typeface="Calibri" pitchFamily="34" charset="-122"/>
                <a:cs typeface="Calibri" pitchFamily="34" charset="-120"/>
              </a:rPr>
              <a:t>The Element of Roots</a:t>
            </a:r>
            <a:endParaRPr lang="en-US" sz="900" dirty="0"/>
          </a:p>
        </p:txBody>
      </p:sp>
      <p:sp>
        <p:nvSpPr>
          <p:cNvPr id="36" name="Shape 34"/>
          <p:cNvSpPr/>
          <p:nvPr/>
        </p:nvSpPr>
        <p:spPr>
          <a:xfrm>
            <a:off x="7086600" y="2706624"/>
            <a:ext cx="1801368" cy="0"/>
          </a:xfrm>
          <a:prstGeom prst="line">
            <a:avLst/>
          </a:prstGeom>
          <a:noFill/>
          <a:ln w="6350">
            <a:solidFill>
              <a:srgbClr val="3D5A3E">
                <a:alpha val="45000"/>
              </a:srgbClr>
            </a:solidFill>
            <a:prstDash val="solid"/>
          </a:ln>
        </p:spPr>
        <p:txBody>
          <a:bodyPr/>
          <a:lstStyle/>
          <a:p>
            <a:endParaRPr lang="en-US"/>
          </a:p>
        </p:txBody>
      </p:sp>
      <p:sp>
        <p:nvSpPr>
          <p:cNvPr id="37" name="Text 35"/>
          <p:cNvSpPr/>
          <p:nvPr/>
        </p:nvSpPr>
        <p:spPr>
          <a:xfrm>
            <a:off x="7086600" y="2770632"/>
            <a:ext cx="1801368" cy="1280160"/>
          </a:xfrm>
          <a:prstGeom prst="rect">
            <a:avLst/>
          </a:prstGeom>
          <a:noFill/>
          <a:ln/>
        </p:spPr>
        <p:txBody>
          <a:bodyPr wrap="square" rtlCol="0" anchor="t"/>
          <a:lstStyle/>
          <a:p>
            <a:pPr marL="342900" indent="-342900" algn="l">
              <a:buSzPct val="100000"/>
              <a:buChar char="•"/>
            </a:pPr>
            <a:endParaRPr lang="en-US" sz="1000" dirty="0"/>
          </a:p>
        </p:txBody>
      </p:sp>
      <p:sp>
        <p:nvSpPr>
          <p:cNvPr id="38" name="Text 36"/>
          <p:cNvSpPr/>
          <p:nvPr/>
        </p:nvSpPr>
        <p:spPr>
          <a:xfrm>
            <a:off x="502920" y="4873752"/>
            <a:ext cx="8138160" cy="256032"/>
          </a:xfrm>
          <a:prstGeom prst="rect">
            <a:avLst/>
          </a:prstGeom>
          <a:noFill/>
          <a:ln/>
        </p:spPr>
        <p:txBody>
          <a:bodyPr wrap="square" rtlCol="0" anchor="ctr"/>
          <a:lstStyle/>
          <a:p>
            <a:pPr marL="0" indent="0" algn="ctr">
              <a:buNone/>
            </a:pPr>
            <a:r>
              <a:rPr lang="en-US" sz="1000" i="1" dirty="0">
                <a:solidFill>
                  <a:srgbClr val="5A5A55"/>
                </a:solidFill>
                <a:latin typeface="Calibri" pitchFamily="34" charset="0"/>
                <a:ea typeface="Calibri" pitchFamily="34" charset="-122"/>
                <a:cs typeface="Calibri" pitchFamily="34" charset="-120"/>
              </a:rPr>
              <a:t>A 4-month journey through all four elements — designed for leaders who are ready to go deeper.</a:t>
            </a:r>
            <a:endParaRPr lang="en-US" sz="1000" dirty="0"/>
          </a:p>
        </p:txBody>
      </p:sp>
      <p:pic>
        <p:nvPicPr>
          <p:cNvPr id="40" name="Picture 39">
            <a:extLst>
              <a:ext uri="{FF2B5EF4-FFF2-40B4-BE49-F238E27FC236}">
                <a16:creationId xmlns:a16="http://schemas.microsoft.com/office/drawing/2014/main" id="{96BE3BD0-1E2F-C878-940D-DB7C93393361}"/>
              </a:ext>
            </a:extLst>
          </p:cNvPr>
          <p:cNvPicPr>
            <a:picLocks noChangeAspect="1"/>
          </p:cNvPicPr>
          <p:nvPr/>
        </p:nvPicPr>
        <p:blipFill>
          <a:blip r:embed="rId3"/>
          <a:stretch>
            <a:fillRect/>
          </a:stretch>
        </p:blipFill>
        <p:spPr>
          <a:xfrm>
            <a:off x="1689889" y="3958377"/>
            <a:ext cx="5544765" cy="831456"/>
          </a:xfrm>
          <a:prstGeom prst="rect">
            <a:avLst/>
          </a:prstGeom>
        </p:spPr>
      </p:pic>
      <p:pic>
        <p:nvPicPr>
          <p:cNvPr id="42" name="Picture 41">
            <a:extLst>
              <a:ext uri="{FF2B5EF4-FFF2-40B4-BE49-F238E27FC236}">
                <a16:creationId xmlns:a16="http://schemas.microsoft.com/office/drawing/2014/main" id="{293BA9DA-D52D-B707-2277-37E8535F073D}"/>
              </a:ext>
            </a:extLst>
          </p:cNvPr>
          <p:cNvPicPr>
            <a:picLocks noChangeAspect="1"/>
          </p:cNvPicPr>
          <p:nvPr/>
        </p:nvPicPr>
        <p:blipFill>
          <a:blip r:embed="rId4"/>
          <a:stretch>
            <a:fillRect/>
          </a:stretch>
        </p:blipFill>
        <p:spPr>
          <a:xfrm>
            <a:off x="1934823" y="4019390"/>
            <a:ext cx="926672" cy="268247"/>
          </a:xfrm>
          <a:prstGeom prst="rect">
            <a:avLst/>
          </a:prstGeom>
          <a:solidFill>
            <a:schemeClr val="accent4">
              <a:lumMod val="40000"/>
              <a:lumOff val="60000"/>
            </a:schemeClr>
          </a:solidFill>
        </p:spPr>
      </p:pic>
      <p:sp>
        <p:nvSpPr>
          <p:cNvPr id="44" name="TextBox 43">
            <a:extLst>
              <a:ext uri="{FF2B5EF4-FFF2-40B4-BE49-F238E27FC236}">
                <a16:creationId xmlns:a16="http://schemas.microsoft.com/office/drawing/2014/main" id="{77F9A939-C8DA-99C6-79D8-00042D5055BA}"/>
              </a:ext>
            </a:extLst>
          </p:cNvPr>
          <p:cNvSpPr txBox="1"/>
          <p:nvPr/>
        </p:nvSpPr>
        <p:spPr>
          <a:xfrm>
            <a:off x="2042648" y="4023990"/>
            <a:ext cx="773704" cy="261610"/>
          </a:xfrm>
          <a:prstGeom prst="rect">
            <a:avLst/>
          </a:prstGeom>
          <a:noFill/>
        </p:spPr>
        <p:txBody>
          <a:bodyPr wrap="square">
            <a:spAutoFit/>
          </a:bodyPr>
          <a:lstStyle/>
          <a:p>
            <a:r>
              <a:rPr lang="es-MX" sz="1100" dirty="0">
                <a:solidFill>
                  <a:schemeClr val="bg1"/>
                </a:solidFill>
              </a:rPr>
              <a:t>M</a:t>
            </a:r>
            <a:r>
              <a:rPr lang="en-US" sz="1100" dirty="0" err="1">
                <a:solidFill>
                  <a:schemeClr val="bg1"/>
                </a:solidFill>
              </a:rPr>
              <a:t>onth</a:t>
            </a:r>
            <a:r>
              <a:rPr lang="en-US" sz="1100" dirty="0">
                <a:solidFill>
                  <a:schemeClr val="bg1"/>
                </a:solidFill>
              </a:rPr>
              <a:t> 5</a:t>
            </a:r>
          </a:p>
        </p:txBody>
      </p:sp>
      <p:sp>
        <p:nvSpPr>
          <p:cNvPr id="47" name="Text 15">
            <a:extLst>
              <a:ext uri="{FF2B5EF4-FFF2-40B4-BE49-F238E27FC236}">
                <a16:creationId xmlns:a16="http://schemas.microsoft.com/office/drawing/2014/main" id="{4B68CCF2-C6F1-44E4-8B1C-DED5628B63E9}"/>
              </a:ext>
            </a:extLst>
          </p:cNvPr>
          <p:cNvSpPr/>
          <p:nvPr/>
        </p:nvSpPr>
        <p:spPr>
          <a:xfrm>
            <a:off x="2944368" y="3989749"/>
            <a:ext cx="3858768" cy="320040"/>
          </a:xfrm>
          <a:prstGeom prst="rect">
            <a:avLst/>
          </a:prstGeom>
          <a:noFill/>
          <a:ln/>
        </p:spPr>
        <p:txBody>
          <a:bodyPr wrap="square" lIns="0" tIns="0" rIns="0" bIns="0" rtlCol="0" anchor="ctr"/>
          <a:lstStyle/>
          <a:p>
            <a:pPr marL="0" indent="0" algn="l">
              <a:buNone/>
            </a:pPr>
            <a:r>
              <a:rPr lang="es-MX" sz="1500" b="1" dirty="0">
                <a:solidFill>
                  <a:srgbClr val="C4622D"/>
                </a:solidFill>
                <a:latin typeface="Cambria" pitchFamily="34" charset="0"/>
                <a:ea typeface="Cambria" pitchFamily="34" charset="-122"/>
              </a:rPr>
              <a:t>Éter </a:t>
            </a:r>
          </a:p>
          <a:p>
            <a:pPr marL="0" indent="0" algn="l">
              <a:buNone/>
            </a:pPr>
            <a:r>
              <a:rPr lang="es-MX" sz="900" b="1"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The </a:t>
            </a:r>
            <a:r>
              <a:rPr lang="es-MX" sz="900" b="1" i="1"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element</a:t>
            </a:r>
            <a:r>
              <a:rPr lang="es-MX" sz="900" b="1"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s-MX" sz="900" b="1" i="1"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of</a:t>
            </a:r>
            <a:r>
              <a:rPr lang="es-MX" sz="900" b="1"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s-MX" sz="900" b="1" i="1"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consciousness</a:t>
            </a:r>
            <a:r>
              <a:rPr lang="es-MX" sz="900" b="1"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s-MX" sz="900" b="1" i="1"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connection</a:t>
            </a:r>
            <a:r>
              <a:rPr lang="es-MX" sz="900" b="1"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s-MX" sz="900" b="1" i="1"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intention</a:t>
            </a:r>
            <a:r>
              <a:rPr lang="es-MX" sz="900" b="1"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and </a:t>
            </a:r>
            <a:r>
              <a:rPr lang="es-MX" sz="900" b="1" i="1"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purpose</a:t>
            </a:r>
            <a:r>
              <a:rPr lang="es-MX" sz="900" b="1" dirty="0">
                <a:solidFill>
                  <a:srgbClr val="C4622D"/>
                </a:solidFill>
                <a:latin typeface="Calibri" panose="020F0502020204030204" pitchFamily="34" charset="0"/>
                <a:ea typeface="Calibri" panose="020F0502020204030204" pitchFamily="34" charset="0"/>
                <a:cs typeface="Calibri" panose="020F0502020204030204" pitchFamily="34" charset="0"/>
              </a:rPr>
              <a:t> </a:t>
            </a:r>
            <a:endParaRPr lang="en-US" sz="9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137160"/>
            <a:ext cx="8229600" cy="274320"/>
          </a:xfrm>
          <a:prstGeom prst="rect">
            <a:avLst/>
          </a:prstGeom>
          <a:noFill/>
          <a:ln/>
        </p:spPr>
        <p:txBody>
          <a:bodyPr wrap="square" rtlCol="0" anchor="ctr"/>
          <a:lstStyle/>
          <a:p>
            <a:pPr marL="0" indent="0" algn="l">
              <a:buNone/>
            </a:pPr>
            <a:r>
              <a:rPr lang="en-US" sz="900" b="1" kern="0" spc="400" dirty="0">
                <a:solidFill>
                  <a:srgbClr val="C9A96E"/>
                </a:solidFill>
                <a:latin typeface="Arial" pitchFamily="34" charset="0"/>
                <a:ea typeface="Arial" pitchFamily="34" charset="-122"/>
                <a:cs typeface="Arial" pitchFamily="34" charset="-120"/>
              </a:rPr>
              <a:t>RAÍCES — QUÉ INCLUYE · PARA QUIÉN · CTA</a:t>
            </a:r>
            <a:endParaRPr lang="en-US" sz="900" dirty="0"/>
          </a:p>
        </p:txBody>
      </p:sp>
      <p:sp>
        <p:nvSpPr>
          <p:cNvPr id="4" name="Shape 2"/>
          <p:cNvSpPr/>
          <p:nvPr/>
        </p:nvSpPr>
        <p:spPr>
          <a:xfrm>
            <a:off x="502920" y="484632"/>
            <a:ext cx="8138160" cy="0"/>
          </a:xfrm>
          <a:prstGeom prst="line">
            <a:avLst/>
          </a:prstGeom>
          <a:noFill/>
          <a:ln w="12700">
            <a:solidFill>
              <a:srgbClr val="F4F2EE"/>
            </a:solidFill>
            <a:prstDash val="solid"/>
          </a:ln>
        </p:spPr>
        <p:txBody>
          <a:bodyPr/>
          <a:lstStyle/>
          <a:p>
            <a:endParaRPr lang="en-US"/>
          </a:p>
        </p:txBody>
      </p:sp>
      <p:sp>
        <p:nvSpPr>
          <p:cNvPr id="5" name="Text 3"/>
          <p:cNvSpPr/>
          <p:nvPr/>
        </p:nvSpPr>
        <p:spPr>
          <a:xfrm>
            <a:off x="502920" y="594360"/>
            <a:ext cx="8229600" cy="365760"/>
          </a:xfrm>
          <a:prstGeom prst="rect">
            <a:avLst/>
          </a:prstGeom>
          <a:noFill/>
          <a:ln/>
        </p:spPr>
        <p:txBody>
          <a:bodyPr wrap="square" rtlCol="0" anchor="ctr"/>
          <a:lstStyle/>
          <a:p>
            <a:pPr marL="0" indent="0" algn="l">
              <a:buNone/>
            </a:pPr>
            <a:r>
              <a:rPr lang="en-US" sz="1800" b="1" dirty="0">
                <a:solidFill>
                  <a:srgbClr val="2C2C2A"/>
                </a:solidFill>
                <a:latin typeface="Cambria" pitchFamily="34" charset="0"/>
                <a:ea typeface="Cambria" pitchFamily="34" charset="-122"/>
                <a:cs typeface="Cambria" pitchFamily="34" charset="-120"/>
              </a:rPr>
              <a:t>Everything You Need to Go Deep</a:t>
            </a:r>
            <a:endParaRPr lang="en-US" sz="1800" dirty="0"/>
          </a:p>
        </p:txBody>
      </p:sp>
      <p:sp>
        <p:nvSpPr>
          <p:cNvPr id="6" name="Shape 4"/>
          <p:cNvSpPr/>
          <p:nvPr/>
        </p:nvSpPr>
        <p:spPr>
          <a:xfrm>
            <a:off x="320040" y="1051560"/>
            <a:ext cx="2788920" cy="1463040"/>
          </a:xfrm>
          <a:prstGeom prst="roundRect">
            <a:avLst>
              <a:gd name="adj" fmla="val 6250"/>
            </a:avLst>
          </a:prstGeom>
          <a:solidFill>
            <a:srgbClr val="EAF4FA"/>
          </a:solidFill>
          <a:ln w="12700">
            <a:solidFill>
              <a:srgbClr val="EAF4FA"/>
            </a:solidFill>
            <a:prstDash val="solid"/>
          </a:ln>
          <a:effectLst>
            <a:outerShdw blurRad="101600" dist="25400" dir="2700000" algn="bl" rotWithShape="0">
              <a:srgbClr val="000000">
                <a:alpha val="9000"/>
              </a:srgbClr>
            </a:outerShdw>
          </a:effectLst>
        </p:spPr>
        <p:txBody>
          <a:bodyPr/>
          <a:lstStyle/>
          <a:p>
            <a:endParaRPr lang="en-US"/>
          </a:p>
        </p:txBody>
      </p:sp>
      <p:sp>
        <p:nvSpPr>
          <p:cNvPr id="7" name="Text 5"/>
          <p:cNvSpPr/>
          <p:nvPr/>
        </p:nvSpPr>
        <p:spPr>
          <a:xfrm>
            <a:off x="457200" y="1179576"/>
            <a:ext cx="2514600" cy="292608"/>
          </a:xfrm>
          <a:prstGeom prst="rect">
            <a:avLst/>
          </a:prstGeom>
          <a:noFill/>
          <a:ln/>
        </p:spPr>
        <p:txBody>
          <a:bodyPr wrap="square" lIns="0" tIns="0" rIns="0" bIns="0" rtlCol="0" anchor="ctr"/>
          <a:lstStyle/>
          <a:p>
            <a:pPr marL="0" indent="0" algn="l">
              <a:buNone/>
            </a:pPr>
            <a:r>
              <a:rPr lang="en-US" sz="1200" b="1" dirty="0">
                <a:solidFill>
                  <a:srgbClr val="2B6B8A"/>
                </a:solidFill>
                <a:latin typeface="Cambria" pitchFamily="34" charset="0"/>
                <a:ea typeface="Cambria" pitchFamily="34" charset="-122"/>
                <a:cs typeface="Cambria" pitchFamily="34" charset="-120"/>
              </a:rPr>
              <a:t>In-Person Immersions</a:t>
            </a:r>
            <a:endParaRPr lang="en-US" sz="1200" dirty="0"/>
          </a:p>
        </p:txBody>
      </p:sp>
      <p:sp>
        <p:nvSpPr>
          <p:cNvPr id="8" name="Text 6"/>
          <p:cNvSpPr/>
          <p:nvPr/>
        </p:nvSpPr>
        <p:spPr>
          <a:xfrm>
            <a:off x="457200" y="1508760"/>
            <a:ext cx="2514600" cy="868680"/>
          </a:xfrm>
          <a:prstGeom prst="rect">
            <a:avLst/>
          </a:prstGeom>
          <a:noFill/>
          <a:ln/>
        </p:spPr>
        <p:txBody>
          <a:bodyPr wrap="square" rtlCol="0" anchor="t"/>
          <a:lstStyle/>
          <a:p>
            <a:pPr marL="0" indent="0" algn="l">
              <a:buNone/>
            </a:pPr>
            <a:r>
              <a:rPr lang="en-US" sz="1050" dirty="0">
                <a:solidFill>
                  <a:srgbClr val="2C2C2A"/>
                </a:solidFill>
                <a:latin typeface="Calibri" pitchFamily="34" charset="0"/>
                <a:ea typeface="Calibri" pitchFamily="34" charset="-122"/>
                <a:cs typeface="Calibri" pitchFamily="34" charset="-120"/>
              </a:rPr>
              <a:t>Full-day experiences in carefully selected natural environments. Each location is chosen to embody its element and create conditions for genuine transformation.</a:t>
            </a:r>
            <a:endParaRPr lang="en-US" sz="1050" dirty="0"/>
          </a:p>
        </p:txBody>
      </p:sp>
      <p:sp>
        <p:nvSpPr>
          <p:cNvPr id="9" name="Shape 7"/>
          <p:cNvSpPr/>
          <p:nvPr/>
        </p:nvSpPr>
        <p:spPr>
          <a:xfrm>
            <a:off x="3264408" y="1051560"/>
            <a:ext cx="2788920" cy="1463040"/>
          </a:xfrm>
          <a:prstGeom prst="roundRect">
            <a:avLst>
              <a:gd name="adj" fmla="val 6250"/>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10" name="Text 8"/>
          <p:cNvSpPr/>
          <p:nvPr/>
        </p:nvSpPr>
        <p:spPr>
          <a:xfrm>
            <a:off x="3401568" y="1179576"/>
            <a:ext cx="2514600" cy="292608"/>
          </a:xfrm>
          <a:prstGeom prst="rect">
            <a:avLst/>
          </a:prstGeom>
          <a:noFill/>
          <a:ln/>
        </p:spPr>
        <p:txBody>
          <a:bodyPr wrap="square" lIns="0" tIns="0" rIns="0" bIns="0" rtlCol="0" anchor="ctr"/>
          <a:lstStyle/>
          <a:p>
            <a:pPr marL="0" indent="0" algn="l">
              <a:buNone/>
            </a:pPr>
            <a:r>
              <a:rPr lang="en-US" sz="1200" b="1" dirty="0">
                <a:solidFill>
                  <a:srgbClr val="C4622D"/>
                </a:solidFill>
                <a:latin typeface="Cambria" pitchFamily="34" charset="0"/>
                <a:ea typeface="Cambria" pitchFamily="34" charset="-122"/>
                <a:cs typeface="Cambria" pitchFamily="34" charset="-120"/>
              </a:rPr>
              <a:t>Individual Coaching</a:t>
            </a:r>
            <a:endParaRPr lang="en-US" sz="1200" dirty="0"/>
          </a:p>
        </p:txBody>
      </p:sp>
      <p:sp>
        <p:nvSpPr>
          <p:cNvPr id="11" name="Text 9"/>
          <p:cNvSpPr/>
          <p:nvPr/>
        </p:nvSpPr>
        <p:spPr>
          <a:xfrm>
            <a:off x="3401568" y="1508760"/>
            <a:ext cx="2514600" cy="868680"/>
          </a:xfrm>
          <a:prstGeom prst="rect">
            <a:avLst/>
          </a:prstGeom>
          <a:noFill/>
          <a:ln/>
        </p:spPr>
        <p:txBody>
          <a:bodyPr wrap="square" rtlCol="0" anchor="t"/>
          <a:lstStyle/>
          <a:p>
            <a:pPr marL="0" indent="0" algn="l">
              <a:buNone/>
            </a:pPr>
            <a:r>
              <a:rPr lang="en-US" sz="1050" dirty="0">
                <a:solidFill>
                  <a:srgbClr val="2C2C2A"/>
                </a:solidFill>
                <a:latin typeface="Calibri" pitchFamily="34" charset="0"/>
                <a:ea typeface="Calibri" pitchFamily="34" charset="-122"/>
                <a:cs typeface="Calibri" pitchFamily="34" charset="-120"/>
              </a:rPr>
              <a:t>Two private sessions per month with a certified Elements Method coach. Integration-focused, element-informed, and entirely personalized to your leadership edge.</a:t>
            </a:r>
            <a:endParaRPr lang="en-US" sz="1050" dirty="0"/>
          </a:p>
        </p:txBody>
      </p:sp>
      <p:sp>
        <p:nvSpPr>
          <p:cNvPr id="12" name="Shape 10"/>
          <p:cNvSpPr/>
          <p:nvPr/>
        </p:nvSpPr>
        <p:spPr>
          <a:xfrm>
            <a:off x="6208776" y="1051560"/>
            <a:ext cx="2788920" cy="1463040"/>
          </a:xfrm>
          <a:prstGeom prst="roundRect">
            <a:avLst>
              <a:gd name="adj" fmla="val 6250"/>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13" name="Text 11"/>
          <p:cNvSpPr/>
          <p:nvPr/>
        </p:nvSpPr>
        <p:spPr>
          <a:xfrm>
            <a:off x="6345936" y="1179576"/>
            <a:ext cx="2514600" cy="292608"/>
          </a:xfrm>
          <a:prstGeom prst="rect">
            <a:avLst/>
          </a:prstGeom>
          <a:noFill/>
          <a:ln/>
        </p:spPr>
        <p:txBody>
          <a:bodyPr wrap="square" lIns="0" tIns="0" rIns="0" bIns="0" rtlCol="0" anchor="ctr"/>
          <a:lstStyle/>
          <a:p>
            <a:pPr marL="0" indent="0" algn="l">
              <a:buNone/>
            </a:pPr>
            <a:r>
              <a:rPr lang="en-US" sz="1200" b="1" dirty="0">
                <a:solidFill>
                  <a:srgbClr val="3D5A3E"/>
                </a:solidFill>
                <a:latin typeface="Cambria" pitchFamily="34" charset="0"/>
                <a:ea typeface="Cambria" pitchFamily="34" charset="-122"/>
                <a:cs typeface="Cambria" pitchFamily="34" charset="-120"/>
              </a:rPr>
              <a:t>Group Virtual Circles</a:t>
            </a:r>
            <a:endParaRPr lang="en-US" sz="1200" dirty="0"/>
          </a:p>
        </p:txBody>
      </p:sp>
      <p:sp>
        <p:nvSpPr>
          <p:cNvPr id="14" name="Text 12"/>
          <p:cNvSpPr/>
          <p:nvPr/>
        </p:nvSpPr>
        <p:spPr>
          <a:xfrm>
            <a:off x="6345936" y="1508760"/>
            <a:ext cx="2514600" cy="868680"/>
          </a:xfrm>
          <a:prstGeom prst="rect">
            <a:avLst/>
          </a:prstGeom>
          <a:noFill/>
          <a:ln/>
        </p:spPr>
        <p:txBody>
          <a:bodyPr wrap="square" rtlCol="0" anchor="t"/>
          <a:lstStyle/>
          <a:p>
            <a:pPr marL="0" indent="0" algn="l">
              <a:buNone/>
            </a:pPr>
            <a:r>
              <a:rPr lang="en-US" sz="1050" dirty="0">
                <a:solidFill>
                  <a:srgbClr val="2C2C2A"/>
                </a:solidFill>
                <a:latin typeface="Calibri" pitchFamily="34" charset="0"/>
                <a:ea typeface="Calibri" pitchFamily="34" charset="-122"/>
                <a:cs typeface="Calibri" pitchFamily="34" charset="-120"/>
              </a:rPr>
              <a:t>Monthly virtual gatherings with your cohort for shared integration, peer accountability, and collective wisdom. Where insights become commitments.</a:t>
            </a:r>
            <a:endParaRPr lang="en-US" sz="1050" dirty="0"/>
          </a:p>
        </p:txBody>
      </p:sp>
      <p:sp>
        <p:nvSpPr>
          <p:cNvPr id="15" name="Text 13"/>
          <p:cNvSpPr/>
          <p:nvPr/>
        </p:nvSpPr>
        <p:spPr>
          <a:xfrm>
            <a:off x="502920" y="2697480"/>
            <a:ext cx="8229600" cy="329184"/>
          </a:xfrm>
          <a:prstGeom prst="rect">
            <a:avLst/>
          </a:prstGeom>
          <a:noFill/>
          <a:ln/>
        </p:spPr>
        <p:txBody>
          <a:bodyPr wrap="square" rtlCol="0" anchor="ctr"/>
          <a:lstStyle/>
          <a:p>
            <a:pPr marL="0" indent="0" algn="l">
              <a:buNone/>
            </a:pPr>
            <a:r>
              <a:rPr lang="en-US" sz="1500" b="1" dirty="0">
                <a:solidFill>
                  <a:srgbClr val="2C2C2A"/>
                </a:solidFill>
                <a:latin typeface="Cambria" pitchFamily="34" charset="0"/>
                <a:ea typeface="Cambria" pitchFamily="34" charset="-122"/>
                <a:cs typeface="Cambria" pitchFamily="34" charset="-120"/>
              </a:rPr>
              <a:t>Roots is made for leaders who...</a:t>
            </a:r>
            <a:endParaRPr lang="en-US" sz="1500" dirty="0"/>
          </a:p>
        </p:txBody>
      </p:sp>
      <p:sp>
        <p:nvSpPr>
          <p:cNvPr id="16" name="Shape 14"/>
          <p:cNvSpPr/>
          <p:nvPr/>
        </p:nvSpPr>
        <p:spPr>
          <a:xfrm>
            <a:off x="320040" y="3108960"/>
            <a:ext cx="2788920" cy="1280160"/>
          </a:xfrm>
          <a:prstGeom prst="roundRect">
            <a:avLst>
              <a:gd name="adj" fmla="val 5714"/>
            </a:avLst>
          </a:prstGeom>
          <a:solidFill>
            <a:srgbClr val="F4F2EE"/>
          </a:solidFill>
          <a:ln w="12700">
            <a:solidFill>
              <a:srgbClr val="F4F2EE"/>
            </a:solidFill>
            <a:prstDash val="solid"/>
          </a:ln>
          <a:effectLst>
            <a:outerShdw blurRad="101600" dist="25400" dir="2700000" algn="bl" rotWithShape="0">
              <a:srgbClr val="000000">
                <a:alpha val="9000"/>
              </a:srgbClr>
            </a:outerShdw>
          </a:effectLst>
        </p:spPr>
        <p:txBody>
          <a:bodyPr/>
          <a:lstStyle/>
          <a:p>
            <a:endParaRPr lang="en-US"/>
          </a:p>
        </p:txBody>
      </p:sp>
      <p:sp>
        <p:nvSpPr>
          <p:cNvPr id="17" name="Text 15"/>
          <p:cNvSpPr/>
          <p:nvPr/>
        </p:nvSpPr>
        <p:spPr>
          <a:xfrm>
            <a:off x="457200" y="3218688"/>
            <a:ext cx="2514600" cy="274320"/>
          </a:xfrm>
          <a:prstGeom prst="rect">
            <a:avLst/>
          </a:prstGeom>
          <a:noFill/>
          <a:ln/>
        </p:spPr>
        <p:txBody>
          <a:bodyPr wrap="square" lIns="0" tIns="0" rIns="0" bIns="0" rtlCol="0" anchor="ctr"/>
          <a:lstStyle/>
          <a:p>
            <a:pPr marL="0" indent="0" algn="l">
              <a:buNone/>
            </a:pPr>
            <a:r>
              <a:rPr lang="en-US" sz="1100" b="1" dirty="0">
                <a:solidFill>
                  <a:srgbClr val="2C2C2A"/>
                </a:solidFill>
                <a:latin typeface="Cambria" pitchFamily="34" charset="0"/>
                <a:ea typeface="Cambria" pitchFamily="34" charset="-122"/>
                <a:cs typeface="Cambria" pitchFamily="34" charset="-120"/>
              </a:rPr>
              <a:t>Seek depth, not just tools</a:t>
            </a:r>
            <a:endParaRPr lang="en-US" sz="1100" dirty="0"/>
          </a:p>
        </p:txBody>
      </p:sp>
      <p:sp>
        <p:nvSpPr>
          <p:cNvPr id="18" name="Text 16"/>
          <p:cNvSpPr/>
          <p:nvPr/>
        </p:nvSpPr>
        <p:spPr>
          <a:xfrm>
            <a:off x="457200" y="3520440"/>
            <a:ext cx="2514600" cy="777240"/>
          </a:xfrm>
          <a:prstGeom prst="rect">
            <a:avLst/>
          </a:prstGeom>
          <a:noFill/>
          <a:ln/>
        </p:spPr>
        <p:txBody>
          <a:bodyPr wrap="square" rtlCol="0" anchor="t"/>
          <a:lstStyle/>
          <a:p>
            <a:pPr marL="0" indent="0" algn="l">
              <a:buNone/>
            </a:pPr>
            <a:r>
              <a:rPr lang="en-US" sz="1000" dirty="0">
                <a:solidFill>
                  <a:srgbClr val="5A5A55"/>
                </a:solidFill>
                <a:latin typeface="Calibri" pitchFamily="34" charset="0"/>
                <a:ea typeface="Calibri" pitchFamily="34" charset="-122"/>
                <a:cs typeface="Calibri" pitchFamily="34" charset="-120"/>
              </a:rPr>
              <a:t>You've done the frameworks. Now you want a shift that's real, lasting, and comes from within.</a:t>
            </a:r>
            <a:endParaRPr lang="en-US" sz="1000" dirty="0"/>
          </a:p>
        </p:txBody>
      </p:sp>
      <p:sp>
        <p:nvSpPr>
          <p:cNvPr id="19" name="Shape 17"/>
          <p:cNvSpPr/>
          <p:nvPr/>
        </p:nvSpPr>
        <p:spPr>
          <a:xfrm>
            <a:off x="3264408" y="3108960"/>
            <a:ext cx="2788920" cy="1280160"/>
          </a:xfrm>
          <a:prstGeom prst="roundRect">
            <a:avLst>
              <a:gd name="adj" fmla="val 5714"/>
            </a:avLst>
          </a:prstGeom>
          <a:solidFill>
            <a:srgbClr val="F4F2EE"/>
          </a:solidFill>
          <a:ln w="12700">
            <a:solidFill>
              <a:srgbClr val="F4F2EE"/>
            </a:solidFill>
            <a:prstDash val="solid"/>
          </a:ln>
          <a:effectLst>
            <a:outerShdw blurRad="101600" dist="25400" dir="2700000" algn="bl" rotWithShape="0">
              <a:srgbClr val="000000">
                <a:alpha val="9000"/>
              </a:srgbClr>
            </a:outerShdw>
          </a:effectLst>
        </p:spPr>
        <p:txBody>
          <a:bodyPr/>
          <a:lstStyle/>
          <a:p>
            <a:endParaRPr lang="en-US"/>
          </a:p>
        </p:txBody>
      </p:sp>
      <p:sp>
        <p:nvSpPr>
          <p:cNvPr id="20" name="Text 18"/>
          <p:cNvSpPr/>
          <p:nvPr/>
        </p:nvSpPr>
        <p:spPr>
          <a:xfrm>
            <a:off x="3401568" y="3218688"/>
            <a:ext cx="2514600" cy="274320"/>
          </a:xfrm>
          <a:prstGeom prst="rect">
            <a:avLst/>
          </a:prstGeom>
          <a:noFill/>
          <a:ln/>
        </p:spPr>
        <p:txBody>
          <a:bodyPr wrap="square" lIns="0" tIns="0" rIns="0" bIns="0" rtlCol="0" anchor="ctr"/>
          <a:lstStyle/>
          <a:p>
            <a:pPr marL="0" indent="0" algn="l">
              <a:buNone/>
            </a:pPr>
            <a:r>
              <a:rPr lang="en-US" sz="1100" b="1" dirty="0">
                <a:solidFill>
                  <a:srgbClr val="2C2C2A"/>
                </a:solidFill>
                <a:latin typeface="Cambria" pitchFamily="34" charset="0"/>
                <a:ea typeface="Cambria" pitchFamily="34" charset="-122"/>
                <a:cs typeface="Cambria" pitchFamily="34" charset="-120"/>
              </a:rPr>
              <a:t>Are ready to lead differently</a:t>
            </a:r>
            <a:endParaRPr lang="en-US" sz="1100" dirty="0"/>
          </a:p>
        </p:txBody>
      </p:sp>
      <p:sp>
        <p:nvSpPr>
          <p:cNvPr id="21" name="Text 19"/>
          <p:cNvSpPr/>
          <p:nvPr/>
        </p:nvSpPr>
        <p:spPr>
          <a:xfrm>
            <a:off x="3401568" y="3520440"/>
            <a:ext cx="2514600" cy="777240"/>
          </a:xfrm>
          <a:prstGeom prst="rect">
            <a:avLst/>
          </a:prstGeom>
          <a:noFill/>
          <a:ln/>
        </p:spPr>
        <p:txBody>
          <a:bodyPr wrap="square" rtlCol="0" anchor="t"/>
          <a:lstStyle/>
          <a:p>
            <a:pPr marL="0" indent="0" algn="l">
              <a:buNone/>
            </a:pPr>
            <a:r>
              <a:rPr lang="en-US" sz="1000" dirty="0">
                <a:solidFill>
                  <a:srgbClr val="5A5A55"/>
                </a:solidFill>
                <a:latin typeface="Calibri" pitchFamily="34" charset="0"/>
                <a:ea typeface="Calibri" pitchFamily="34" charset="-122"/>
                <a:cs typeface="Calibri" pitchFamily="34" charset="-120"/>
              </a:rPr>
              <a:t>You sense that leadership from stress and control has limits. You're ready for a more grounded, resonant way.</a:t>
            </a:r>
            <a:endParaRPr lang="en-US" sz="1000" dirty="0"/>
          </a:p>
        </p:txBody>
      </p:sp>
      <p:sp>
        <p:nvSpPr>
          <p:cNvPr id="22" name="Shape 20"/>
          <p:cNvSpPr/>
          <p:nvPr/>
        </p:nvSpPr>
        <p:spPr>
          <a:xfrm>
            <a:off x="6208776" y="3108960"/>
            <a:ext cx="2788920" cy="1280160"/>
          </a:xfrm>
          <a:prstGeom prst="roundRect">
            <a:avLst>
              <a:gd name="adj" fmla="val 5714"/>
            </a:avLst>
          </a:prstGeom>
          <a:solidFill>
            <a:srgbClr val="F4F2EE"/>
          </a:solidFill>
          <a:ln w="12700">
            <a:solidFill>
              <a:srgbClr val="F4F2EE"/>
            </a:solidFill>
            <a:prstDash val="solid"/>
          </a:ln>
          <a:effectLst>
            <a:outerShdw blurRad="101600" dist="25400" dir="2700000" algn="bl" rotWithShape="0">
              <a:srgbClr val="000000">
                <a:alpha val="9000"/>
              </a:srgbClr>
            </a:outerShdw>
          </a:effectLst>
        </p:spPr>
        <p:txBody>
          <a:bodyPr/>
          <a:lstStyle/>
          <a:p>
            <a:endParaRPr lang="en-US"/>
          </a:p>
        </p:txBody>
      </p:sp>
      <p:sp>
        <p:nvSpPr>
          <p:cNvPr id="23" name="Text 21"/>
          <p:cNvSpPr/>
          <p:nvPr/>
        </p:nvSpPr>
        <p:spPr>
          <a:xfrm>
            <a:off x="6345936" y="3218688"/>
            <a:ext cx="2514600" cy="274320"/>
          </a:xfrm>
          <a:prstGeom prst="rect">
            <a:avLst/>
          </a:prstGeom>
          <a:noFill/>
          <a:ln/>
        </p:spPr>
        <p:txBody>
          <a:bodyPr wrap="square" lIns="0" tIns="0" rIns="0" bIns="0" rtlCol="0" anchor="ctr"/>
          <a:lstStyle/>
          <a:p>
            <a:pPr marL="0" indent="0" algn="l">
              <a:buNone/>
            </a:pPr>
            <a:r>
              <a:rPr lang="en-US" sz="1100" b="1" dirty="0">
                <a:solidFill>
                  <a:srgbClr val="2C2C2A"/>
                </a:solidFill>
                <a:latin typeface="Cambria" pitchFamily="34" charset="0"/>
                <a:ea typeface="Cambria" pitchFamily="34" charset="-122"/>
                <a:cs typeface="Cambria" pitchFamily="34" charset="-120"/>
              </a:rPr>
              <a:t>Value community as much as solitude</a:t>
            </a:r>
            <a:endParaRPr lang="en-US" sz="1100" dirty="0"/>
          </a:p>
        </p:txBody>
      </p:sp>
      <p:sp>
        <p:nvSpPr>
          <p:cNvPr id="24" name="Text 22"/>
          <p:cNvSpPr/>
          <p:nvPr/>
        </p:nvSpPr>
        <p:spPr>
          <a:xfrm>
            <a:off x="6345936" y="3520440"/>
            <a:ext cx="2514600" cy="777240"/>
          </a:xfrm>
          <a:prstGeom prst="rect">
            <a:avLst/>
          </a:prstGeom>
          <a:noFill/>
          <a:ln/>
        </p:spPr>
        <p:txBody>
          <a:bodyPr wrap="square" rtlCol="0" anchor="t"/>
          <a:lstStyle/>
          <a:p>
            <a:pPr marL="0" indent="0" algn="l">
              <a:buNone/>
            </a:pPr>
            <a:r>
              <a:rPr lang="en-US" sz="1000" dirty="0">
                <a:solidFill>
                  <a:srgbClr val="5A5A55"/>
                </a:solidFill>
                <a:latin typeface="Calibri" pitchFamily="34" charset="0"/>
                <a:ea typeface="Calibri" pitchFamily="34" charset="-122"/>
                <a:cs typeface="Calibri" pitchFamily="34" charset="-120"/>
              </a:rPr>
              <a:t>You grow through connection. Sharing the journey with peers who are equally committed matters to you.</a:t>
            </a:r>
            <a:endParaRPr lang="en-US" sz="1000" dirty="0"/>
          </a:p>
        </p:txBody>
      </p:sp>
      <p:sp>
        <p:nvSpPr>
          <p:cNvPr id="25" name="Shape 23"/>
          <p:cNvSpPr/>
          <p:nvPr/>
        </p:nvSpPr>
        <p:spPr>
          <a:xfrm>
            <a:off x="502920" y="4553712"/>
            <a:ext cx="8138160" cy="384048"/>
          </a:xfrm>
          <a:prstGeom prst="roundRect">
            <a:avLst>
              <a:gd name="adj" fmla="val 23810"/>
            </a:avLst>
          </a:prstGeom>
          <a:solidFill>
            <a:srgbClr val="2B6B8A"/>
          </a:solidFill>
          <a:ln w="12700">
            <a:solidFill>
              <a:srgbClr val="2B6B8A"/>
            </a:solidFill>
            <a:prstDash val="solid"/>
          </a:ln>
        </p:spPr>
        <p:txBody>
          <a:bodyPr/>
          <a:lstStyle/>
          <a:p>
            <a:endParaRPr lang="en-US"/>
          </a:p>
        </p:txBody>
      </p:sp>
      <p:sp>
        <p:nvSpPr>
          <p:cNvPr id="26" name="Text 24"/>
          <p:cNvSpPr/>
          <p:nvPr/>
        </p:nvSpPr>
        <p:spPr>
          <a:xfrm>
            <a:off x="640080" y="4553712"/>
            <a:ext cx="7863840" cy="38404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Apply for Roots  ·  The next cohort begins in 60 days. Spaces are limited to ensure depth of experience.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462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48640" y="502920"/>
            <a:ext cx="8046720" cy="256032"/>
          </a:xfrm>
          <a:prstGeom prst="rect">
            <a:avLst/>
          </a:prstGeom>
          <a:noFill/>
          <a:ln/>
        </p:spPr>
        <p:txBody>
          <a:bodyPr wrap="square" rtlCol="0" anchor="ctr"/>
          <a:lstStyle/>
          <a:p>
            <a:pPr marL="0" indent="0" algn="l">
              <a:buNone/>
            </a:pPr>
            <a:r>
              <a:rPr lang="en-US" sz="900" b="1" kern="0" spc="300" dirty="0">
                <a:solidFill>
                  <a:srgbClr val="FDF3EB"/>
                </a:solidFill>
                <a:latin typeface="Arial" pitchFamily="34" charset="0"/>
                <a:ea typeface="Arial" pitchFamily="34" charset="-122"/>
                <a:cs typeface="Arial" pitchFamily="34" charset="-120"/>
              </a:rPr>
              <a:t>ELEMENTS METHOD  ·  PÁGINA DE PROGRAMA</a:t>
            </a:r>
            <a:endParaRPr lang="en-US" sz="900" dirty="0"/>
          </a:p>
        </p:txBody>
      </p:sp>
      <p:sp>
        <p:nvSpPr>
          <p:cNvPr id="4" name="Text 2"/>
          <p:cNvSpPr/>
          <p:nvPr/>
        </p:nvSpPr>
        <p:spPr>
          <a:xfrm>
            <a:off x="548640" y="914400"/>
            <a:ext cx="8046720" cy="256032"/>
          </a:xfrm>
          <a:prstGeom prst="rect">
            <a:avLst/>
          </a:prstGeom>
          <a:noFill/>
          <a:ln/>
        </p:spPr>
        <p:txBody>
          <a:bodyPr wrap="square" rtlCol="0" anchor="ctr"/>
          <a:lstStyle/>
          <a:p>
            <a:pPr marL="0" indent="0" algn="l">
              <a:buNone/>
            </a:pPr>
            <a:r>
              <a:rPr lang="en-US" sz="1100" dirty="0">
                <a:solidFill>
                  <a:srgbClr val="FDF3EB"/>
                </a:solidFill>
                <a:latin typeface="Calibri" pitchFamily="34" charset="0"/>
                <a:ea typeface="Calibri" pitchFamily="34" charset="-122"/>
                <a:cs typeface="Calibri" pitchFamily="34" charset="-120"/>
              </a:rPr>
              <a:t>Intensive Group · Ongoing</a:t>
            </a:r>
            <a:endParaRPr lang="en-US" sz="1100" dirty="0"/>
          </a:p>
        </p:txBody>
      </p:sp>
      <p:sp>
        <p:nvSpPr>
          <p:cNvPr id="5" name="Text 3"/>
          <p:cNvSpPr/>
          <p:nvPr/>
        </p:nvSpPr>
        <p:spPr>
          <a:xfrm>
            <a:off x="548640" y="1234440"/>
            <a:ext cx="8046720" cy="1005840"/>
          </a:xfrm>
          <a:prstGeom prst="rect">
            <a:avLst/>
          </a:prstGeom>
          <a:noFill/>
          <a:ln/>
        </p:spPr>
        <p:txBody>
          <a:bodyPr wrap="square"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Current Intensive</a:t>
            </a:r>
            <a:endParaRPr lang="en-US" sz="4400" dirty="0"/>
          </a:p>
        </p:txBody>
      </p:sp>
      <p:sp>
        <p:nvSpPr>
          <p:cNvPr id="6" name="Text 4"/>
          <p:cNvSpPr/>
          <p:nvPr/>
        </p:nvSpPr>
        <p:spPr>
          <a:xfrm>
            <a:off x="548640" y="2377440"/>
            <a:ext cx="6858000" cy="457200"/>
          </a:xfrm>
          <a:prstGeom prst="rect">
            <a:avLst/>
          </a:prstGeom>
          <a:noFill/>
          <a:ln/>
        </p:spPr>
        <p:txBody>
          <a:bodyPr wrap="square" rtlCol="0" anchor="ctr"/>
          <a:lstStyle/>
          <a:p>
            <a:pPr marL="0" indent="0" algn="l">
              <a:buNone/>
            </a:pPr>
            <a:r>
              <a:rPr lang="en-US" sz="1800" i="1" dirty="0">
                <a:solidFill>
                  <a:srgbClr val="FDF3EB"/>
                </a:solidFill>
                <a:latin typeface="Cambria" pitchFamily="34" charset="0"/>
                <a:ea typeface="Cambria" pitchFamily="34" charset="-122"/>
                <a:cs typeface="Cambria" pitchFamily="34" charset="-120"/>
              </a:rPr>
              <a:t>Double the immersion. Double the momentum.</a:t>
            </a:r>
            <a:endParaRPr lang="en-US" sz="1800" dirty="0"/>
          </a:p>
        </p:txBody>
      </p:sp>
      <p:sp>
        <p:nvSpPr>
          <p:cNvPr id="7" name="Text 5"/>
          <p:cNvSpPr/>
          <p:nvPr/>
        </p:nvSpPr>
        <p:spPr>
          <a:xfrm>
            <a:off x="548640" y="3108960"/>
            <a:ext cx="2011680" cy="594360"/>
          </a:xfrm>
          <a:prstGeom prst="rect">
            <a:avLst/>
          </a:prstGeom>
          <a:noFill/>
          <a:ln/>
        </p:spPr>
        <p:txBody>
          <a:bodyPr wrap="square" rtlCol="0" anchor="ctr"/>
          <a:lstStyle/>
          <a:p>
            <a:pPr marL="0" indent="0" algn="l">
              <a:buNone/>
            </a:pPr>
            <a:r>
              <a:rPr lang="es-MX" sz="3200" b="1" dirty="0">
                <a:solidFill>
                  <a:srgbClr val="FFFFFF"/>
                </a:solidFill>
                <a:latin typeface="Cambria" pitchFamily="34" charset="0"/>
                <a:ea typeface="Cambria" pitchFamily="34" charset="-122"/>
              </a:rPr>
              <a:t>3</a:t>
            </a:r>
            <a:endParaRPr lang="en-US" sz="3200" dirty="0"/>
          </a:p>
        </p:txBody>
      </p:sp>
      <p:sp>
        <p:nvSpPr>
          <p:cNvPr id="8" name="Text 6"/>
          <p:cNvSpPr/>
          <p:nvPr/>
        </p:nvSpPr>
        <p:spPr>
          <a:xfrm>
            <a:off x="548640" y="3730752"/>
            <a:ext cx="2011680" cy="256032"/>
          </a:xfrm>
          <a:prstGeom prst="rect">
            <a:avLst/>
          </a:prstGeom>
          <a:noFill/>
          <a:ln/>
        </p:spPr>
        <p:txBody>
          <a:bodyPr wrap="square" rtlCol="0" anchor="ctr"/>
          <a:lstStyle/>
          <a:p>
            <a:pPr marL="0" indent="0" algn="l">
              <a:buNone/>
            </a:pPr>
            <a:r>
              <a:rPr lang="en-US" sz="1000" dirty="0">
                <a:solidFill>
                  <a:srgbClr val="FDF3EB"/>
                </a:solidFill>
                <a:latin typeface="Calibri" pitchFamily="34" charset="0"/>
                <a:ea typeface="Calibri" pitchFamily="34" charset="-122"/>
                <a:cs typeface="Calibri" pitchFamily="34" charset="-120"/>
              </a:rPr>
              <a:t>Months</a:t>
            </a:r>
            <a:endParaRPr lang="en-US" sz="1000" dirty="0"/>
          </a:p>
        </p:txBody>
      </p:sp>
      <p:sp>
        <p:nvSpPr>
          <p:cNvPr id="9" name="Text 7"/>
          <p:cNvSpPr/>
          <p:nvPr/>
        </p:nvSpPr>
        <p:spPr>
          <a:xfrm>
            <a:off x="2724912" y="3108960"/>
            <a:ext cx="2011680" cy="594360"/>
          </a:xfrm>
          <a:prstGeom prst="rect">
            <a:avLst/>
          </a:prstGeom>
          <a:noFill/>
          <a:ln/>
        </p:spPr>
        <p:txBody>
          <a:bodyPr wrap="square" rtlCol="0" anchor="ctr"/>
          <a:lstStyle/>
          <a:p>
            <a:pPr marL="0" indent="0" algn="l">
              <a:buNone/>
            </a:pPr>
            <a:r>
              <a:rPr lang="es-MX" sz="3200" b="1" dirty="0">
                <a:solidFill>
                  <a:srgbClr val="FFFFFF"/>
                </a:solidFill>
                <a:latin typeface="Cambria" pitchFamily="34" charset="0"/>
                <a:ea typeface="Cambria" pitchFamily="34" charset="-122"/>
              </a:rPr>
              <a:t>1</a:t>
            </a:r>
            <a:r>
              <a:rPr lang="en-US" sz="3200" b="1" dirty="0">
                <a:solidFill>
                  <a:srgbClr val="FFFFFF"/>
                </a:solidFill>
                <a:latin typeface="Cambria" pitchFamily="34" charset="0"/>
                <a:ea typeface="Cambria" pitchFamily="34" charset="-122"/>
              </a:rPr>
              <a:t>2</a:t>
            </a:r>
            <a:endParaRPr lang="en-US" sz="3200" dirty="0"/>
          </a:p>
        </p:txBody>
      </p:sp>
      <p:sp>
        <p:nvSpPr>
          <p:cNvPr id="10" name="Text 8"/>
          <p:cNvSpPr/>
          <p:nvPr/>
        </p:nvSpPr>
        <p:spPr>
          <a:xfrm>
            <a:off x="2724912" y="3730752"/>
            <a:ext cx="2011680" cy="256032"/>
          </a:xfrm>
          <a:prstGeom prst="rect">
            <a:avLst/>
          </a:prstGeom>
          <a:noFill/>
          <a:ln/>
        </p:spPr>
        <p:txBody>
          <a:bodyPr wrap="square" rtlCol="0" anchor="ctr"/>
          <a:lstStyle/>
          <a:p>
            <a:pPr marL="0" indent="0" algn="l">
              <a:buNone/>
            </a:pPr>
            <a:r>
              <a:rPr lang="en-US" sz="1000" dirty="0">
                <a:solidFill>
                  <a:srgbClr val="FDF3EB"/>
                </a:solidFill>
                <a:latin typeface="Calibri" pitchFamily="34" charset="0"/>
                <a:ea typeface="Calibri" pitchFamily="34" charset="-122"/>
                <a:cs typeface="Calibri" pitchFamily="34" charset="-120"/>
              </a:rPr>
              <a:t>Coaching Sessions – </a:t>
            </a:r>
          </a:p>
          <a:p>
            <a:pPr marL="0" indent="0" algn="l">
              <a:buNone/>
            </a:pPr>
            <a:r>
              <a:rPr lang="en-US" sz="1000" dirty="0">
                <a:solidFill>
                  <a:srgbClr val="FDF3EB"/>
                </a:solidFill>
                <a:latin typeface="Calibri" pitchFamily="34" charset="0"/>
                <a:ea typeface="Calibri" pitchFamily="34" charset="-122"/>
                <a:cs typeface="Calibri" pitchFamily="34" charset="-120"/>
              </a:rPr>
              <a:t>continuation program</a:t>
            </a:r>
            <a:endParaRPr lang="en-US" sz="1000" dirty="0"/>
          </a:p>
        </p:txBody>
      </p:sp>
      <p:sp>
        <p:nvSpPr>
          <p:cNvPr id="11" name="Text 9"/>
          <p:cNvSpPr/>
          <p:nvPr/>
        </p:nvSpPr>
        <p:spPr>
          <a:xfrm>
            <a:off x="6165390" y="3170601"/>
            <a:ext cx="2011680" cy="594360"/>
          </a:xfrm>
          <a:prstGeom prst="rect">
            <a:avLst/>
          </a:prstGeom>
          <a:noFill/>
          <a:ln/>
        </p:spPr>
        <p:txBody>
          <a:bodyPr wrap="square" rtlCol="0" anchor="ctr"/>
          <a:lstStyle/>
          <a:p>
            <a:pPr marL="0" indent="0" algn="l">
              <a:buNone/>
            </a:pPr>
            <a:r>
              <a:rPr lang="es-MX" sz="3200" b="1" dirty="0">
                <a:solidFill>
                  <a:srgbClr val="FFFFFF"/>
                </a:solidFill>
                <a:latin typeface="Cambria" pitchFamily="34" charset="0"/>
                <a:ea typeface="Cambria" pitchFamily="34" charset="-122"/>
              </a:rPr>
              <a:t>5</a:t>
            </a:r>
            <a:endParaRPr lang="en-US" sz="3200" dirty="0"/>
          </a:p>
        </p:txBody>
      </p:sp>
      <p:sp>
        <p:nvSpPr>
          <p:cNvPr id="12" name="Text 10"/>
          <p:cNvSpPr/>
          <p:nvPr/>
        </p:nvSpPr>
        <p:spPr>
          <a:xfrm>
            <a:off x="4316746" y="3702801"/>
            <a:ext cx="1168876" cy="178308"/>
          </a:xfrm>
          <a:prstGeom prst="rect">
            <a:avLst/>
          </a:prstGeom>
          <a:noFill/>
          <a:ln/>
        </p:spPr>
        <p:txBody>
          <a:bodyPr wrap="square" rtlCol="0" anchor="ctr"/>
          <a:lstStyle/>
          <a:p>
            <a:pPr marL="0" indent="0" algn="l">
              <a:buNone/>
            </a:pPr>
            <a:r>
              <a:rPr lang="en-US" sz="1000" dirty="0">
                <a:solidFill>
                  <a:srgbClr val="FDF3EB"/>
                </a:solidFill>
                <a:latin typeface="Calibri" pitchFamily="34" charset="0"/>
                <a:ea typeface="Calibri" pitchFamily="34" charset="-122"/>
                <a:cs typeface="Calibri" pitchFamily="34" charset="-120"/>
              </a:rPr>
              <a:t>Elements Covered</a:t>
            </a:r>
            <a:endParaRPr lang="en-US" sz="1000" dirty="0"/>
          </a:p>
        </p:txBody>
      </p:sp>
      <p:sp>
        <p:nvSpPr>
          <p:cNvPr id="13" name="Text 11"/>
          <p:cNvSpPr/>
          <p:nvPr/>
        </p:nvSpPr>
        <p:spPr>
          <a:xfrm>
            <a:off x="7627263" y="3082630"/>
            <a:ext cx="2011680" cy="5943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14" name="Text 12"/>
          <p:cNvSpPr/>
          <p:nvPr/>
        </p:nvSpPr>
        <p:spPr>
          <a:xfrm>
            <a:off x="7473502" y="3702801"/>
            <a:ext cx="2011680" cy="256032"/>
          </a:xfrm>
          <a:prstGeom prst="rect">
            <a:avLst/>
          </a:prstGeom>
          <a:noFill/>
          <a:ln/>
        </p:spPr>
        <p:txBody>
          <a:bodyPr wrap="square" rtlCol="0" anchor="ctr"/>
          <a:lstStyle/>
          <a:p>
            <a:pPr marL="0" indent="0" algn="l">
              <a:buNone/>
            </a:pPr>
            <a:r>
              <a:rPr lang="en-US" sz="1000" dirty="0">
                <a:solidFill>
                  <a:srgbClr val="FDF3EB"/>
                </a:solidFill>
                <a:latin typeface="Calibri" pitchFamily="34" charset="0"/>
                <a:ea typeface="Calibri" pitchFamily="34" charset="-122"/>
                <a:cs typeface="Calibri" pitchFamily="34" charset="-120"/>
              </a:rPr>
              <a:t>Accelerated Pace</a:t>
            </a:r>
            <a:endParaRPr lang="en-US" sz="1000" dirty="0"/>
          </a:p>
        </p:txBody>
      </p:sp>
      <p:sp>
        <p:nvSpPr>
          <p:cNvPr id="15" name="Shape 13"/>
          <p:cNvSpPr/>
          <p:nvPr/>
        </p:nvSpPr>
        <p:spPr>
          <a:xfrm>
            <a:off x="0" y="4983480"/>
            <a:ext cx="9144000" cy="164592"/>
          </a:xfrm>
          <a:prstGeom prst="rect">
            <a:avLst/>
          </a:prstGeom>
          <a:solidFill>
            <a:srgbClr val="8A3D18"/>
          </a:solidFill>
          <a:ln w="12700">
            <a:solidFill>
              <a:srgbClr val="8A3D18"/>
            </a:solidFill>
            <a:prstDash val="solid"/>
          </a:ln>
        </p:spPr>
        <p:txBody>
          <a:bodyPr/>
          <a:lstStyle/>
          <a:p>
            <a:endParaRPr lang="en-US"/>
          </a:p>
        </p:txBody>
      </p:sp>
      <p:sp>
        <p:nvSpPr>
          <p:cNvPr id="16" name="Text 7">
            <a:extLst>
              <a:ext uri="{FF2B5EF4-FFF2-40B4-BE49-F238E27FC236}">
                <a16:creationId xmlns:a16="http://schemas.microsoft.com/office/drawing/2014/main" id="{B9712AED-B0F7-F9DB-E0F7-1A456DBEFC97}"/>
              </a:ext>
            </a:extLst>
          </p:cNvPr>
          <p:cNvSpPr/>
          <p:nvPr/>
        </p:nvSpPr>
        <p:spPr>
          <a:xfrm>
            <a:off x="1719072" y="3081528"/>
            <a:ext cx="673932" cy="594360"/>
          </a:xfrm>
          <a:prstGeom prst="rect">
            <a:avLst/>
          </a:prstGeom>
          <a:noFill/>
          <a:ln/>
        </p:spPr>
        <p:txBody>
          <a:bodyPr wrap="square" rtlCol="0" anchor="ctr"/>
          <a:lstStyle/>
          <a:p>
            <a:pPr marL="0" indent="0" algn="l">
              <a:buNone/>
            </a:pPr>
            <a:r>
              <a:rPr lang="es-MX" sz="3200" b="1" dirty="0">
                <a:solidFill>
                  <a:srgbClr val="FFFFFF"/>
                </a:solidFill>
                <a:latin typeface="Cambria" pitchFamily="34" charset="0"/>
                <a:ea typeface="Cambria" pitchFamily="34" charset="-122"/>
              </a:rPr>
              <a:t>5</a:t>
            </a:r>
            <a:endParaRPr lang="en-US" sz="3200" dirty="0"/>
          </a:p>
        </p:txBody>
      </p:sp>
      <p:sp>
        <p:nvSpPr>
          <p:cNvPr id="17" name="Text 6">
            <a:extLst>
              <a:ext uri="{FF2B5EF4-FFF2-40B4-BE49-F238E27FC236}">
                <a16:creationId xmlns:a16="http://schemas.microsoft.com/office/drawing/2014/main" id="{20346A02-A488-56B2-3AA7-F8BF9D040DF9}"/>
              </a:ext>
            </a:extLst>
          </p:cNvPr>
          <p:cNvSpPr/>
          <p:nvPr/>
        </p:nvSpPr>
        <p:spPr>
          <a:xfrm>
            <a:off x="1670498" y="3726666"/>
            <a:ext cx="1121275" cy="256032"/>
          </a:xfrm>
          <a:prstGeom prst="rect">
            <a:avLst/>
          </a:prstGeom>
          <a:noFill/>
          <a:ln/>
        </p:spPr>
        <p:txBody>
          <a:bodyPr wrap="square" rtlCol="0" anchor="ctr"/>
          <a:lstStyle/>
          <a:p>
            <a:pPr marL="0" indent="0" algn="l">
              <a:buNone/>
            </a:pPr>
            <a:r>
              <a:rPr lang="es-MX" sz="1000" dirty="0">
                <a:solidFill>
                  <a:srgbClr val="FDF3EB"/>
                </a:solidFill>
                <a:latin typeface="Calibri" pitchFamily="34" charset="0"/>
                <a:ea typeface="Calibri" pitchFamily="34" charset="-122"/>
                <a:cs typeface="Calibri" pitchFamily="34" charset="-120"/>
              </a:rPr>
              <a:t>I</a:t>
            </a:r>
            <a:r>
              <a:rPr lang="en-US" sz="1000" dirty="0" err="1">
                <a:solidFill>
                  <a:srgbClr val="FDF3EB"/>
                </a:solidFill>
                <a:latin typeface="Calibri" pitchFamily="34" charset="0"/>
                <a:ea typeface="Calibri" pitchFamily="34" charset="-122"/>
                <a:cs typeface="Calibri" pitchFamily="34" charset="-120"/>
              </a:rPr>
              <a:t>nmersions</a:t>
            </a:r>
            <a:endParaRPr lang="en-US" sz="1000" dirty="0"/>
          </a:p>
        </p:txBody>
      </p:sp>
      <p:sp>
        <p:nvSpPr>
          <p:cNvPr id="18" name="Text 10">
            <a:extLst>
              <a:ext uri="{FF2B5EF4-FFF2-40B4-BE49-F238E27FC236}">
                <a16:creationId xmlns:a16="http://schemas.microsoft.com/office/drawing/2014/main" id="{9F31B50C-E195-E38F-E130-D195EC03E088}"/>
              </a:ext>
            </a:extLst>
          </p:cNvPr>
          <p:cNvSpPr/>
          <p:nvPr/>
        </p:nvSpPr>
        <p:spPr>
          <a:xfrm>
            <a:off x="5539967" y="3662528"/>
            <a:ext cx="2011680" cy="256032"/>
          </a:xfrm>
          <a:prstGeom prst="rect">
            <a:avLst/>
          </a:prstGeom>
          <a:noFill/>
          <a:ln/>
        </p:spPr>
        <p:txBody>
          <a:bodyPr wrap="square" rtlCol="0" anchor="ctr"/>
          <a:lstStyle/>
          <a:p>
            <a:pPr marL="0" indent="0" algn="l">
              <a:buNone/>
            </a:pPr>
            <a:r>
              <a:rPr lang="es-MX" sz="1000" dirty="0" err="1">
                <a:solidFill>
                  <a:srgbClr val="FDF3EB"/>
                </a:solidFill>
                <a:latin typeface="Calibri" pitchFamily="34" charset="0"/>
                <a:ea typeface="Calibri" pitchFamily="34" charset="-122"/>
                <a:cs typeface="Calibri" pitchFamily="34" charset="-120"/>
              </a:rPr>
              <a:t>Methodologies</a:t>
            </a:r>
            <a:r>
              <a:rPr lang="es-MX" sz="1000" dirty="0">
                <a:solidFill>
                  <a:srgbClr val="FDF3EB"/>
                </a:solidFill>
                <a:latin typeface="Calibri" pitchFamily="34" charset="0"/>
                <a:ea typeface="Calibri" pitchFamily="34" charset="-122"/>
                <a:cs typeface="Calibri" pitchFamily="34" charset="-120"/>
              </a:rPr>
              <a:t> / </a:t>
            </a:r>
            <a:r>
              <a:rPr lang="es-MX" sz="1000" dirty="0" err="1">
                <a:solidFill>
                  <a:srgbClr val="FDF3EB"/>
                </a:solidFill>
                <a:latin typeface="Calibri" pitchFamily="34" charset="0"/>
                <a:ea typeface="Calibri" pitchFamily="34" charset="-122"/>
                <a:cs typeface="Calibri" pitchFamily="34" charset="-120"/>
              </a:rPr>
              <a:t>Frameworks</a:t>
            </a:r>
            <a:endParaRPr lang="en-US" sz="1000" dirty="0"/>
          </a:p>
        </p:txBody>
      </p:sp>
      <p:sp>
        <p:nvSpPr>
          <p:cNvPr id="19" name="Text 9">
            <a:extLst>
              <a:ext uri="{FF2B5EF4-FFF2-40B4-BE49-F238E27FC236}">
                <a16:creationId xmlns:a16="http://schemas.microsoft.com/office/drawing/2014/main" id="{7302D2E0-A877-A341-D86B-56756F8BDDB8}"/>
              </a:ext>
            </a:extLst>
          </p:cNvPr>
          <p:cNvSpPr/>
          <p:nvPr/>
        </p:nvSpPr>
        <p:spPr>
          <a:xfrm>
            <a:off x="4627901" y="3120633"/>
            <a:ext cx="1016476" cy="594360"/>
          </a:xfrm>
          <a:prstGeom prst="rect">
            <a:avLst/>
          </a:prstGeom>
          <a:noFill/>
          <a:ln/>
        </p:spPr>
        <p:txBody>
          <a:bodyPr wrap="square" rtlCol="0" anchor="ctr"/>
          <a:lstStyle/>
          <a:p>
            <a:pPr marL="0" indent="0" algn="l">
              <a:buNone/>
            </a:pPr>
            <a:r>
              <a:rPr lang="es-MX" sz="3200" b="1" dirty="0">
                <a:solidFill>
                  <a:srgbClr val="FFFFFF"/>
                </a:solidFill>
                <a:latin typeface="Cambria" pitchFamily="34" charset="0"/>
                <a:ea typeface="Cambria" pitchFamily="34" charset="-122"/>
              </a:rPr>
              <a:t>5</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137160"/>
            <a:ext cx="8229600" cy="274320"/>
          </a:xfrm>
          <a:prstGeom prst="rect">
            <a:avLst/>
          </a:prstGeom>
          <a:noFill/>
          <a:ln/>
        </p:spPr>
        <p:txBody>
          <a:bodyPr wrap="square" rtlCol="0" anchor="ctr"/>
          <a:lstStyle/>
          <a:p>
            <a:pPr marL="0" indent="0" algn="l">
              <a:buNone/>
            </a:pPr>
            <a:r>
              <a:rPr lang="en-US" sz="900" b="1" kern="0" spc="400" dirty="0">
                <a:solidFill>
                  <a:srgbClr val="C9A96E"/>
                </a:solidFill>
                <a:latin typeface="Arial" pitchFamily="34" charset="0"/>
                <a:ea typeface="Arial" pitchFamily="34" charset="-122"/>
                <a:cs typeface="Arial" pitchFamily="34" charset="-120"/>
              </a:rPr>
              <a:t>CORRIENTE — COMPARATIVA · RITMO MENSUAL · PARA QUIÉN</a:t>
            </a:r>
            <a:endParaRPr lang="en-US" sz="900" dirty="0"/>
          </a:p>
        </p:txBody>
      </p:sp>
      <p:sp>
        <p:nvSpPr>
          <p:cNvPr id="4" name="Shape 2"/>
          <p:cNvSpPr/>
          <p:nvPr/>
        </p:nvSpPr>
        <p:spPr>
          <a:xfrm>
            <a:off x="502920" y="484632"/>
            <a:ext cx="8138160" cy="0"/>
          </a:xfrm>
          <a:prstGeom prst="line">
            <a:avLst/>
          </a:prstGeom>
          <a:noFill/>
          <a:ln w="12700">
            <a:solidFill>
              <a:srgbClr val="F4F2EE"/>
            </a:solidFill>
            <a:prstDash val="solid"/>
          </a:ln>
        </p:spPr>
        <p:txBody>
          <a:bodyPr/>
          <a:lstStyle/>
          <a:p>
            <a:endParaRPr lang="en-US"/>
          </a:p>
        </p:txBody>
      </p:sp>
      <p:sp>
        <p:nvSpPr>
          <p:cNvPr id="5" name="Text 3"/>
          <p:cNvSpPr/>
          <p:nvPr/>
        </p:nvSpPr>
        <p:spPr>
          <a:xfrm>
            <a:off x="502920" y="594360"/>
            <a:ext cx="8229600" cy="365760"/>
          </a:xfrm>
          <a:prstGeom prst="rect">
            <a:avLst/>
          </a:prstGeom>
          <a:noFill/>
          <a:ln/>
        </p:spPr>
        <p:txBody>
          <a:bodyPr wrap="square" rtlCol="0" anchor="ctr"/>
          <a:lstStyle/>
          <a:p>
            <a:pPr marL="0" indent="0" algn="l">
              <a:buNone/>
            </a:pPr>
            <a:r>
              <a:rPr lang="en-US" sz="1800" b="1" dirty="0">
                <a:solidFill>
                  <a:srgbClr val="2C2C2A"/>
                </a:solidFill>
                <a:latin typeface="Cambria" pitchFamily="34" charset="0"/>
                <a:ea typeface="Cambria" pitchFamily="34" charset="-122"/>
                <a:cs typeface="Cambria" pitchFamily="34" charset="-120"/>
              </a:rPr>
              <a:t>Twice the field time. Twice the transformation.</a:t>
            </a:r>
            <a:endParaRPr lang="en-US" sz="1800" dirty="0"/>
          </a:p>
        </p:txBody>
      </p:sp>
      <p:sp>
        <p:nvSpPr>
          <p:cNvPr id="6" name="Shape 4"/>
          <p:cNvSpPr/>
          <p:nvPr/>
        </p:nvSpPr>
        <p:spPr>
          <a:xfrm>
            <a:off x="502920" y="1097280"/>
            <a:ext cx="4069080" cy="1417320"/>
          </a:xfrm>
          <a:prstGeom prst="roundRect">
            <a:avLst>
              <a:gd name="adj" fmla="val 6452"/>
            </a:avLst>
          </a:prstGeom>
          <a:solidFill>
            <a:srgbClr val="EAF4FA"/>
          </a:solidFill>
          <a:ln w="12700">
            <a:solidFill>
              <a:srgbClr val="EAF4FA"/>
            </a:solidFill>
            <a:prstDash val="solid"/>
          </a:ln>
          <a:effectLst>
            <a:outerShdw blurRad="101600" dist="25400" dir="2700000" algn="bl" rotWithShape="0">
              <a:srgbClr val="000000">
                <a:alpha val="9000"/>
              </a:srgbClr>
            </a:outerShdw>
          </a:effectLst>
        </p:spPr>
        <p:txBody>
          <a:bodyPr/>
          <a:lstStyle/>
          <a:p>
            <a:endParaRPr lang="en-US"/>
          </a:p>
        </p:txBody>
      </p:sp>
      <p:sp>
        <p:nvSpPr>
          <p:cNvPr id="7" name="Text 5"/>
          <p:cNvSpPr/>
          <p:nvPr/>
        </p:nvSpPr>
        <p:spPr>
          <a:xfrm>
            <a:off x="640080" y="1188720"/>
            <a:ext cx="3794760" cy="274320"/>
          </a:xfrm>
          <a:prstGeom prst="rect">
            <a:avLst/>
          </a:prstGeom>
          <a:noFill/>
          <a:ln/>
        </p:spPr>
        <p:txBody>
          <a:bodyPr wrap="square" lIns="0" tIns="0" rIns="0" bIns="0" rtlCol="0" anchor="ctr"/>
          <a:lstStyle/>
          <a:p>
            <a:pPr marL="0" indent="0" algn="l">
              <a:buNone/>
            </a:pPr>
            <a:r>
              <a:rPr lang="en-US" sz="1300" b="1" dirty="0">
                <a:solidFill>
                  <a:srgbClr val="2B6B8A"/>
                </a:solidFill>
                <a:latin typeface="Cambria" pitchFamily="34" charset="0"/>
                <a:ea typeface="Cambria" pitchFamily="34" charset="-122"/>
                <a:cs typeface="Cambria" pitchFamily="34" charset="-120"/>
              </a:rPr>
              <a:t>Roots (Journey) – 5 months program</a:t>
            </a:r>
            <a:endParaRPr lang="en-US" sz="1300" dirty="0"/>
          </a:p>
        </p:txBody>
      </p:sp>
      <p:sp>
        <p:nvSpPr>
          <p:cNvPr id="8" name="Text 6"/>
          <p:cNvSpPr/>
          <p:nvPr/>
        </p:nvSpPr>
        <p:spPr>
          <a:xfrm>
            <a:off x="640080" y="1508760"/>
            <a:ext cx="3794760" cy="914400"/>
          </a:xfrm>
          <a:prstGeom prst="rect">
            <a:avLst/>
          </a:prstGeom>
          <a:noFill/>
          <a:ln/>
        </p:spPr>
        <p:txBody>
          <a:bodyPr wrap="square" rtlCol="0" anchor="t"/>
          <a:lstStyle/>
          <a:p>
            <a:pPr marL="342900" indent="-342900" algn="l">
              <a:buSzPct val="100000"/>
              <a:buChar char="•"/>
            </a:pPr>
            <a:r>
              <a:rPr lang="en-US" sz="1100" dirty="0">
                <a:solidFill>
                  <a:srgbClr val="2C2C2A"/>
                </a:solidFill>
                <a:latin typeface="Calibri" pitchFamily="34" charset="0"/>
                <a:ea typeface="Calibri" pitchFamily="34" charset="-122"/>
                <a:cs typeface="Calibri" pitchFamily="34" charset="-120"/>
              </a:rPr>
              <a:t>1 immersion / month</a:t>
            </a:r>
            <a:endParaRPr lang="en-US" sz="1100" dirty="0"/>
          </a:p>
          <a:p>
            <a:pPr marL="342900" indent="-342900" algn="l">
              <a:buSzPct val="100000"/>
              <a:buChar char="•"/>
            </a:pPr>
            <a:r>
              <a:rPr lang="en-US" sz="1100" dirty="0">
                <a:solidFill>
                  <a:srgbClr val="2C2C2A"/>
                </a:solidFill>
                <a:latin typeface="Calibri" pitchFamily="34" charset="0"/>
                <a:ea typeface="Calibri" pitchFamily="34" charset="-122"/>
                <a:cs typeface="Calibri" pitchFamily="34" charset="-120"/>
              </a:rPr>
              <a:t>2 coaching sessions</a:t>
            </a:r>
            <a:endParaRPr lang="en-US" sz="1100" dirty="0"/>
          </a:p>
          <a:p>
            <a:pPr marL="342900" indent="-342900" algn="l">
              <a:buSzPct val="100000"/>
              <a:buChar char="•"/>
            </a:pPr>
            <a:r>
              <a:rPr lang="en-US" sz="1100" dirty="0">
                <a:solidFill>
                  <a:srgbClr val="2C2C2A"/>
                </a:solidFill>
                <a:latin typeface="Calibri" pitchFamily="34" charset="0"/>
                <a:ea typeface="Calibri" pitchFamily="34" charset="-122"/>
                <a:cs typeface="Calibri" pitchFamily="34" charset="-120"/>
              </a:rPr>
              <a:t>5 immersions total</a:t>
            </a:r>
            <a:endParaRPr lang="en-US" sz="1100" dirty="0"/>
          </a:p>
        </p:txBody>
      </p:sp>
      <p:sp>
        <p:nvSpPr>
          <p:cNvPr id="9" name="Shape 7"/>
          <p:cNvSpPr/>
          <p:nvPr/>
        </p:nvSpPr>
        <p:spPr>
          <a:xfrm>
            <a:off x="4800600" y="1097280"/>
            <a:ext cx="4069080" cy="1417320"/>
          </a:xfrm>
          <a:prstGeom prst="roundRect">
            <a:avLst>
              <a:gd name="adj" fmla="val 6452"/>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10" name="Text 8"/>
          <p:cNvSpPr/>
          <p:nvPr/>
        </p:nvSpPr>
        <p:spPr>
          <a:xfrm>
            <a:off x="4937760" y="1188720"/>
            <a:ext cx="3794760" cy="274320"/>
          </a:xfrm>
          <a:prstGeom prst="rect">
            <a:avLst/>
          </a:prstGeom>
          <a:noFill/>
          <a:ln/>
        </p:spPr>
        <p:txBody>
          <a:bodyPr wrap="square" lIns="0" tIns="0" rIns="0" bIns="0" rtlCol="0" anchor="ctr"/>
          <a:lstStyle/>
          <a:p>
            <a:pPr marL="0" indent="0" algn="l">
              <a:buNone/>
            </a:pPr>
            <a:r>
              <a:rPr lang="en-US" sz="1300" b="1" dirty="0">
                <a:solidFill>
                  <a:srgbClr val="C4622D"/>
                </a:solidFill>
                <a:latin typeface="Cambria" pitchFamily="34" charset="0"/>
                <a:ea typeface="Cambria" pitchFamily="34" charset="-122"/>
                <a:cs typeface="Cambria" pitchFamily="34" charset="-120"/>
              </a:rPr>
              <a:t>Current (Intensive) ✦ - 3 months program</a:t>
            </a:r>
            <a:endParaRPr lang="en-US" sz="1300" dirty="0"/>
          </a:p>
        </p:txBody>
      </p:sp>
      <p:sp>
        <p:nvSpPr>
          <p:cNvPr id="11" name="Text 9"/>
          <p:cNvSpPr/>
          <p:nvPr/>
        </p:nvSpPr>
        <p:spPr>
          <a:xfrm>
            <a:off x="4937760" y="1508760"/>
            <a:ext cx="3794760" cy="914400"/>
          </a:xfrm>
          <a:prstGeom prst="rect">
            <a:avLst/>
          </a:prstGeom>
          <a:noFill/>
          <a:ln/>
        </p:spPr>
        <p:txBody>
          <a:bodyPr wrap="square" rtlCol="0" anchor="t"/>
          <a:lstStyle/>
          <a:p>
            <a:pPr marL="342900" indent="-342900" algn="l">
              <a:buSzPct val="100000"/>
              <a:buChar char="•"/>
            </a:pPr>
            <a:r>
              <a:rPr lang="en-US" sz="1100" dirty="0">
                <a:solidFill>
                  <a:srgbClr val="2C2C2A"/>
                </a:solidFill>
                <a:latin typeface="Calibri" pitchFamily="34" charset="0"/>
                <a:ea typeface="Calibri" pitchFamily="34" charset="-122"/>
                <a:cs typeface="Calibri" pitchFamily="34" charset="-120"/>
              </a:rPr>
              <a:t>2 immersions / month</a:t>
            </a:r>
            <a:endParaRPr lang="en-US" sz="1100" dirty="0"/>
          </a:p>
          <a:p>
            <a:pPr marL="342900" indent="-342900" algn="l">
              <a:buSzPct val="100000"/>
              <a:buChar char="•"/>
            </a:pPr>
            <a:r>
              <a:rPr lang="en-US" sz="1100" dirty="0">
                <a:solidFill>
                  <a:srgbClr val="2C2C2A"/>
                </a:solidFill>
                <a:latin typeface="Calibri" pitchFamily="34" charset="0"/>
                <a:ea typeface="Calibri" pitchFamily="34" charset="-122"/>
                <a:cs typeface="Calibri" pitchFamily="34" charset="-120"/>
              </a:rPr>
              <a:t>2 coaching sessions</a:t>
            </a:r>
            <a:endParaRPr lang="en-US" sz="1100" dirty="0"/>
          </a:p>
          <a:p>
            <a:pPr marL="342900" indent="-342900" algn="l">
              <a:buSzPct val="100000"/>
              <a:buChar char="•"/>
            </a:pPr>
            <a:r>
              <a:rPr lang="en-US" sz="1100" dirty="0">
                <a:solidFill>
                  <a:srgbClr val="2C2C2A"/>
                </a:solidFill>
                <a:latin typeface="Calibri" pitchFamily="34" charset="0"/>
                <a:ea typeface="Calibri" pitchFamily="34" charset="-122"/>
                <a:cs typeface="Calibri" pitchFamily="34" charset="-120"/>
              </a:rPr>
              <a:t>Accelerated integration</a:t>
            </a:r>
            <a:endParaRPr lang="en-US" sz="1100" dirty="0"/>
          </a:p>
          <a:p>
            <a:pPr marL="342900" indent="-342900" algn="l">
              <a:buSzPct val="100000"/>
              <a:buChar char="•"/>
            </a:pPr>
            <a:r>
              <a:rPr lang="en-US" sz="1100" dirty="0">
                <a:solidFill>
                  <a:srgbClr val="2C2C2A"/>
                </a:solidFill>
                <a:latin typeface="Calibri" pitchFamily="34" charset="0"/>
                <a:ea typeface="Calibri" pitchFamily="34" charset="-122"/>
                <a:cs typeface="Calibri" pitchFamily="34" charset="-120"/>
              </a:rPr>
              <a:t>5 immersions total</a:t>
            </a:r>
            <a:endParaRPr lang="en-US" sz="1100" dirty="0"/>
          </a:p>
        </p:txBody>
      </p:sp>
      <p:sp>
        <p:nvSpPr>
          <p:cNvPr id="12" name="Text 10"/>
          <p:cNvSpPr/>
          <p:nvPr/>
        </p:nvSpPr>
        <p:spPr>
          <a:xfrm>
            <a:off x="502920" y="2697480"/>
            <a:ext cx="8229600" cy="329184"/>
          </a:xfrm>
          <a:prstGeom prst="rect">
            <a:avLst/>
          </a:prstGeom>
          <a:noFill/>
          <a:ln/>
        </p:spPr>
        <p:txBody>
          <a:bodyPr wrap="square" rtlCol="0" anchor="ctr"/>
          <a:lstStyle/>
          <a:p>
            <a:pPr marL="0" indent="0" algn="l">
              <a:buNone/>
            </a:pPr>
            <a:r>
              <a:rPr lang="en-US" sz="1400" b="1" dirty="0">
                <a:solidFill>
                  <a:srgbClr val="2C2C2A"/>
                </a:solidFill>
                <a:latin typeface="Cambria" pitchFamily="34" charset="0"/>
                <a:ea typeface="Cambria" pitchFamily="34" charset="-122"/>
                <a:cs typeface="Cambria" pitchFamily="34" charset="-120"/>
              </a:rPr>
              <a:t>A Typical Month in Current</a:t>
            </a:r>
            <a:endParaRPr lang="en-US" sz="1400" dirty="0"/>
          </a:p>
        </p:txBody>
      </p:sp>
      <p:sp>
        <p:nvSpPr>
          <p:cNvPr id="13" name="Shape 11"/>
          <p:cNvSpPr/>
          <p:nvPr/>
        </p:nvSpPr>
        <p:spPr>
          <a:xfrm>
            <a:off x="320040" y="3127248"/>
            <a:ext cx="2057400" cy="1755648"/>
          </a:xfrm>
          <a:prstGeom prst="roundRect">
            <a:avLst>
              <a:gd name="adj" fmla="val 4167"/>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14" name="Shape 12"/>
          <p:cNvSpPr/>
          <p:nvPr/>
        </p:nvSpPr>
        <p:spPr>
          <a:xfrm>
            <a:off x="429768" y="3218688"/>
            <a:ext cx="914400" cy="256032"/>
          </a:xfrm>
          <a:prstGeom prst="roundRect">
            <a:avLst>
              <a:gd name="adj" fmla="val 50000"/>
            </a:avLst>
          </a:prstGeom>
          <a:solidFill>
            <a:srgbClr val="C4622D"/>
          </a:solidFill>
          <a:ln w="12700">
            <a:solidFill>
              <a:srgbClr val="C4622D"/>
            </a:solidFill>
            <a:prstDash val="solid"/>
          </a:ln>
        </p:spPr>
        <p:txBody>
          <a:bodyPr/>
          <a:lstStyle/>
          <a:p>
            <a:endParaRPr lang="en-US"/>
          </a:p>
        </p:txBody>
      </p:sp>
      <p:sp>
        <p:nvSpPr>
          <p:cNvPr id="15" name="Text 13"/>
          <p:cNvSpPr/>
          <p:nvPr/>
        </p:nvSpPr>
        <p:spPr>
          <a:xfrm>
            <a:off x="429768" y="321868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Week 1</a:t>
            </a:r>
            <a:endParaRPr lang="en-US" sz="800" dirty="0"/>
          </a:p>
        </p:txBody>
      </p:sp>
      <p:sp>
        <p:nvSpPr>
          <p:cNvPr id="16" name="Text 14"/>
          <p:cNvSpPr/>
          <p:nvPr/>
        </p:nvSpPr>
        <p:spPr>
          <a:xfrm>
            <a:off x="429768" y="3538728"/>
            <a:ext cx="1837944" cy="274320"/>
          </a:xfrm>
          <a:prstGeom prst="rect">
            <a:avLst/>
          </a:prstGeom>
          <a:noFill/>
          <a:ln/>
        </p:spPr>
        <p:txBody>
          <a:bodyPr wrap="square" lIns="0" tIns="0" rIns="0" bIns="0" rtlCol="0" anchor="ctr"/>
          <a:lstStyle/>
          <a:p>
            <a:pPr marL="0" indent="0" algn="l">
              <a:buNone/>
            </a:pPr>
            <a:r>
              <a:rPr lang="en-US" sz="1100" b="1" dirty="0">
                <a:solidFill>
                  <a:srgbClr val="C4622D"/>
                </a:solidFill>
                <a:latin typeface="Cambria" pitchFamily="34" charset="0"/>
                <a:ea typeface="Cambria" pitchFamily="34" charset="-122"/>
                <a:cs typeface="Cambria" pitchFamily="34" charset="-120"/>
              </a:rPr>
              <a:t>Opening Immersion</a:t>
            </a:r>
            <a:endParaRPr lang="en-US" sz="1100" dirty="0"/>
          </a:p>
        </p:txBody>
      </p:sp>
      <p:sp>
        <p:nvSpPr>
          <p:cNvPr id="17" name="Text 15"/>
          <p:cNvSpPr/>
          <p:nvPr/>
        </p:nvSpPr>
        <p:spPr>
          <a:xfrm>
            <a:off x="429768" y="3858768"/>
            <a:ext cx="1837944" cy="960120"/>
          </a:xfrm>
          <a:prstGeom prst="rect">
            <a:avLst/>
          </a:prstGeom>
          <a:noFill/>
          <a:ln/>
        </p:spPr>
        <p:txBody>
          <a:bodyPr wrap="square" rtlCol="0" anchor="t"/>
          <a:lstStyle/>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Full-day in nature</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Element activation</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Group experience</a:t>
            </a:r>
            <a:endParaRPr lang="en-US" sz="950" dirty="0"/>
          </a:p>
        </p:txBody>
      </p:sp>
      <p:sp>
        <p:nvSpPr>
          <p:cNvPr id="18" name="Shape 16"/>
          <p:cNvSpPr/>
          <p:nvPr/>
        </p:nvSpPr>
        <p:spPr>
          <a:xfrm>
            <a:off x="2532888" y="3127248"/>
            <a:ext cx="2057400" cy="1755648"/>
          </a:xfrm>
          <a:prstGeom prst="roundRect">
            <a:avLst>
              <a:gd name="adj" fmla="val 4167"/>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19" name="Shape 17"/>
          <p:cNvSpPr/>
          <p:nvPr/>
        </p:nvSpPr>
        <p:spPr>
          <a:xfrm>
            <a:off x="2642616" y="3218688"/>
            <a:ext cx="914400" cy="256032"/>
          </a:xfrm>
          <a:prstGeom prst="roundRect">
            <a:avLst>
              <a:gd name="adj" fmla="val 50000"/>
            </a:avLst>
          </a:prstGeom>
          <a:solidFill>
            <a:srgbClr val="C4622D"/>
          </a:solidFill>
          <a:ln w="12700">
            <a:solidFill>
              <a:srgbClr val="C4622D"/>
            </a:solidFill>
            <a:prstDash val="solid"/>
          </a:ln>
        </p:spPr>
        <p:txBody>
          <a:bodyPr/>
          <a:lstStyle/>
          <a:p>
            <a:endParaRPr lang="en-US"/>
          </a:p>
        </p:txBody>
      </p:sp>
      <p:sp>
        <p:nvSpPr>
          <p:cNvPr id="20" name="Text 18"/>
          <p:cNvSpPr/>
          <p:nvPr/>
        </p:nvSpPr>
        <p:spPr>
          <a:xfrm>
            <a:off x="2642616" y="321868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Week 2</a:t>
            </a:r>
            <a:endParaRPr lang="en-US" sz="800" dirty="0"/>
          </a:p>
        </p:txBody>
      </p:sp>
      <p:sp>
        <p:nvSpPr>
          <p:cNvPr id="21" name="Text 19"/>
          <p:cNvSpPr/>
          <p:nvPr/>
        </p:nvSpPr>
        <p:spPr>
          <a:xfrm>
            <a:off x="2642616" y="3538728"/>
            <a:ext cx="1837944" cy="274320"/>
          </a:xfrm>
          <a:prstGeom prst="rect">
            <a:avLst/>
          </a:prstGeom>
          <a:noFill/>
          <a:ln/>
        </p:spPr>
        <p:txBody>
          <a:bodyPr wrap="square" lIns="0" tIns="0" rIns="0" bIns="0" rtlCol="0" anchor="ctr"/>
          <a:lstStyle/>
          <a:p>
            <a:pPr marL="0" indent="0" algn="l">
              <a:buNone/>
            </a:pPr>
            <a:r>
              <a:rPr lang="en-US" sz="1100" b="1" dirty="0">
                <a:solidFill>
                  <a:srgbClr val="C4622D"/>
                </a:solidFill>
                <a:latin typeface="Cambria" pitchFamily="34" charset="0"/>
                <a:ea typeface="Cambria" pitchFamily="34" charset="-122"/>
                <a:cs typeface="Cambria" pitchFamily="34" charset="-120"/>
              </a:rPr>
              <a:t>Integration Coaching</a:t>
            </a:r>
            <a:endParaRPr lang="en-US" sz="1100" dirty="0"/>
          </a:p>
        </p:txBody>
      </p:sp>
      <p:sp>
        <p:nvSpPr>
          <p:cNvPr id="22" name="Text 20"/>
          <p:cNvSpPr/>
          <p:nvPr/>
        </p:nvSpPr>
        <p:spPr>
          <a:xfrm>
            <a:off x="2642616" y="3858768"/>
            <a:ext cx="1837944" cy="960120"/>
          </a:xfrm>
          <a:prstGeom prst="rect">
            <a:avLst/>
          </a:prstGeom>
          <a:noFill/>
          <a:ln/>
        </p:spPr>
        <p:txBody>
          <a:bodyPr wrap="square" rtlCol="0" anchor="t"/>
          <a:lstStyle/>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1:1 coaching session</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Leadership mapping</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Personal challenge</a:t>
            </a:r>
            <a:endParaRPr lang="en-US" sz="950" dirty="0"/>
          </a:p>
        </p:txBody>
      </p:sp>
      <p:sp>
        <p:nvSpPr>
          <p:cNvPr id="23" name="Shape 21"/>
          <p:cNvSpPr/>
          <p:nvPr/>
        </p:nvSpPr>
        <p:spPr>
          <a:xfrm>
            <a:off x="4745736" y="3127248"/>
            <a:ext cx="2057400" cy="1755648"/>
          </a:xfrm>
          <a:prstGeom prst="roundRect">
            <a:avLst>
              <a:gd name="adj" fmla="val 4167"/>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24" name="Shape 22"/>
          <p:cNvSpPr/>
          <p:nvPr/>
        </p:nvSpPr>
        <p:spPr>
          <a:xfrm>
            <a:off x="4855464" y="3218688"/>
            <a:ext cx="914400" cy="256032"/>
          </a:xfrm>
          <a:prstGeom prst="roundRect">
            <a:avLst>
              <a:gd name="adj" fmla="val 50000"/>
            </a:avLst>
          </a:prstGeom>
          <a:solidFill>
            <a:srgbClr val="C4622D"/>
          </a:solidFill>
          <a:ln w="12700">
            <a:solidFill>
              <a:srgbClr val="C4622D"/>
            </a:solidFill>
            <a:prstDash val="solid"/>
          </a:ln>
        </p:spPr>
        <p:txBody>
          <a:bodyPr/>
          <a:lstStyle/>
          <a:p>
            <a:endParaRPr lang="en-US"/>
          </a:p>
        </p:txBody>
      </p:sp>
      <p:sp>
        <p:nvSpPr>
          <p:cNvPr id="25" name="Text 23"/>
          <p:cNvSpPr/>
          <p:nvPr/>
        </p:nvSpPr>
        <p:spPr>
          <a:xfrm>
            <a:off x="4855464" y="321868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Week 3</a:t>
            </a:r>
            <a:endParaRPr lang="en-US" sz="800" dirty="0"/>
          </a:p>
        </p:txBody>
      </p:sp>
      <p:sp>
        <p:nvSpPr>
          <p:cNvPr id="26" name="Text 24"/>
          <p:cNvSpPr/>
          <p:nvPr/>
        </p:nvSpPr>
        <p:spPr>
          <a:xfrm>
            <a:off x="4855464" y="3538728"/>
            <a:ext cx="1837944" cy="274320"/>
          </a:xfrm>
          <a:prstGeom prst="rect">
            <a:avLst/>
          </a:prstGeom>
          <a:noFill/>
          <a:ln/>
        </p:spPr>
        <p:txBody>
          <a:bodyPr wrap="square" lIns="0" tIns="0" rIns="0" bIns="0" rtlCol="0" anchor="ctr"/>
          <a:lstStyle/>
          <a:p>
            <a:pPr marL="0" indent="0" algn="l">
              <a:buNone/>
            </a:pPr>
            <a:r>
              <a:rPr lang="en-US" sz="1100" b="1" dirty="0">
                <a:solidFill>
                  <a:srgbClr val="C4622D"/>
                </a:solidFill>
                <a:latin typeface="Cambria" pitchFamily="34" charset="0"/>
                <a:ea typeface="Cambria" pitchFamily="34" charset="-122"/>
                <a:cs typeface="Cambria" pitchFamily="34" charset="-120"/>
              </a:rPr>
              <a:t>Deep Immersion</a:t>
            </a:r>
            <a:endParaRPr lang="en-US" sz="1100" dirty="0"/>
          </a:p>
        </p:txBody>
      </p:sp>
      <p:sp>
        <p:nvSpPr>
          <p:cNvPr id="27" name="Text 25"/>
          <p:cNvSpPr/>
          <p:nvPr/>
        </p:nvSpPr>
        <p:spPr>
          <a:xfrm>
            <a:off x="4855464" y="3858768"/>
            <a:ext cx="1837944" cy="960120"/>
          </a:xfrm>
          <a:prstGeom prst="rect">
            <a:avLst/>
          </a:prstGeom>
          <a:noFill/>
          <a:ln/>
        </p:spPr>
        <p:txBody>
          <a:bodyPr wrap="square" rtlCol="0" anchor="t"/>
          <a:lstStyle/>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Second field day</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Element deepening</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Leadership practice</a:t>
            </a:r>
            <a:endParaRPr lang="en-US" sz="950" dirty="0"/>
          </a:p>
        </p:txBody>
      </p:sp>
      <p:sp>
        <p:nvSpPr>
          <p:cNvPr id="28" name="Shape 26"/>
          <p:cNvSpPr/>
          <p:nvPr/>
        </p:nvSpPr>
        <p:spPr>
          <a:xfrm>
            <a:off x="6958584" y="3127248"/>
            <a:ext cx="2057400" cy="1755648"/>
          </a:xfrm>
          <a:prstGeom prst="roundRect">
            <a:avLst>
              <a:gd name="adj" fmla="val 4167"/>
            </a:avLst>
          </a:prstGeom>
          <a:solidFill>
            <a:srgbClr val="FDF3EB"/>
          </a:solidFill>
          <a:ln w="12700">
            <a:solidFill>
              <a:srgbClr val="FDF3EB"/>
            </a:solidFill>
            <a:prstDash val="solid"/>
          </a:ln>
          <a:effectLst>
            <a:outerShdw blurRad="101600" dist="25400" dir="2700000" algn="bl" rotWithShape="0">
              <a:srgbClr val="000000">
                <a:alpha val="9000"/>
              </a:srgbClr>
            </a:outerShdw>
          </a:effectLst>
        </p:spPr>
        <p:txBody>
          <a:bodyPr/>
          <a:lstStyle/>
          <a:p>
            <a:endParaRPr lang="en-US"/>
          </a:p>
        </p:txBody>
      </p:sp>
      <p:sp>
        <p:nvSpPr>
          <p:cNvPr id="29" name="Shape 27"/>
          <p:cNvSpPr/>
          <p:nvPr/>
        </p:nvSpPr>
        <p:spPr>
          <a:xfrm>
            <a:off x="7068312" y="3218688"/>
            <a:ext cx="914400" cy="256032"/>
          </a:xfrm>
          <a:prstGeom prst="roundRect">
            <a:avLst>
              <a:gd name="adj" fmla="val 50000"/>
            </a:avLst>
          </a:prstGeom>
          <a:solidFill>
            <a:srgbClr val="C4622D"/>
          </a:solidFill>
          <a:ln w="12700">
            <a:solidFill>
              <a:srgbClr val="C4622D"/>
            </a:solidFill>
            <a:prstDash val="solid"/>
          </a:ln>
        </p:spPr>
        <p:txBody>
          <a:bodyPr/>
          <a:lstStyle/>
          <a:p>
            <a:endParaRPr lang="en-US"/>
          </a:p>
        </p:txBody>
      </p:sp>
      <p:sp>
        <p:nvSpPr>
          <p:cNvPr id="30" name="Text 28"/>
          <p:cNvSpPr/>
          <p:nvPr/>
        </p:nvSpPr>
        <p:spPr>
          <a:xfrm>
            <a:off x="7068312" y="321868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Week 4</a:t>
            </a:r>
            <a:endParaRPr lang="en-US" sz="800" dirty="0"/>
          </a:p>
        </p:txBody>
      </p:sp>
      <p:sp>
        <p:nvSpPr>
          <p:cNvPr id="31" name="Text 29"/>
          <p:cNvSpPr/>
          <p:nvPr/>
        </p:nvSpPr>
        <p:spPr>
          <a:xfrm>
            <a:off x="7068312" y="3538728"/>
            <a:ext cx="1837944" cy="274320"/>
          </a:xfrm>
          <a:prstGeom prst="rect">
            <a:avLst/>
          </a:prstGeom>
          <a:noFill/>
          <a:ln/>
        </p:spPr>
        <p:txBody>
          <a:bodyPr wrap="square" lIns="0" tIns="0" rIns="0" bIns="0" rtlCol="0" anchor="ctr"/>
          <a:lstStyle/>
          <a:p>
            <a:pPr marL="0" indent="0" algn="l">
              <a:buNone/>
            </a:pPr>
            <a:r>
              <a:rPr lang="en-US" sz="1100" b="1" dirty="0">
                <a:solidFill>
                  <a:srgbClr val="C4622D"/>
                </a:solidFill>
                <a:latin typeface="Cambria" pitchFamily="34" charset="0"/>
                <a:ea typeface="Cambria" pitchFamily="34" charset="-122"/>
                <a:cs typeface="Cambria" pitchFamily="34" charset="-120"/>
              </a:rPr>
              <a:t>Closing &amp; Synthesis</a:t>
            </a:r>
            <a:endParaRPr lang="en-US" sz="1100" dirty="0"/>
          </a:p>
        </p:txBody>
      </p:sp>
      <p:sp>
        <p:nvSpPr>
          <p:cNvPr id="32" name="Text 30"/>
          <p:cNvSpPr/>
          <p:nvPr/>
        </p:nvSpPr>
        <p:spPr>
          <a:xfrm>
            <a:off x="7068312" y="3858768"/>
            <a:ext cx="1837944" cy="960120"/>
          </a:xfrm>
          <a:prstGeom prst="rect">
            <a:avLst/>
          </a:prstGeom>
          <a:noFill/>
          <a:ln/>
        </p:spPr>
        <p:txBody>
          <a:bodyPr wrap="square" rtlCol="0" anchor="t"/>
          <a:lstStyle/>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1:1 coaching session</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Month review</a:t>
            </a:r>
            <a:endParaRPr lang="en-US" sz="950" dirty="0"/>
          </a:p>
          <a:p>
            <a:pPr marL="342900" indent="-342900" algn="l">
              <a:buSzPct val="100000"/>
              <a:buChar char="•"/>
            </a:pPr>
            <a:r>
              <a:rPr lang="en-US" sz="950" dirty="0">
                <a:solidFill>
                  <a:srgbClr val="2C2C2A"/>
                </a:solidFill>
                <a:latin typeface="Calibri" pitchFamily="34" charset="0"/>
                <a:ea typeface="Calibri" pitchFamily="34" charset="-122"/>
                <a:cs typeface="Calibri" pitchFamily="34" charset="-120"/>
              </a:rPr>
              <a:t>Next element preview</a:t>
            </a:r>
            <a:endParaRPr lang="en-US" sz="950" dirty="0"/>
          </a:p>
        </p:txBody>
      </p:sp>
      <p:sp>
        <p:nvSpPr>
          <p:cNvPr id="33" name="Shape 31"/>
          <p:cNvSpPr/>
          <p:nvPr/>
        </p:nvSpPr>
        <p:spPr>
          <a:xfrm>
            <a:off x="502920" y="4919472"/>
            <a:ext cx="8138160" cy="274320"/>
          </a:xfrm>
          <a:prstGeom prst="roundRect">
            <a:avLst>
              <a:gd name="adj" fmla="val 26667"/>
            </a:avLst>
          </a:prstGeom>
          <a:solidFill>
            <a:srgbClr val="C4622D"/>
          </a:solidFill>
          <a:ln w="12700">
            <a:solidFill>
              <a:srgbClr val="C4622D"/>
            </a:solidFill>
            <a:prstDash val="solid"/>
          </a:ln>
        </p:spPr>
        <p:txBody>
          <a:bodyPr/>
          <a:lstStyle/>
          <a:p>
            <a:endParaRPr lang="en-US"/>
          </a:p>
        </p:txBody>
      </p:sp>
      <p:sp>
        <p:nvSpPr>
          <p:cNvPr id="34" name="Text 32"/>
          <p:cNvSpPr/>
          <p:nvPr/>
        </p:nvSpPr>
        <p:spPr>
          <a:xfrm>
            <a:off x="640080" y="4919472"/>
            <a:ext cx="78638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Apply for Current  ·  Intensive cohorts are kept deliberately small.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D5A3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48640" y="502920"/>
            <a:ext cx="8046720" cy="256032"/>
          </a:xfrm>
          <a:prstGeom prst="rect">
            <a:avLst/>
          </a:prstGeom>
          <a:noFill/>
          <a:ln/>
        </p:spPr>
        <p:txBody>
          <a:bodyPr wrap="square" rtlCol="0" anchor="ctr"/>
          <a:lstStyle/>
          <a:p>
            <a:pPr marL="0" indent="0" algn="l">
              <a:buNone/>
            </a:pPr>
            <a:r>
              <a:rPr lang="en-US" sz="900" b="1" kern="0" spc="300" dirty="0">
                <a:solidFill>
                  <a:srgbClr val="EEF5EE"/>
                </a:solidFill>
                <a:latin typeface="Arial" pitchFamily="34" charset="0"/>
                <a:ea typeface="Arial" pitchFamily="34" charset="-122"/>
                <a:cs typeface="Arial" pitchFamily="34" charset="-120"/>
              </a:rPr>
              <a:t>ELEMENTS METHOD  ·  PÁGINA DE PROGRAMA</a:t>
            </a:r>
            <a:endParaRPr lang="en-US" sz="900" dirty="0"/>
          </a:p>
        </p:txBody>
      </p:sp>
      <p:sp>
        <p:nvSpPr>
          <p:cNvPr id="4" name="Text 2"/>
          <p:cNvSpPr/>
          <p:nvPr/>
        </p:nvSpPr>
        <p:spPr>
          <a:xfrm>
            <a:off x="548640" y="914400"/>
            <a:ext cx="8046720" cy="256032"/>
          </a:xfrm>
          <a:prstGeom prst="rect">
            <a:avLst/>
          </a:prstGeom>
          <a:noFill/>
          <a:ln/>
        </p:spPr>
        <p:txBody>
          <a:bodyPr wrap="square" rtlCol="0" anchor="ctr"/>
          <a:lstStyle/>
          <a:p>
            <a:pPr marL="0" indent="0" algn="l">
              <a:buNone/>
            </a:pPr>
            <a:r>
              <a:rPr lang="en-US" sz="1100" dirty="0">
                <a:solidFill>
                  <a:srgbClr val="EEF5EE"/>
                </a:solidFill>
                <a:latin typeface="Calibri" pitchFamily="34" charset="0"/>
                <a:ea typeface="Calibri" pitchFamily="34" charset="-122"/>
                <a:cs typeface="Calibri" pitchFamily="34" charset="-120"/>
              </a:rPr>
              <a:t>Full Immersion · 3 DAY RETREAT IN NATURE </a:t>
            </a:r>
            <a:endParaRPr lang="en-US" sz="1100" dirty="0"/>
          </a:p>
        </p:txBody>
      </p:sp>
      <p:sp>
        <p:nvSpPr>
          <p:cNvPr id="5" name="Text 3"/>
          <p:cNvSpPr/>
          <p:nvPr/>
        </p:nvSpPr>
        <p:spPr>
          <a:xfrm>
            <a:off x="548640" y="1234440"/>
            <a:ext cx="8046720" cy="100584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Source Full Immersion</a:t>
            </a:r>
            <a:endParaRPr lang="en-US" sz="4000" dirty="0"/>
          </a:p>
        </p:txBody>
      </p:sp>
      <p:sp>
        <p:nvSpPr>
          <p:cNvPr id="6" name="Text 4"/>
          <p:cNvSpPr/>
          <p:nvPr/>
        </p:nvSpPr>
        <p:spPr>
          <a:xfrm>
            <a:off x="548640" y="2377440"/>
            <a:ext cx="7315200" cy="457200"/>
          </a:xfrm>
          <a:prstGeom prst="rect">
            <a:avLst/>
          </a:prstGeom>
          <a:noFill/>
          <a:ln/>
        </p:spPr>
        <p:txBody>
          <a:bodyPr wrap="square" rtlCol="0" anchor="ctr"/>
          <a:lstStyle/>
          <a:p>
            <a:pPr marL="0" indent="0" algn="l">
              <a:buNone/>
            </a:pPr>
            <a:r>
              <a:rPr lang="en-US" sz="1700" i="1" dirty="0">
                <a:solidFill>
                  <a:srgbClr val="EEF5EE"/>
                </a:solidFill>
                <a:latin typeface="Cambria" pitchFamily="34" charset="0"/>
                <a:ea typeface="Cambria" pitchFamily="34" charset="-122"/>
                <a:cs typeface="Cambria" pitchFamily="34" charset="-120"/>
              </a:rPr>
              <a:t>The most intense and immersive leadership transformation available.</a:t>
            </a:r>
            <a:endParaRPr lang="en-US" sz="1700" dirty="0"/>
          </a:p>
        </p:txBody>
      </p:sp>
      <p:sp>
        <p:nvSpPr>
          <p:cNvPr id="7" name="Text 5"/>
          <p:cNvSpPr/>
          <p:nvPr/>
        </p:nvSpPr>
        <p:spPr>
          <a:xfrm>
            <a:off x="548640" y="2971800"/>
            <a:ext cx="7315200" cy="365760"/>
          </a:xfrm>
          <a:prstGeom prst="rect">
            <a:avLst/>
          </a:prstGeom>
          <a:noFill/>
          <a:ln/>
        </p:spPr>
        <p:txBody>
          <a:bodyPr wrap="square" rtlCol="0" anchor="ctr"/>
          <a:lstStyle/>
          <a:p>
            <a:pPr marL="0" indent="0" algn="l">
              <a:buNone/>
            </a:pPr>
            <a:r>
              <a:rPr lang="es-MX" sz="1200" dirty="0">
                <a:solidFill>
                  <a:srgbClr val="EEF5EE"/>
                </a:solidFill>
                <a:latin typeface="Calibri" pitchFamily="34" charset="0"/>
                <a:ea typeface="Calibri" pitchFamily="34" charset="-122"/>
                <a:cs typeface="Calibri" pitchFamily="34" charset="-120"/>
              </a:rPr>
              <a:t>3 </a:t>
            </a:r>
            <a:r>
              <a:rPr lang="es-MX" sz="1200" dirty="0" err="1">
                <a:solidFill>
                  <a:srgbClr val="EEF5EE"/>
                </a:solidFill>
                <a:latin typeface="Calibri" pitchFamily="34" charset="0"/>
                <a:ea typeface="Calibri" pitchFamily="34" charset="-122"/>
                <a:cs typeface="Calibri" pitchFamily="34" charset="-120"/>
              </a:rPr>
              <a:t>days</a:t>
            </a:r>
            <a:r>
              <a:rPr lang="es-MX" sz="1200" dirty="0">
                <a:solidFill>
                  <a:srgbClr val="EEF5EE"/>
                </a:solidFill>
                <a:latin typeface="Calibri" pitchFamily="34" charset="0"/>
                <a:ea typeface="Calibri" pitchFamily="34" charset="-122"/>
                <a:cs typeface="Calibri" pitchFamily="34" charset="-120"/>
              </a:rPr>
              <a:t>, 5 </a:t>
            </a:r>
            <a:r>
              <a:rPr lang="es-MX" sz="1200" dirty="0" err="1">
                <a:solidFill>
                  <a:srgbClr val="EEF5EE"/>
                </a:solidFill>
                <a:latin typeface="Calibri" pitchFamily="34" charset="0"/>
                <a:ea typeface="Calibri" pitchFamily="34" charset="-122"/>
                <a:cs typeface="Calibri" pitchFamily="34" charset="-120"/>
              </a:rPr>
              <a:t>elements</a:t>
            </a:r>
            <a:r>
              <a:rPr lang="es-MX" sz="1200" dirty="0">
                <a:solidFill>
                  <a:srgbClr val="EEF5EE"/>
                </a:solidFill>
                <a:latin typeface="Calibri" pitchFamily="34" charset="0"/>
                <a:ea typeface="Calibri" pitchFamily="34" charset="-122"/>
                <a:cs typeface="Calibri" pitchFamily="34" charset="-120"/>
              </a:rPr>
              <a:t>, 4 </a:t>
            </a:r>
            <a:r>
              <a:rPr lang="es-MX" sz="1200" dirty="0" err="1">
                <a:solidFill>
                  <a:srgbClr val="EEF5EE"/>
                </a:solidFill>
                <a:latin typeface="Calibri" pitchFamily="34" charset="0"/>
                <a:ea typeface="Calibri" pitchFamily="34" charset="-122"/>
                <a:cs typeface="Calibri" pitchFamily="34" charset="-120"/>
              </a:rPr>
              <a:t>methodologies</a:t>
            </a:r>
            <a:r>
              <a:rPr lang="es-MX" sz="1200" dirty="0">
                <a:solidFill>
                  <a:srgbClr val="EEF5EE"/>
                </a:solidFill>
                <a:latin typeface="Calibri" pitchFamily="34" charset="0"/>
                <a:ea typeface="Calibri" pitchFamily="34" charset="-122"/>
                <a:cs typeface="Calibri" pitchFamily="34" charset="-120"/>
              </a:rPr>
              <a:t>, 12 coaching </a:t>
            </a:r>
            <a:r>
              <a:rPr lang="es-MX" sz="1200" dirty="0" err="1">
                <a:solidFill>
                  <a:srgbClr val="EEF5EE"/>
                </a:solidFill>
                <a:latin typeface="Calibri" pitchFamily="34" charset="0"/>
                <a:ea typeface="Calibri" pitchFamily="34" charset="-122"/>
                <a:cs typeface="Calibri" pitchFamily="34" charset="-120"/>
              </a:rPr>
              <a:t>sessions</a:t>
            </a:r>
            <a:r>
              <a:rPr lang="es-MX" sz="1200" dirty="0">
                <a:solidFill>
                  <a:srgbClr val="EEF5EE"/>
                </a:solidFill>
                <a:latin typeface="Calibri" pitchFamily="34" charset="0"/>
                <a:ea typeface="Calibri" pitchFamily="34" charset="-122"/>
                <a:cs typeface="Calibri" pitchFamily="34" charset="-120"/>
              </a:rPr>
              <a:t> post </a:t>
            </a:r>
            <a:r>
              <a:rPr lang="es-MX" sz="1200" dirty="0" err="1">
                <a:solidFill>
                  <a:srgbClr val="EEF5EE"/>
                </a:solidFill>
                <a:latin typeface="Calibri" pitchFamily="34" charset="0"/>
                <a:ea typeface="Calibri" pitchFamily="34" charset="-122"/>
                <a:cs typeface="Calibri" pitchFamily="34" charset="-120"/>
              </a:rPr>
              <a:t>retreat</a:t>
            </a:r>
            <a:r>
              <a:rPr lang="es-MX" sz="1200" dirty="0">
                <a:solidFill>
                  <a:srgbClr val="EEF5EE"/>
                </a:solidFill>
                <a:latin typeface="Calibri" pitchFamily="34" charset="0"/>
                <a:ea typeface="Calibri" pitchFamily="34" charset="-122"/>
                <a:cs typeface="Calibri" pitchFamily="34" charset="-120"/>
              </a:rPr>
              <a:t>, a </a:t>
            </a:r>
            <a:r>
              <a:rPr lang="es-MX" sz="1200" dirty="0" err="1">
                <a:solidFill>
                  <a:srgbClr val="EEF5EE"/>
                </a:solidFill>
                <a:latin typeface="Calibri" pitchFamily="34" charset="0"/>
                <a:ea typeface="Calibri" pitchFamily="34" charset="-122"/>
                <a:cs typeface="Calibri" pitchFamily="34" charset="-120"/>
              </a:rPr>
              <a:t>lifetime</a:t>
            </a:r>
            <a:r>
              <a:rPr lang="es-MX" sz="1200" dirty="0">
                <a:solidFill>
                  <a:srgbClr val="EEF5EE"/>
                </a:solidFill>
                <a:latin typeface="Calibri" pitchFamily="34" charset="0"/>
                <a:ea typeface="Calibri" pitchFamily="34" charset="-122"/>
                <a:cs typeface="Calibri" pitchFamily="34" charset="-120"/>
              </a:rPr>
              <a:t> </a:t>
            </a:r>
            <a:r>
              <a:rPr lang="es-MX" sz="1200" dirty="0" err="1">
                <a:solidFill>
                  <a:srgbClr val="EEF5EE"/>
                </a:solidFill>
                <a:latin typeface="Calibri" pitchFamily="34" charset="0"/>
                <a:ea typeface="Calibri" pitchFamily="34" charset="-122"/>
                <a:cs typeface="Calibri" pitchFamily="34" charset="-120"/>
              </a:rPr>
              <a:t>experience</a:t>
            </a:r>
            <a:endParaRPr lang="en-US" sz="1200" dirty="0"/>
          </a:p>
        </p:txBody>
      </p:sp>
      <p:sp>
        <p:nvSpPr>
          <p:cNvPr id="8" name="Text 6"/>
          <p:cNvSpPr/>
          <p:nvPr/>
        </p:nvSpPr>
        <p:spPr>
          <a:xfrm>
            <a:off x="548640" y="3520440"/>
            <a:ext cx="560313" cy="548640"/>
          </a:xfrm>
          <a:prstGeom prst="rect">
            <a:avLst/>
          </a:prstGeom>
          <a:noFill/>
          <a:ln/>
        </p:spPr>
        <p:txBody>
          <a:bodyPr wrap="square" rtlCol="0" anchor="ctr"/>
          <a:lstStyle/>
          <a:p>
            <a:pPr marL="0" indent="0" algn="l">
              <a:buNone/>
            </a:pPr>
            <a:r>
              <a:rPr lang="es-MX" sz="3000" b="1" dirty="0">
                <a:solidFill>
                  <a:srgbClr val="FFFFFF"/>
                </a:solidFill>
                <a:latin typeface="Cambria" pitchFamily="34" charset="0"/>
                <a:ea typeface="Cambria" pitchFamily="34" charset="-122"/>
              </a:rPr>
              <a:t>3</a:t>
            </a:r>
            <a:endParaRPr lang="en-US" sz="3000" dirty="0"/>
          </a:p>
        </p:txBody>
      </p:sp>
      <p:sp>
        <p:nvSpPr>
          <p:cNvPr id="9" name="Text 7"/>
          <p:cNvSpPr/>
          <p:nvPr/>
        </p:nvSpPr>
        <p:spPr>
          <a:xfrm>
            <a:off x="1417645" y="4099819"/>
            <a:ext cx="2011680" cy="237744"/>
          </a:xfrm>
          <a:prstGeom prst="rect">
            <a:avLst/>
          </a:prstGeom>
          <a:noFill/>
          <a:ln/>
        </p:spPr>
        <p:txBody>
          <a:bodyPr wrap="square" rtlCol="0" anchor="ctr"/>
          <a:lstStyle/>
          <a:p>
            <a:pPr marL="0" indent="0" algn="l">
              <a:buNone/>
            </a:pPr>
            <a:r>
              <a:rPr lang="es-MX" sz="1000" dirty="0" err="1">
                <a:solidFill>
                  <a:srgbClr val="EEF5EE"/>
                </a:solidFill>
                <a:latin typeface="Calibri" pitchFamily="34" charset="0"/>
                <a:ea typeface="Calibri" pitchFamily="34" charset="-122"/>
                <a:cs typeface="Calibri" pitchFamily="34" charset="-120"/>
              </a:rPr>
              <a:t>Elements</a:t>
            </a:r>
            <a:endParaRPr lang="en-US" sz="1000" dirty="0"/>
          </a:p>
        </p:txBody>
      </p:sp>
      <p:sp>
        <p:nvSpPr>
          <p:cNvPr id="10" name="Text 8"/>
          <p:cNvSpPr/>
          <p:nvPr/>
        </p:nvSpPr>
        <p:spPr>
          <a:xfrm>
            <a:off x="3617414" y="3552331"/>
            <a:ext cx="889497" cy="548640"/>
          </a:xfrm>
          <a:prstGeom prst="rect">
            <a:avLst/>
          </a:prstGeom>
          <a:noFill/>
          <a:ln/>
        </p:spPr>
        <p:txBody>
          <a:bodyPr wrap="square" rtlCol="0" anchor="ctr"/>
          <a:lstStyle/>
          <a:p>
            <a:pPr marL="0" indent="0" algn="l">
              <a:buNone/>
            </a:pPr>
            <a:r>
              <a:rPr lang="es-MX" sz="3000" b="1" dirty="0">
                <a:solidFill>
                  <a:srgbClr val="FFFFFF"/>
                </a:solidFill>
                <a:latin typeface="Cambria" pitchFamily="34" charset="0"/>
                <a:ea typeface="Cambria" pitchFamily="34" charset="-122"/>
              </a:rPr>
              <a:t>1</a:t>
            </a:r>
            <a:r>
              <a:rPr lang="en-US" sz="3000" b="1" dirty="0">
                <a:solidFill>
                  <a:srgbClr val="FFFFFF"/>
                </a:solidFill>
                <a:latin typeface="Cambria" pitchFamily="34" charset="0"/>
                <a:ea typeface="Cambria" pitchFamily="34" charset="-122"/>
              </a:rPr>
              <a:t>2</a:t>
            </a:r>
            <a:endParaRPr lang="en-US" sz="3000" dirty="0"/>
          </a:p>
        </p:txBody>
      </p:sp>
      <p:sp>
        <p:nvSpPr>
          <p:cNvPr id="11" name="Text 9"/>
          <p:cNvSpPr/>
          <p:nvPr/>
        </p:nvSpPr>
        <p:spPr>
          <a:xfrm>
            <a:off x="3429325" y="4142232"/>
            <a:ext cx="1517905" cy="265176"/>
          </a:xfrm>
          <a:prstGeom prst="rect">
            <a:avLst/>
          </a:prstGeom>
          <a:noFill/>
          <a:ln/>
        </p:spPr>
        <p:txBody>
          <a:bodyPr wrap="square" rtlCol="0" anchor="ctr"/>
          <a:lstStyle/>
          <a:p>
            <a:pPr marL="0" indent="0" algn="l">
              <a:buNone/>
            </a:pPr>
            <a:r>
              <a:rPr lang="en-US" sz="1000" dirty="0">
                <a:solidFill>
                  <a:srgbClr val="EEF5EE"/>
                </a:solidFill>
                <a:latin typeface="Calibri" pitchFamily="34" charset="0"/>
                <a:ea typeface="Calibri" pitchFamily="34" charset="-122"/>
                <a:cs typeface="Calibri" pitchFamily="34" charset="-120"/>
              </a:rPr>
              <a:t>Coaching Sessions</a:t>
            </a:r>
            <a:endParaRPr lang="en-US" sz="1000" dirty="0"/>
          </a:p>
        </p:txBody>
      </p:sp>
      <p:sp>
        <p:nvSpPr>
          <p:cNvPr id="12" name="Text 10"/>
          <p:cNvSpPr/>
          <p:nvPr/>
        </p:nvSpPr>
        <p:spPr>
          <a:xfrm>
            <a:off x="4901184" y="3520440"/>
            <a:ext cx="2011680" cy="548640"/>
          </a:xfrm>
          <a:prstGeom prst="rect">
            <a:avLst/>
          </a:prstGeom>
          <a:noFill/>
          <a:ln/>
        </p:spPr>
        <p:txBody>
          <a:bodyPr wrap="square" rtlCol="0" anchor="ctr"/>
          <a:lstStyle/>
          <a:p>
            <a:pPr marL="0" indent="0" algn="l">
              <a:buNone/>
            </a:pPr>
            <a:endParaRPr lang="en-US" sz="3000" dirty="0"/>
          </a:p>
        </p:txBody>
      </p:sp>
      <p:sp>
        <p:nvSpPr>
          <p:cNvPr id="16" name="Shape 14"/>
          <p:cNvSpPr/>
          <p:nvPr/>
        </p:nvSpPr>
        <p:spPr>
          <a:xfrm>
            <a:off x="0" y="4983480"/>
            <a:ext cx="9144000" cy="164592"/>
          </a:xfrm>
          <a:prstGeom prst="rect">
            <a:avLst/>
          </a:prstGeom>
          <a:solidFill>
            <a:srgbClr val="223324"/>
          </a:solidFill>
          <a:ln w="12700">
            <a:solidFill>
              <a:srgbClr val="223324"/>
            </a:solidFill>
            <a:prstDash val="solid"/>
          </a:ln>
        </p:spPr>
        <p:txBody>
          <a:bodyPr/>
          <a:lstStyle/>
          <a:p>
            <a:endParaRPr lang="en-US"/>
          </a:p>
        </p:txBody>
      </p:sp>
      <p:sp>
        <p:nvSpPr>
          <p:cNvPr id="17" name="Text 6">
            <a:extLst>
              <a:ext uri="{FF2B5EF4-FFF2-40B4-BE49-F238E27FC236}">
                <a16:creationId xmlns:a16="http://schemas.microsoft.com/office/drawing/2014/main" id="{4FF552A5-8ED8-7377-E328-3B7E41F41CF4}"/>
              </a:ext>
            </a:extLst>
          </p:cNvPr>
          <p:cNvSpPr/>
          <p:nvPr/>
        </p:nvSpPr>
        <p:spPr>
          <a:xfrm>
            <a:off x="548640" y="3520440"/>
            <a:ext cx="2011680" cy="548640"/>
          </a:xfrm>
          <a:prstGeom prst="rect">
            <a:avLst/>
          </a:prstGeom>
          <a:noFill/>
          <a:ln/>
        </p:spPr>
        <p:txBody>
          <a:bodyPr wrap="square" rtlCol="0" anchor="ctr"/>
          <a:lstStyle/>
          <a:p>
            <a:pPr marL="0" indent="0" algn="l">
              <a:buNone/>
            </a:pPr>
            <a:r>
              <a:rPr lang="es-MX" sz="3000" b="1" dirty="0">
                <a:solidFill>
                  <a:srgbClr val="FFFFFF"/>
                </a:solidFill>
                <a:latin typeface="Cambria" pitchFamily="34" charset="0"/>
                <a:ea typeface="Cambria" pitchFamily="34" charset="-122"/>
              </a:rPr>
              <a:t>3</a:t>
            </a:r>
            <a:endParaRPr lang="en-US" sz="3000" dirty="0"/>
          </a:p>
        </p:txBody>
      </p:sp>
      <p:sp>
        <p:nvSpPr>
          <p:cNvPr id="18" name="Text 6">
            <a:extLst>
              <a:ext uri="{FF2B5EF4-FFF2-40B4-BE49-F238E27FC236}">
                <a16:creationId xmlns:a16="http://schemas.microsoft.com/office/drawing/2014/main" id="{67E10AC8-25FD-868A-4972-53AD5CDD1C1D}"/>
              </a:ext>
            </a:extLst>
          </p:cNvPr>
          <p:cNvSpPr/>
          <p:nvPr/>
        </p:nvSpPr>
        <p:spPr>
          <a:xfrm>
            <a:off x="2667726" y="3556011"/>
            <a:ext cx="570429" cy="548640"/>
          </a:xfrm>
          <a:prstGeom prst="rect">
            <a:avLst/>
          </a:prstGeom>
          <a:noFill/>
          <a:ln/>
        </p:spPr>
        <p:txBody>
          <a:bodyPr wrap="square" rtlCol="0" anchor="ctr"/>
          <a:lstStyle/>
          <a:p>
            <a:pPr marL="0" indent="0" algn="l">
              <a:buNone/>
            </a:pPr>
            <a:r>
              <a:rPr lang="es-MX" sz="3000" b="1" dirty="0">
                <a:solidFill>
                  <a:srgbClr val="FFFFFF"/>
                </a:solidFill>
                <a:latin typeface="Cambria" pitchFamily="34" charset="0"/>
                <a:ea typeface="Cambria" pitchFamily="34" charset="-122"/>
              </a:rPr>
              <a:t>4</a:t>
            </a:r>
            <a:endParaRPr lang="en-US" sz="3000" dirty="0"/>
          </a:p>
        </p:txBody>
      </p:sp>
      <p:sp>
        <p:nvSpPr>
          <p:cNvPr id="19" name="Text 7">
            <a:extLst>
              <a:ext uri="{FF2B5EF4-FFF2-40B4-BE49-F238E27FC236}">
                <a16:creationId xmlns:a16="http://schemas.microsoft.com/office/drawing/2014/main" id="{20C6AAE4-9165-E52C-8DFD-9233233EAFE5}"/>
              </a:ext>
            </a:extLst>
          </p:cNvPr>
          <p:cNvSpPr/>
          <p:nvPr/>
        </p:nvSpPr>
        <p:spPr>
          <a:xfrm>
            <a:off x="548640" y="4113535"/>
            <a:ext cx="2011680" cy="237744"/>
          </a:xfrm>
          <a:prstGeom prst="rect">
            <a:avLst/>
          </a:prstGeom>
          <a:noFill/>
          <a:ln/>
        </p:spPr>
        <p:txBody>
          <a:bodyPr wrap="square" rtlCol="0" anchor="ctr"/>
          <a:lstStyle/>
          <a:p>
            <a:pPr marL="0" indent="0" algn="l">
              <a:buNone/>
            </a:pPr>
            <a:r>
              <a:rPr lang="es-MX" sz="1000" dirty="0">
                <a:solidFill>
                  <a:srgbClr val="EEF5EE"/>
                </a:solidFill>
                <a:latin typeface="Calibri" pitchFamily="34" charset="0"/>
                <a:ea typeface="Calibri" pitchFamily="34" charset="-122"/>
                <a:cs typeface="Calibri" pitchFamily="34" charset="-120"/>
              </a:rPr>
              <a:t>D</a:t>
            </a:r>
            <a:r>
              <a:rPr lang="en-US" sz="1000" dirty="0" err="1">
                <a:solidFill>
                  <a:srgbClr val="EEF5EE"/>
                </a:solidFill>
                <a:latin typeface="Calibri" pitchFamily="34" charset="0"/>
                <a:ea typeface="Calibri" pitchFamily="34" charset="-122"/>
                <a:cs typeface="Calibri" pitchFamily="34" charset="-120"/>
              </a:rPr>
              <a:t>ays</a:t>
            </a:r>
            <a:endParaRPr lang="en-US" sz="1000" dirty="0"/>
          </a:p>
        </p:txBody>
      </p:sp>
      <p:sp>
        <p:nvSpPr>
          <p:cNvPr id="20" name="Text 6">
            <a:extLst>
              <a:ext uri="{FF2B5EF4-FFF2-40B4-BE49-F238E27FC236}">
                <a16:creationId xmlns:a16="http://schemas.microsoft.com/office/drawing/2014/main" id="{C4479077-08C9-5DCB-08E2-AEB09C4DF186}"/>
              </a:ext>
            </a:extLst>
          </p:cNvPr>
          <p:cNvSpPr/>
          <p:nvPr/>
        </p:nvSpPr>
        <p:spPr>
          <a:xfrm>
            <a:off x="1551269" y="3542668"/>
            <a:ext cx="758109" cy="548640"/>
          </a:xfrm>
          <a:prstGeom prst="rect">
            <a:avLst/>
          </a:prstGeom>
          <a:noFill/>
          <a:ln/>
        </p:spPr>
        <p:txBody>
          <a:bodyPr wrap="square" rtlCol="0" anchor="ctr"/>
          <a:lstStyle/>
          <a:p>
            <a:pPr marL="0" indent="0" algn="l">
              <a:buNone/>
            </a:pPr>
            <a:r>
              <a:rPr lang="es-MX" sz="3000" b="1" dirty="0">
                <a:solidFill>
                  <a:srgbClr val="FFFFFF"/>
                </a:solidFill>
                <a:latin typeface="Cambria" pitchFamily="34" charset="0"/>
                <a:ea typeface="Cambria" pitchFamily="34" charset="-122"/>
              </a:rPr>
              <a:t>5</a:t>
            </a:r>
            <a:endParaRPr lang="en-US" sz="3000" dirty="0"/>
          </a:p>
        </p:txBody>
      </p:sp>
      <p:sp>
        <p:nvSpPr>
          <p:cNvPr id="21" name="Text 9">
            <a:extLst>
              <a:ext uri="{FF2B5EF4-FFF2-40B4-BE49-F238E27FC236}">
                <a16:creationId xmlns:a16="http://schemas.microsoft.com/office/drawing/2014/main" id="{F9FF3852-B36B-1D28-D77A-E876B8B3F078}"/>
              </a:ext>
            </a:extLst>
          </p:cNvPr>
          <p:cNvSpPr/>
          <p:nvPr/>
        </p:nvSpPr>
        <p:spPr>
          <a:xfrm>
            <a:off x="2421540" y="4118367"/>
            <a:ext cx="1517905" cy="265176"/>
          </a:xfrm>
          <a:prstGeom prst="rect">
            <a:avLst/>
          </a:prstGeom>
          <a:noFill/>
          <a:ln/>
        </p:spPr>
        <p:txBody>
          <a:bodyPr wrap="square" rtlCol="0" anchor="ctr"/>
          <a:lstStyle/>
          <a:p>
            <a:pPr marL="0" indent="0" algn="l">
              <a:buNone/>
            </a:pPr>
            <a:r>
              <a:rPr lang="es-MX" sz="1000" dirty="0">
                <a:solidFill>
                  <a:srgbClr val="EEF5EE"/>
                </a:solidFill>
                <a:latin typeface="Calibri" pitchFamily="34" charset="0"/>
                <a:ea typeface="Calibri" pitchFamily="34" charset="-122"/>
                <a:cs typeface="Calibri" pitchFamily="34" charset="-120"/>
              </a:rPr>
              <a:t>M</a:t>
            </a:r>
            <a:r>
              <a:rPr lang="en-US" sz="1000" dirty="0" err="1">
                <a:solidFill>
                  <a:srgbClr val="EEF5EE"/>
                </a:solidFill>
                <a:latin typeface="Calibri" pitchFamily="34" charset="0"/>
                <a:ea typeface="Calibri" pitchFamily="34" charset="-122"/>
                <a:cs typeface="Calibri" pitchFamily="34" charset="-120"/>
              </a:rPr>
              <a:t>ethodologies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D5A3E"/>
        </a:solidFill>
        <a:effectLst/>
      </p:bgPr>
    </p:bg>
    <p:spTree>
      <p:nvGrpSpPr>
        <p:cNvPr id="1" name="">
          <a:extLst>
            <a:ext uri="{FF2B5EF4-FFF2-40B4-BE49-F238E27FC236}">
              <a16:creationId xmlns:a16="http://schemas.microsoft.com/office/drawing/2014/main" id="{00A12758-9B29-100A-0060-63BEB49E2BA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C6650CD-2B92-E97B-AE14-8197D74C9A16}"/>
              </a:ext>
            </a:extLst>
          </p:cNvPr>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a:extLst>
              <a:ext uri="{FF2B5EF4-FFF2-40B4-BE49-F238E27FC236}">
                <a16:creationId xmlns:a16="http://schemas.microsoft.com/office/drawing/2014/main" id="{67B8CAD9-F196-22DD-3620-85E175FA72E3}"/>
              </a:ext>
            </a:extLst>
          </p:cNvPr>
          <p:cNvSpPr/>
          <p:nvPr/>
        </p:nvSpPr>
        <p:spPr>
          <a:xfrm>
            <a:off x="548640" y="502920"/>
            <a:ext cx="8046720" cy="256032"/>
          </a:xfrm>
          <a:prstGeom prst="rect">
            <a:avLst/>
          </a:prstGeom>
          <a:noFill/>
          <a:ln/>
        </p:spPr>
        <p:txBody>
          <a:bodyPr wrap="square" rtlCol="0" anchor="ctr"/>
          <a:lstStyle/>
          <a:p>
            <a:pPr marL="0" indent="0" algn="l">
              <a:buNone/>
            </a:pPr>
            <a:r>
              <a:rPr lang="en-US" sz="900" b="1" kern="0" spc="300" dirty="0">
                <a:solidFill>
                  <a:srgbClr val="EEF5EE"/>
                </a:solidFill>
                <a:latin typeface="Arial" pitchFamily="34" charset="0"/>
                <a:ea typeface="Arial" pitchFamily="34" charset="-122"/>
                <a:cs typeface="Arial" pitchFamily="34" charset="-120"/>
              </a:rPr>
              <a:t>ELEMENTS METHOD  ·  PÁGINA DE PROGRAMA</a:t>
            </a:r>
            <a:endParaRPr lang="en-US" sz="900" dirty="0"/>
          </a:p>
        </p:txBody>
      </p:sp>
      <p:sp>
        <p:nvSpPr>
          <p:cNvPr id="4" name="Text 2">
            <a:extLst>
              <a:ext uri="{FF2B5EF4-FFF2-40B4-BE49-F238E27FC236}">
                <a16:creationId xmlns:a16="http://schemas.microsoft.com/office/drawing/2014/main" id="{CE981A1D-B781-2220-E188-84CD222D67DF}"/>
              </a:ext>
            </a:extLst>
          </p:cNvPr>
          <p:cNvSpPr/>
          <p:nvPr/>
        </p:nvSpPr>
        <p:spPr>
          <a:xfrm>
            <a:off x="548640" y="914400"/>
            <a:ext cx="8046720" cy="256032"/>
          </a:xfrm>
          <a:prstGeom prst="rect">
            <a:avLst/>
          </a:prstGeom>
          <a:noFill/>
          <a:ln/>
        </p:spPr>
        <p:txBody>
          <a:bodyPr wrap="square" rtlCol="0" anchor="ctr"/>
          <a:lstStyle/>
          <a:p>
            <a:pPr marL="0" indent="0" algn="l">
              <a:buNone/>
            </a:pPr>
            <a:r>
              <a:rPr lang="en-US" sz="1100" dirty="0">
                <a:solidFill>
                  <a:srgbClr val="EEF5EE"/>
                </a:solidFill>
                <a:latin typeface="Calibri" pitchFamily="34" charset="0"/>
                <a:ea typeface="Calibri" pitchFamily="34" charset="-122"/>
                <a:cs typeface="Calibri" pitchFamily="34" charset="-120"/>
              </a:rPr>
              <a:t>Full Immersion  · PRIVATE 3 DAY RETREAT IN NATURE </a:t>
            </a:r>
            <a:endParaRPr lang="en-US" sz="1100" dirty="0"/>
          </a:p>
        </p:txBody>
      </p:sp>
      <p:sp>
        <p:nvSpPr>
          <p:cNvPr id="5" name="Text 3">
            <a:extLst>
              <a:ext uri="{FF2B5EF4-FFF2-40B4-BE49-F238E27FC236}">
                <a16:creationId xmlns:a16="http://schemas.microsoft.com/office/drawing/2014/main" id="{88F7744C-45C7-8DCB-A686-0AF2293AC308}"/>
              </a:ext>
            </a:extLst>
          </p:cNvPr>
          <p:cNvSpPr/>
          <p:nvPr/>
        </p:nvSpPr>
        <p:spPr>
          <a:xfrm>
            <a:off x="548640" y="1234440"/>
            <a:ext cx="8046720" cy="1005840"/>
          </a:xfrm>
          <a:prstGeom prst="rect">
            <a:avLst/>
          </a:prstGeom>
          <a:noFill/>
          <a:ln/>
        </p:spPr>
        <p:txBody>
          <a:bodyPr wrap="square" rtlCol="0" anchor="ctr"/>
          <a:lstStyle/>
          <a:p>
            <a:pPr marL="0" indent="0" algn="l">
              <a:buNone/>
            </a:pPr>
            <a:r>
              <a:rPr lang="en-US" sz="4000" b="1" dirty="0" err="1">
                <a:solidFill>
                  <a:srgbClr val="FFFFFF"/>
                </a:solidFill>
                <a:latin typeface="Cambria" pitchFamily="34" charset="0"/>
                <a:ea typeface="Cambria" pitchFamily="34" charset="-122"/>
                <a:cs typeface="Cambria" pitchFamily="34" charset="-120"/>
              </a:rPr>
              <a:t>SoulFull</a:t>
            </a:r>
            <a:r>
              <a:rPr lang="en-US" sz="4000" b="1" dirty="0">
                <a:solidFill>
                  <a:srgbClr val="FFFFFF"/>
                </a:solidFill>
                <a:latin typeface="Cambria" pitchFamily="34" charset="0"/>
                <a:ea typeface="Cambria" pitchFamily="34" charset="-122"/>
                <a:cs typeface="Cambria" pitchFamily="34" charset="-120"/>
              </a:rPr>
              <a:t> Individual Immersion</a:t>
            </a:r>
            <a:endParaRPr lang="en-US" sz="4000" dirty="0"/>
          </a:p>
        </p:txBody>
      </p:sp>
      <p:sp>
        <p:nvSpPr>
          <p:cNvPr id="6" name="Text 4">
            <a:extLst>
              <a:ext uri="{FF2B5EF4-FFF2-40B4-BE49-F238E27FC236}">
                <a16:creationId xmlns:a16="http://schemas.microsoft.com/office/drawing/2014/main" id="{8F221045-2D8A-9557-900F-C0E90E31235C}"/>
              </a:ext>
            </a:extLst>
          </p:cNvPr>
          <p:cNvSpPr/>
          <p:nvPr/>
        </p:nvSpPr>
        <p:spPr>
          <a:xfrm>
            <a:off x="548640" y="2377440"/>
            <a:ext cx="7315200" cy="457200"/>
          </a:xfrm>
          <a:prstGeom prst="rect">
            <a:avLst/>
          </a:prstGeom>
          <a:noFill/>
          <a:ln/>
        </p:spPr>
        <p:txBody>
          <a:bodyPr wrap="square" rtlCol="0" anchor="ctr"/>
          <a:lstStyle/>
          <a:p>
            <a:pPr marL="0" indent="0" algn="l">
              <a:buNone/>
            </a:pPr>
            <a:r>
              <a:rPr lang="en-US" sz="1700" i="1" dirty="0">
                <a:solidFill>
                  <a:srgbClr val="EEF5EE"/>
                </a:solidFill>
                <a:latin typeface="Cambria" pitchFamily="34" charset="0"/>
                <a:ea typeface="Cambria" pitchFamily="34" charset="-122"/>
                <a:cs typeface="Cambria" pitchFamily="34" charset="-120"/>
              </a:rPr>
              <a:t>For leaders that feel better growing in a private environment</a:t>
            </a:r>
            <a:endParaRPr lang="en-US" sz="1700" dirty="0"/>
          </a:p>
        </p:txBody>
      </p:sp>
      <p:sp>
        <p:nvSpPr>
          <p:cNvPr id="7" name="Text 5">
            <a:extLst>
              <a:ext uri="{FF2B5EF4-FFF2-40B4-BE49-F238E27FC236}">
                <a16:creationId xmlns:a16="http://schemas.microsoft.com/office/drawing/2014/main" id="{76F1D885-D8A8-1E08-E396-EE3D12B1F467}"/>
              </a:ext>
            </a:extLst>
          </p:cNvPr>
          <p:cNvSpPr/>
          <p:nvPr/>
        </p:nvSpPr>
        <p:spPr>
          <a:xfrm>
            <a:off x="548640" y="2971800"/>
            <a:ext cx="7315200" cy="365760"/>
          </a:xfrm>
          <a:prstGeom prst="rect">
            <a:avLst/>
          </a:prstGeom>
          <a:noFill/>
          <a:ln/>
        </p:spPr>
        <p:txBody>
          <a:bodyPr wrap="square" rtlCol="0" anchor="ctr"/>
          <a:lstStyle/>
          <a:p>
            <a:pPr marL="0" indent="0" algn="l">
              <a:buNone/>
            </a:pPr>
            <a:r>
              <a:rPr lang="en-US" sz="1200" dirty="0">
                <a:solidFill>
                  <a:srgbClr val="EEF5EE"/>
                </a:solidFill>
                <a:latin typeface="Calibri" pitchFamily="34" charset="0"/>
                <a:ea typeface="Calibri" pitchFamily="34" charset="-122"/>
                <a:cs typeface="Calibri" pitchFamily="34" charset="-120"/>
              </a:rPr>
              <a:t>Source is a private, 1:1 program. Each engagement is custom-designed for you.</a:t>
            </a:r>
            <a:endParaRPr lang="en-US" sz="1200" dirty="0"/>
          </a:p>
        </p:txBody>
      </p:sp>
      <p:sp>
        <p:nvSpPr>
          <p:cNvPr id="8" name="Text 6">
            <a:extLst>
              <a:ext uri="{FF2B5EF4-FFF2-40B4-BE49-F238E27FC236}">
                <a16:creationId xmlns:a16="http://schemas.microsoft.com/office/drawing/2014/main" id="{477AD55B-3962-215C-4DAF-852F942F0C1E}"/>
              </a:ext>
            </a:extLst>
          </p:cNvPr>
          <p:cNvSpPr/>
          <p:nvPr/>
        </p:nvSpPr>
        <p:spPr>
          <a:xfrm>
            <a:off x="548640" y="3520440"/>
            <a:ext cx="2011680" cy="54864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9" name="Text 7">
            <a:extLst>
              <a:ext uri="{FF2B5EF4-FFF2-40B4-BE49-F238E27FC236}">
                <a16:creationId xmlns:a16="http://schemas.microsoft.com/office/drawing/2014/main" id="{A6D3C974-A915-CD23-3278-4B549E3C8BE6}"/>
              </a:ext>
            </a:extLst>
          </p:cNvPr>
          <p:cNvSpPr/>
          <p:nvPr/>
        </p:nvSpPr>
        <p:spPr>
          <a:xfrm>
            <a:off x="548640" y="4096512"/>
            <a:ext cx="2011680" cy="237744"/>
          </a:xfrm>
          <a:prstGeom prst="rect">
            <a:avLst/>
          </a:prstGeom>
          <a:noFill/>
          <a:ln/>
        </p:spPr>
        <p:txBody>
          <a:bodyPr wrap="square" rtlCol="0" anchor="ctr"/>
          <a:lstStyle/>
          <a:p>
            <a:pPr marL="0" indent="0" algn="l">
              <a:buNone/>
            </a:pPr>
            <a:r>
              <a:rPr lang="en-US" sz="1000" dirty="0">
                <a:solidFill>
                  <a:srgbClr val="EEF5EE"/>
                </a:solidFill>
                <a:latin typeface="Calibri" pitchFamily="34" charset="0"/>
                <a:ea typeface="Calibri" pitchFamily="34" charset="-122"/>
                <a:cs typeface="Calibri" pitchFamily="34" charset="-120"/>
              </a:rPr>
              <a:t>Immersions/Month</a:t>
            </a:r>
            <a:endParaRPr lang="en-US" sz="1000" dirty="0"/>
          </a:p>
        </p:txBody>
      </p:sp>
      <p:sp>
        <p:nvSpPr>
          <p:cNvPr id="10" name="Text 8">
            <a:extLst>
              <a:ext uri="{FF2B5EF4-FFF2-40B4-BE49-F238E27FC236}">
                <a16:creationId xmlns:a16="http://schemas.microsoft.com/office/drawing/2014/main" id="{E43675F7-9E36-EC69-14A6-8E54746241D8}"/>
              </a:ext>
            </a:extLst>
          </p:cNvPr>
          <p:cNvSpPr/>
          <p:nvPr/>
        </p:nvSpPr>
        <p:spPr>
          <a:xfrm>
            <a:off x="2724912" y="3520440"/>
            <a:ext cx="2011680" cy="548640"/>
          </a:xfrm>
          <a:prstGeom prst="rect">
            <a:avLst/>
          </a:prstGeom>
          <a:noFill/>
          <a:ln/>
        </p:spPr>
        <p:txBody>
          <a:bodyPr wrap="square" rtlCol="0" anchor="ctr"/>
          <a:lstStyle/>
          <a:p>
            <a:pPr marL="0" indent="0" algn="l">
              <a:buNone/>
            </a:pPr>
            <a:r>
              <a:rPr lang="es-MX" sz="3000" b="1" dirty="0">
                <a:solidFill>
                  <a:srgbClr val="FFFFFF"/>
                </a:solidFill>
                <a:latin typeface="Cambria" pitchFamily="34" charset="0"/>
                <a:ea typeface="Cambria" pitchFamily="34" charset="-122"/>
              </a:rPr>
              <a:t>1</a:t>
            </a:r>
            <a:r>
              <a:rPr lang="en-US" sz="3000" b="1" dirty="0">
                <a:solidFill>
                  <a:srgbClr val="FFFFFF"/>
                </a:solidFill>
                <a:latin typeface="Cambria" pitchFamily="34" charset="0"/>
                <a:ea typeface="Cambria" pitchFamily="34" charset="-122"/>
              </a:rPr>
              <a:t>2</a:t>
            </a:r>
            <a:endParaRPr lang="en-US" sz="3000" dirty="0"/>
          </a:p>
        </p:txBody>
      </p:sp>
      <p:sp>
        <p:nvSpPr>
          <p:cNvPr id="11" name="Text 9">
            <a:extLst>
              <a:ext uri="{FF2B5EF4-FFF2-40B4-BE49-F238E27FC236}">
                <a16:creationId xmlns:a16="http://schemas.microsoft.com/office/drawing/2014/main" id="{18E33E43-C9F8-9C65-BDEB-8A6A23F7AFD5}"/>
              </a:ext>
            </a:extLst>
          </p:cNvPr>
          <p:cNvSpPr/>
          <p:nvPr/>
        </p:nvSpPr>
        <p:spPr>
          <a:xfrm>
            <a:off x="2724912" y="4096512"/>
            <a:ext cx="2011680" cy="237744"/>
          </a:xfrm>
          <a:prstGeom prst="rect">
            <a:avLst/>
          </a:prstGeom>
          <a:noFill/>
          <a:ln/>
        </p:spPr>
        <p:txBody>
          <a:bodyPr wrap="square" rtlCol="0" anchor="ctr"/>
          <a:lstStyle/>
          <a:p>
            <a:pPr marL="0" indent="0" algn="l">
              <a:buNone/>
            </a:pPr>
            <a:r>
              <a:rPr lang="en-US" sz="1000" dirty="0">
                <a:solidFill>
                  <a:srgbClr val="EEF5EE"/>
                </a:solidFill>
                <a:latin typeface="Calibri" pitchFamily="34" charset="0"/>
                <a:ea typeface="Calibri" pitchFamily="34" charset="-122"/>
                <a:cs typeface="Calibri" pitchFamily="34" charset="-120"/>
              </a:rPr>
              <a:t>Coaching Sessions</a:t>
            </a:r>
            <a:endParaRPr lang="en-US" sz="1000" dirty="0"/>
          </a:p>
        </p:txBody>
      </p:sp>
      <p:sp>
        <p:nvSpPr>
          <p:cNvPr id="12" name="Text 10">
            <a:extLst>
              <a:ext uri="{FF2B5EF4-FFF2-40B4-BE49-F238E27FC236}">
                <a16:creationId xmlns:a16="http://schemas.microsoft.com/office/drawing/2014/main" id="{F3CD18B9-5FC1-4A9B-3845-0135DF2408AA}"/>
              </a:ext>
            </a:extLst>
          </p:cNvPr>
          <p:cNvSpPr/>
          <p:nvPr/>
        </p:nvSpPr>
        <p:spPr>
          <a:xfrm>
            <a:off x="4901184" y="3520440"/>
            <a:ext cx="2011680" cy="54864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3" name="Text 11">
            <a:extLst>
              <a:ext uri="{FF2B5EF4-FFF2-40B4-BE49-F238E27FC236}">
                <a16:creationId xmlns:a16="http://schemas.microsoft.com/office/drawing/2014/main" id="{7DC543B7-0217-2101-88AC-7C2CB6F696D0}"/>
              </a:ext>
            </a:extLst>
          </p:cNvPr>
          <p:cNvSpPr/>
          <p:nvPr/>
        </p:nvSpPr>
        <p:spPr>
          <a:xfrm>
            <a:off x="4901184" y="4096512"/>
            <a:ext cx="2011680" cy="237744"/>
          </a:xfrm>
          <a:prstGeom prst="rect">
            <a:avLst/>
          </a:prstGeom>
          <a:noFill/>
          <a:ln/>
        </p:spPr>
        <p:txBody>
          <a:bodyPr wrap="square" rtlCol="0" anchor="ctr"/>
          <a:lstStyle/>
          <a:p>
            <a:pPr marL="0" indent="0" algn="l">
              <a:buNone/>
            </a:pPr>
            <a:r>
              <a:rPr lang="en-US" sz="1000" dirty="0">
                <a:solidFill>
                  <a:srgbClr val="EEF5EE"/>
                </a:solidFill>
                <a:latin typeface="Calibri" pitchFamily="34" charset="0"/>
                <a:ea typeface="Calibri" pitchFamily="34" charset="-122"/>
                <a:cs typeface="Calibri" pitchFamily="34" charset="-120"/>
              </a:rPr>
              <a:t>Leader — You</a:t>
            </a:r>
            <a:endParaRPr lang="en-US" sz="1000" dirty="0"/>
          </a:p>
        </p:txBody>
      </p:sp>
      <p:sp>
        <p:nvSpPr>
          <p:cNvPr id="14" name="Text 12">
            <a:extLst>
              <a:ext uri="{FF2B5EF4-FFF2-40B4-BE49-F238E27FC236}">
                <a16:creationId xmlns:a16="http://schemas.microsoft.com/office/drawing/2014/main" id="{847E3F08-CD99-6414-D3D1-D6231E6BD164}"/>
              </a:ext>
            </a:extLst>
          </p:cNvPr>
          <p:cNvSpPr/>
          <p:nvPr/>
        </p:nvSpPr>
        <p:spPr>
          <a:xfrm>
            <a:off x="7077456" y="3520440"/>
            <a:ext cx="2011680" cy="54864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100%</a:t>
            </a:r>
            <a:endParaRPr lang="en-US" sz="3000" dirty="0"/>
          </a:p>
        </p:txBody>
      </p:sp>
      <p:sp>
        <p:nvSpPr>
          <p:cNvPr id="15" name="Text 13">
            <a:extLst>
              <a:ext uri="{FF2B5EF4-FFF2-40B4-BE49-F238E27FC236}">
                <a16:creationId xmlns:a16="http://schemas.microsoft.com/office/drawing/2014/main" id="{963AE725-F17D-BA59-F7D8-675FA1ED5FC3}"/>
              </a:ext>
            </a:extLst>
          </p:cNvPr>
          <p:cNvSpPr/>
          <p:nvPr/>
        </p:nvSpPr>
        <p:spPr>
          <a:xfrm>
            <a:off x="7077456" y="4096512"/>
            <a:ext cx="2011680" cy="237744"/>
          </a:xfrm>
          <a:prstGeom prst="rect">
            <a:avLst/>
          </a:prstGeom>
          <a:noFill/>
          <a:ln/>
        </p:spPr>
        <p:txBody>
          <a:bodyPr wrap="square" rtlCol="0" anchor="ctr"/>
          <a:lstStyle/>
          <a:p>
            <a:pPr marL="0" indent="0" algn="l">
              <a:buNone/>
            </a:pPr>
            <a:r>
              <a:rPr lang="en-US" sz="1000" dirty="0">
                <a:solidFill>
                  <a:srgbClr val="EEF5EE"/>
                </a:solidFill>
                <a:latin typeface="Calibri" pitchFamily="34" charset="0"/>
                <a:ea typeface="Calibri" pitchFamily="34" charset="-122"/>
                <a:cs typeface="Calibri" pitchFamily="34" charset="-120"/>
              </a:rPr>
              <a:t>Personalization</a:t>
            </a:r>
            <a:endParaRPr lang="en-US" sz="1000" dirty="0"/>
          </a:p>
        </p:txBody>
      </p:sp>
      <p:sp>
        <p:nvSpPr>
          <p:cNvPr id="16" name="Shape 14">
            <a:extLst>
              <a:ext uri="{FF2B5EF4-FFF2-40B4-BE49-F238E27FC236}">
                <a16:creationId xmlns:a16="http://schemas.microsoft.com/office/drawing/2014/main" id="{6249759E-A197-5FC8-5D93-B94C37082B3C}"/>
              </a:ext>
            </a:extLst>
          </p:cNvPr>
          <p:cNvSpPr/>
          <p:nvPr/>
        </p:nvSpPr>
        <p:spPr>
          <a:xfrm>
            <a:off x="0" y="4983480"/>
            <a:ext cx="9144000" cy="164592"/>
          </a:xfrm>
          <a:prstGeom prst="rect">
            <a:avLst/>
          </a:prstGeom>
          <a:solidFill>
            <a:srgbClr val="223324"/>
          </a:solidFill>
          <a:ln w="12700">
            <a:solidFill>
              <a:srgbClr val="223324"/>
            </a:solidFill>
            <a:prstDash val="solid"/>
          </a:ln>
        </p:spPr>
        <p:txBody>
          <a:bodyPr/>
          <a:lstStyle/>
          <a:p>
            <a:endParaRPr lang="en-US"/>
          </a:p>
        </p:txBody>
      </p:sp>
    </p:spTree>
    <p:extLst>
      <p:ext uri="{BB962C8B-B14F-4D97-AF65-F5344CB8AC3E}">
        <p14:creationId xmlns:p14="http://schemas.microsoft.com/office/powerpoint/2010/main" val="4218231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137160"/>
            <a:ext cx="8229600" cy="274320"/>
          </a:xfrm>
          <a:prstGeom prst="rect">
            <a:avLst/>
          </a:prstGeom>
          <a:noFill/>
          <a:ln/>
        </p:spPr>
        <p:txBody>
          <a:bodyPr wrap="square" rtlCol="0" anchor="ctr"/>
          <a:lstStyle/>
          <a:p>
            <a:pPr marL="0" indent="0" algn="l">
              <a:buNone/>
            </a:pPr>
            <a:r>
              <a:rPr lang="en-US" sz="900" b="1" kern="0" spc="400" dirty="0">
                <a:solidFill>
                  <a:srgbClr val="C9A96E"/>
                </a:solidFill>
                <a:latin typeface="Arial" pitchFamily="34" charset="0"/>
                <a:ea typeface="Arial" pitchFamily="34" charset="-122"/>
                <a:cs typeface="Arial" pitchFamily="34" charset="-120"/>
              </a:rPr>
              <a:t>FUENTE — QUÉ LA HACE DIFERENTE · CADENCIA MENSUAL</a:t>
            </a:r>
            <a:endParaRPr lang="en-US" sz="900" dirty="0"/>
          </a:p>
        </p:txBody>
      </p:sp>
      <p:sp>
        <p:nvSpPr>
          <p:cNvPr id="4" name="Shape 2"/>
          <p:cNvSpPr/>
          <p:nvPr/>
        </p:nvSpPr>
        <p:spPr>
          <a:xfrm>
            <a:off x="502920" y="484632"/>
            <a:ext cx="8138160" cy="0"/>
          </a:xfrm>
          <a:prstGeom prst="line">
            <a:avLst/>
          </a:prstGeom>
          <a:noFill/>
          <a:ln w="12700">
            <a:solidFill>
              <a:srgbClr val="F4F2EE"/>
            </a:solidFill>
            <a:prstDash val="solid"/>
          </a:ln>
        </p:spPr>
        <p:txBody>
          <a:bodyPr/>
          <a:lstStyle/>
          <a:p>
            <a:endParaRPr lang="en-US"/>
          </a:p>
        </p:txBody>
      </p:sp>
      <p:sp>
        <p:nvSpPr>
          <p:cNvPr id="5" name="Text 3"/>
          <p:cNvSpPr/>
          <p:nvPr/>
        </p:nvSpPr>
        <p:spPr>
          <a:xfrm>
            <a:off x="502920" y="594360"/>
            <a:ext cx="8229600" cy="347472"/>
          </a:xfrm>
          <a:prstGeom prst="rect">
            <a:avLst/>
          </a:prstGeom>
          <a:noFill/>
          <a:ln/>
        </p:spPr>
        <p:txBody>
          <a:bodyPr wrap="square" rtlCol="0" anchor="ctr"/>
          <a:lstStyle/>
          <a:p>
            <a:pPr marL="0" indent="0" algn="l">
              <a:buNone/>
            </a:pPr>
            <a:r>
              <a:rPr lang="en-US" sz="2000" b="1" dirty="0">
                <a:solidFill>
                  <a:srgbClr val="2C2C2A"/>
                </a:solidFill>
                <a:latin typeface="Cambria" pitchFamily="34" charset="0"/>
                <a:ea typeface="Cambria" pitchFamily="34" charset="-122"/>
                <a:cs typeface="Cambria" pitchFamily="34" charset="-120"/>
              </a:rPr>
              <a:t>Built for you, around you.</a:t>
            </a:r>
            <a:endParaRPr lang="en-US" sz="2000" dirty="0"/>
          </a:p>
        </p:txBody>
      </p:sp>
      <p:sp>
        <p:nvSpPr>
          <p:cNvPr id="6" name="Shape 4"/>
          <p:cNvSpPr/>
          <p:nvPr/>
        </p:nvSpPr>
        <p:spPr>
          <a:xfrm>
            <a:off x="320040" y="1078992"/>
            <a:ext cx="2057400" cy="1874520"/>
          </a:xfrm>
          <a:prstGeom prst="roundRect">
            <a:avLst>
              <a:gd name="adj" fmla="val 4878"/>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7" name="Text 5"/>
          <p:cNvSpPr/>
          <p:nvPr/>
        </p:nvSpPr>
        <p:spPr>
          <a:xfrm>
            <a:off x="438912" y="1170432"/>
            <a:ext cx="1819656" cy="320040"/>
          </a:xfrm>
          <a:prstGeom prst="rect">
            <a:avLst/>
          </a:prstGeom>
          <a:noFill/>
          <a:ln/>
        </p:spPr>
        <p:txBody>
          <a:bodyPr wrap="square" lIns="0" tIns="0" rIns="0" bIns="0" rtlCol="0" anchor="ctr"/>
          <a:lstStyle/>
          <a:p>
            <a:pPr marL="0" indent="0" algn="l">
              <a:buNone/>
            </a:pPr>
            <a:r>
              <a:rPr lang="en-US" sz="1100" b="1" dirty="0">
                <a:solidFill>
                  <a:srgbClr val="3D5A3E"/>
                </a:solidFill>
                <a:latin typeface="Cambria" pitchFamily="34" charset="0"/>
                <a:ea typeface="Cambria" pitchFamily="34" charset="-122"/>
                <a:cs typeface="Cambria" pitchFamily="34" charset="-120"/>
              </a:rPr>
              <a:t>Custom Program Design</a:t>
            </a:r>
            <a:endParaRPr lang="en-US" sz="1100" dirty="0"/>
          </a:p>
        </p:txBody>
      </p:sp>
      <p:sp>
        <p:nvSpPr>
          <p:cNvPr id="8" name="Text 6"/>
          <p:cNvSpPr/>
          <p:nvPr/>
        </p:nvSpPr>
        <p:spPr>
          <a:xfrm>
            <a:off x="438912" y="1536192"/>
            <a:ext cx="1819656" cy="1353312"/>
          </a:xfrm>
          <a:prstGeom prst="rect">
            <a:avLst/>
          </a:prstGeom>
          <a:noFill/>
          <a:ln/>
        </p:spPr>
        <p:txBody>
          <a:bodyPr wrap="square" rtlCol="0" anchor="t"/>
          <a:lstStyle/>
          <a:p>
            <a:pPr marL="0" indent="0" algn="l">
              <a:buNone/>
            </a:pPr>
            <a:r>
              <a:rPr lang="en-US" sz="950" dirty="0">
                <a:solidFill>
                  <a:srgbClr val="2C2C2A"/>
                </a:solidFill>
                <a:latin typeface="Calibri" pitchFamily="34" charset="0"/>
                <a:ea typeface="Calibri" pitchFamily="34" charset="-122"/>
                <a:cs typeface="Calibri" pitchFamily="34" charset="-120"/>
              </a:rPr>
              <a:t>Your Source journey begins with a deep intake process. We map your leadership history, your current context, and your deepest aspiration — then design your element sequence around that.</a:t>
            </a:r>
            <a:endParaRPr lang="en-US" sz="950" dirty="0"/>
          </a:p>
        </p:txBody>
      </p:sp>
      <p:sp>
        <p:nvSpPr>
          <p:cNvPr id="9" name="Shape 7"/>
          <p:cNvSpPr/>
          <p:nvPr/>
        </p:nvSpPr>
        <p:spPr>
          <a:xfrm>
            <a:off x="2532888" y="1078992"/>
            <a:ext cx="2057400" cy="1874520"/>
          </a:xfrm>
          <a:prstGeom prst="roundRect">
            <a:avLst>
              <a:gd name="adj" fmla="val 4878"/>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10" name="Text 8"/>
          <p:cNvSpPr/>
          <p:nvPr/>
        </p:nvSpPr>
        <p:spPr>
          <a:xfrm>
            <a:off x="2651760" y="1170432"/>
            <a:ext cx="1819656" cy="320040"/>
          </a:xfrm>
          <a:prstGeom prst="rect">
            <a:avLst/>
          </a:prstGeom>
          <a:noFill/>
          <a:ln/>
        </p:spPr>
        <p:txBody>
          <a:bodyPr wrap="square" lIns="0" tIns="0" rIns="0" bIns="0" rtlCol="0" anchor="ctr"/>
          <a:lstStyle/>
          <a:p>
            <a:pPr marL="0" indent="0" algn="l">
              <a:buNone/>
            </a:pPr>
            <a:r>
              <a:rPr lang="en-US" sz="1100" b="1" dirty="0">
                <a:solidFill>
                  <a:srgbClr val="3D5A3E"/>
                </a:solidFill>
                <a:latin typeface="Cambria" pitchFamily="34" charset="0"/>
                <a:ea typeface="Cambria" pitchFamily="34" charset="-122"/>
                <a:cs typeface="Cambria" pitchFamily="34" charset="-120"/>
              </a:rPr>
              <a:t>Curated Field Locations</a:t>
            </a:r>
            <a:endParaRPr lang="en-US" sz="1100" dirty="0"/>
          </a:p>
        </p:txBody>
      </p:sp>
      <p:sp>
        <p:nvSpPr>
          <p:cNvPr id="11" name="Text 9"/>
          <p:cNvSpPr/>
          <p:nvPr/>
        </p:nvSpPr>
        <p:spPr>
          <a:xfrm>
            <a:off x="2651760" y="1536192"/>
            <a:ext cx="1819656" cy="1353312"/>
          </a:xfrm>
          <a:prstGeom prst="rect">
            <a:avLst/>
          </a:prstGeom>
          <a:noFill/>
          <a:ln/>
        </p:spPr>
        <p:txBody>
          <a:bodyPr wrap="square" rtlCol="0" anchor="t"/>
          <a:lstStyle/>
          <a:p>
            <a:pPr marL="0" indent="0" algn="l">
              <a:buNone/>
            </a:pPr>
            <a:r>
              <a:rPr lang="en-US" sz="950" dirty="0">
                <a:solidFill>
                  <a:srgbClr val="2C2C2A"/>
                </a:solidFill>
                <a:latin typeface="Calibri" pitchFamily="34" charset="0"/>
                <a:ea typeface="Calibri" pitchFamily="34" charset="-122"/>
                <a:cs typeface="Calibri" pitchFamily="34" charset="-120"/>
              </a:rPr>
              <a:t>We select natural environments that speak to your specific edge. Your water immersion might be a different river than someone else's — because your clarity lives in a different current.</a:t>
            </a:r>
            <a:endParaRPr lang="en-US" sz="950" dirty="0"/>
          </a:p>
        </p:txBody>
      </p:sp>
      <p:sp>
        <p:nvSpPr>
          <p:cNvPr id="12" name="Shape 10"/>
          <p:cNvSpPr/>
          <p:nvPr/>
        </p:nvSpPr>
        <p:spPr>
          <a:xfrm>
            <a:off x="4745736" y="1078992"/>
            <a:ext cx="2057400" cy="1874520"/>
          </a:xfrm>
          <a:prstGeom prst="roundRect">
            <a:avLst>
              <a:gd name="adj" fmla="val 4878"/>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13" name="Text 11"/>
          <p:cNvSpPr/>
          <p:nvPr/>
        </p:nvSpPr>
        <p:spPr>
          <a:xfrm>
            <a:off x="4864608" y="1170432"/>
            <a:ext cx="1819656" cy="320040"/>
          </a:xfrm>
          <a:prstGeom prst="rect">
            <a:avLst/>
          </a:prstGeom>
          <a:noFill/>
          <a:ln/>
        </p:spPr>
        <p:txBody>
          <a:bodyPr wrap="square" lIns="0" tIns="0" rIns="0" bIns="0" rtlCol="0" anchor="ctr"/>
          <a:lstStyle/>
          <a:p>
            <a:pPr marL="0" indent="0" algn="l">
              <a:buNone/>
            </a:pPr>
            <a:r>
              <a:rPr lang="en-US" sz="1100" b="1" dirty="0">
                <a:solidFill>
                  <a:srgbClr val="3D5A3E"/>
                </a:solidFill>
                <a:latin typeface="Cambria" pitchFamily="34" charset="0"/>
                <a:ea typeface="Cambria" pitchFamily="34" charset="-122"/>
                <a:cs typeface="Cambria" pitchFamily="34" charset="-120"/>
              </a:rPr>
              <a:t>Senior-Level Coaching</a:t>
            </a:r>
            <a:endParaRPr lang="en-US" sz="1100" dirty="0"/>
          </a:p>
        </p:txBody>
      </p:sp>
      <p:sp>
        <p:nvSpPr>
          <p:cNvPr id="14" name="Text 12"/>
          <p:cNvSpPr/>
          <p:nvPr/>
        </p:nvSpPr>
        <p:spPr>
          <a:xfrm>
            <a:off x="4864608" y="1536192"/>
            <a:ext cx="1819656" cy="1353312"/>
          </a:xfrm>
          <a:prstGeom prst="rect">
            <a:avLst/>
          </a:prstGeom>
          <a:noFill/>
          <a:ln/>
        </p:spPr>
        <p:txBody>
          <a:bodyPr wrap="square" rtlCol="0" anchor="t"/>
          <a:lstStyle/>
          <a:p>
            <a:pPr marL="0" indent="0" algn="l">
              <a:buNone/>
            </a:pPr>
            <a:r>
              <a:rPr lang="en-US" sz="950" dirty="0">
                <a:solidFill>
                  <a:srgbClr val="2C2C2A"/>
                </a:solidFill>
                <a:latin typeface="Calibri" pitchFamily="34" charset="0"/>
                <a:ea typeface="Calibri" pitchFamily="34" charset="-122"/>
                <a:cs typeface="Calibri" pitchFamily="34" charset="-120"/>
              </a:rPr>
              <a:t>Source participants work with our most senior coaches — leaders with deep experience in executive development and elemental facilitation. This is coaching at the highest level.</a:t>
            </a:r>
            <a:endParaRPr lang="en-US" sz="950" dirty="0"/>
          </a:p>
        </p:txBody>
      </p:sp>
      <p:sp>
        <p:nvSpPr>
          <p:cNvPr id="15" name="Shape 13"/>
          <p:cNvSpPr/>
          <p:nvPr/>
        </p:nvSpPr>
        <p:spPr>
          <a:xfrm>
            <a:off x="6958584" y="1078992"/>
            <a:ext cx="2057400" cy="1874520"/>
          </a:xfrm>
          <a:prstGeom prst="roundRect">
            <a:avLst>
              <a:gd name="adj" fmla="val 4878"/>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16" name="Text 14"/>
          <p:cNvSpPr/>
          <p:nvPr/>
        </p:nvSpPr>
        <p:spPr>
          <a:xfrm>
            <a:off x="7077456" y="1170432"/>
            <a:ext cx="1819656" cy="320040"/>
          </a:xfrm>
          <a:prstGeom prst="rect">
            <a:avLst/>
          </a:prstGeom>
          <a:noFill/>
          <a:ln/>
        </p:spPr>
        <p:txBody>
          <a:bodyPr wrap="square" lIns="0" tIns="0" rIns="0" bIns="0" rtlCol="0" anchor="ctr"/>
          <a:lstStyle/>
          <a:p>
            <a:pPr marL="0" indent="0" algn="l">
              <a:buNone/>
            </a:pPr>
            <a:r>
              <a:rPr lang="en-US" sz="1100" b="1" dirty="0">
                <a:solidFill>
                  <a:srgbClr val="3D5A3E"/>
                </a:solidFill>
                <a:latin typeface="Cambria" pitchFamily="34" charset="0"/>
                <a:ea typeface="Cambria" pitchFamily="34" charset="-122"/>
                <a:cs typeface="Cambria" pitchFamily="34" charset="-120"/>
              </a:rPr>
              <a:t>Real-Time Integration</a:t>
            </a:r>
            <a:endParaRPr lang="en-US" sz="1100" dirty="0"/>
          </a:p>
        </p:txBody>
      </p:sp>
      <p:sp>
        <p:nvSpPr>
          <p:cNvPr id="17" name="Text 15"/>
          <p:cNvSpPr/>
          <p:nvPr/>
        </p:nvSpPr>
        <p:spPr>
          <a:xfrm>
            <a:off x="7077456" y="1536192"/>
            <a:ext cx="1819656" cy="1353312"/>
          </a:xfrm>
          <a:prstGeom prst="rect">
            <a:avLst/>
          </a:prstGeom>
          <a:noFill/>
          <a:ln/>
        </p:spPr>
        <p:txBody>
          <a:bodyPr wrap="square" rtlCol="0" anchor="t"/>
          <a:lstStyle/>
          <a:p>
            <a:pPr marL="0" indent="0" algn="l">
              <a:buNone/>
            </a:pPr>
            <a:r>
              <a:rPr lang="en-US" sz="950" dirty="0">
                <a:solidFill>
                  <a:srgbClr val="2C2C2A"/>
                </a:solidFill>
                <a:latin typeface="Calibri" pitchFamily="34" charset="0"/>
                <a:ea typeface="Calibri" pitchFamily="34" charset="-122"/>
                <a:cs typeface="Calibri" pitchFamily="34" charset="-120"/>
              </a:rPr>
              <a:t>With four immersions per month, you're not waiting for insights to land. They integrate in real time, between field days, through coaching, and in your actual leadership moments.</a:t>
            </a:r>
            <a:endParaRPr lang="en-US" sz="950" dirty="0"/>
          </a:p>
        </p:txBody>
      </p:sp>
      <p:sp>
        <p:nvSpPr>
          <p:cNvPr id="18" name="Text 16"/>
          <p:cNvSpPr/>
          <p:nvPr/>
        </p:nvSpPr>
        <p:spPr>
          <a:xfrm>
            <a:off x="502920" y="3090672"/>
            <a:ext cx="8229600" cy="320040"/>
          </a:xfrm>
          <a:prstGeom prst="rect">
            <a:avLst/>
          </a:prstGeom>
          <a:noFill/>
          <a:ln/>
        </p:spPr>
        <p:txBody>
          <a:bodyPr wrap="square" rtlCol="0" anchor="ctr"/>
          <a:lstStyle/>
          <a:p>
            <a:pPr marL="0" indent="0" algn="l">
              <a:buNone/>
            </a:pPr>
            <a:r>
              <a:rPr lang="en-US" sz="1400" b="1" dirty="0">
                <a:solidFill>
                  <a:srgbClr val="2C2C2A"/>
                </a:solidFill>
                <a:latin typeface="Cambria" pitchFamily="34" charset="0"/>
                <a:ea typeface="Cambria" pitchFamily="34" charset="-122"/>
                <a:cs typeface="Cambria" pitchFamily="34" charset="-120"/>
              </a:rPr>
              <a:t>What a Month in Source Looks Like</a:t>
            </a:r>
            <a:endParaRPr lang="en-US" sz="1400" dirty="0"/>
          </a:p>
        </p:txBody>
      </p:sp>
      <p:sp>
        <p:nvSpPr>
          <p:cNvPr id="19" name="Shape 17"/>
          <p:cNvSpPr/>
          <p:nvPr/>
        </p:nvSpPr>
        <p:spPr>
          <a:xfrm>
            <a:off x="320040" y="3493008"/>
            <a:ext cx="2057400" cy="1389888"/>
          </a:xfrm>
          <a:prstGeom prst="roundRect">
            <a:avLst>
              <a:gd name="adj" fmla="val 5263"/>
            </a:avLst>
          </a:prstGeom>
          <a:solidFill>
            <a:srgbClr val="F4F2EE"/>
          </a:solidFill>
          <a:ln w="12700">
            <a:solidFill>
              <a:srgbClr val="F4F2EE"/>
            </a:solidFill>
            <a:prstDash val="solid"/>
          </a:ln>
          <a:effectLst>
            <a:outerShdw blurRad="101600" dist="25400" dir="2700000" algn="bl" rotWithShape="0">
              <a:srgbClr val="000000">
                <a:alpha val="9000"/>
              </a:srgbClr>
            </a:outerShdw>
          </a:effectLst>
        </p:spPr>
        <p:txBody>
          <a:bodyPr/>
          <a:lstStyle/>
          <a:p>
            <a:endParaRPr lang="en-US"/>
          </a:p>
        </p:txBody>
      </p:sp>
      <p:sp>
        <p:nvSpPr>
          <p:cNvPr id="20" name="Shape 18"/>
          <p:cNvSpPr/>
          <p:nvPr/>
        </p:nvSpPr>
        <p:spPr>
          <a:xfrm>
            <a:off x="429768" y="3584448"/>
            <a:ext cx="914400" cy="256032"/>
          </a:xfrm>
          <a:prstGeom prst="roundRect">
            <a:avLst>
              <a:gd name="adj" fmla="val 50000"/>
            </a:avLst>
          </a:prstGeom>
          <a:solidFill>
            <a:srgbClr val="3D5A3E"/>
          </a:solidFill>
          <a:ln w="12700">
            <a:solidFill>
              <a:srgbClr val="3D5A3E"/>
            </a:solidFill>
            <a:prstDash val="solid"/>
          </a:ln>
        </p:spPr>
        <p:txBody>
          <a:bodyPr/>
          <a:lstStyle/>
          <a:p>
            <a:endParaRPr lang="en-US"/>
          </a:p>
        </p:txBody>
      </p:sp>
      <p:sp>
        <p:nvSpPr>
          <p:cNvPr id="21" name="Text 19"/>
          <p:cNvSpPr/>
          <p:nvPr/>
        </p:nvSpPr>
        <p:spPr>
          <a:xfrm>
            <a:off x="429768" y="358444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Week 1</a:t>
            </a:r>
            <a:endParaRPr lang="en-US" sz="800" dirty="0"/>
          </a:p>
        </p:txBody>
      </p:sp>
      <p:sp>
        <p:nvSpPr>
          <p:cNvPr id="22" name="Text 20"/>
          <p:cNvSpPr/>
          <p:nvPr/>
        </p:nvSpPr>
        <p:spPr>
          <a:xfrm>
            <a:off x="429768" y="3913632"/>
            <a:ext cx="1837944" cy="256032"/>
          </a:xfrm>
          <a:prstGeom prst="rect">
            <a:avLst/>
          </a:prstGeom>
          <a:noFill/>
          <a:ln/>
        </p:spPr>
        <p:txBody>
          <a:bodyPr wrap="square" lIns="0" tIns="0" rIns="0" bIns="0" rtlCol="0" anchor="ctr"/>
          <a:lstStyle/>
          <a:p>
            <a:pPr marL="0" indent="0" algn="l">
              <a:buNone/>
            </a:pPr>
            <a:r>
              <a:rPr lang="en-US" sz="1000" b="1" dirty="0">
                <a:solidFill>
                  <a:srgbClr val="3D5A3E"/>
                </a:solidFill>
                <a:latin typeface="Cambria" pitchFamily="34" charset="0"/>
                <a:ea typeface="Cambria" pitchFamily="34" charset="-122"/>
                <a:cs typeface="Cambria" pitchFamily="34" charset="-120"/>
              </a:rPr>
              <a:t>Opening Immersion</a:t>
            </a:r>
            <a:endParaRPr lang="en-US" sz="1000" dirty="0"/>
          </a:p>
        </p:txBody>
      </p:sp>
      <p:sp>
        <p:nvSpPr>
          <p:cNvPr id="23" name="Text 21"/>
          <p:cNvSpPr/>
          <p:nvPr/>
        </p:nvSpPr>
        <p:spPr>
          <a:xfrm>
            <a:off x="429768" y="4206240"/>
            <a:ext cx="1837944" cy="621792"/>
          </a:xfrm>
          <a:prstGeom prst="rect">
            <a:avLst/>
          </a:prstGeom>
          <a:noFill/>
          <a:ln/>
        </p:spPr>
        <p:txBody>
          <a:bodyPr wrap="square" rtlCol="0" anchor="t"/>
          <a:lstStyle/>
          <a:p>
            <a:pPr marL="0" indent="0" algn="l">
              <a:buNone/>
            </a:pPr>
            <a:r>
              <a:rPr lang="en-US" sz="900" dirty="0">
                <a:solidFill>
                  <a:srgbClr val="2C2C2A"/>
                </a:solidFill>
                <a:latin typeface="Calibri" pitchFamily="34" charset="0"/>
                <a:ea typeface="Calibri" pitchFamily="34" charset="-122"/>
                <a:cs typeface="Calibri" pitchFamily="34" charset="-120"/>
              </a:rPr>
              <a:t>Full-day element encounter. Opening coaching to set intention and context.</a:t>
            </a:r>
            <a:endParaRPr lang="en-US" sz="900" dirty="0"/>
          </a:p>
        </p:txBody>
      </p:sp>
      <p:sp>
        <p:nvSpPr>
          <p:cNvPr id="24" name="Shape 22"/>
          <p:cNvSpPr/>
          <p:nvPr/>
        </p:nvSpPr>
        <p:spPr>
          <a:xfrm>
            <a:off x="2532888" y="3493008"/>
            <a:ext cx="2057400" cy="1389888"/>
          </a:xfrm>
          <a:prstGeom prst="roundRect">
            <a:avLst>
              <a:gd name="adj" fmla="val 5263"/>
            </a:avLst>
          </a:prstGeom>
          <a:solidFill>
            <a:srgbClr val="F4F2EE"/>
          </a:solidFill>
          <a:ln w="12700">
            <a:solidFill>
              <a:srgbClr val="F4F2EE"/>
            </a:solidFill>
            <a:prstDash val="solid"/>
          </a:ln>
          <a:effectLst>
            <a:outerShdw blurRad="101600" dist="25400" dir="2700000" algn="bl" rotWithShape="0">
              <a:srgbClr val="000000">
                <a:alpha val="9000"/>
              </a:srgbClr>
            </a:outerShdw>
          </a:effectLst>
        </p:spPr>
        <p:txBody>
          <a:bodyPr/>
          <a:lstStyle/>
          <a:p>
            <a:endParaRPr lang="en-US"/>
          </a:p>
        </p:txBody>
      </p:sp>
      <p:sp>
        <p:nvSpPr>
          <p:cNvPr id="25" name="Shape 23"/>
          <p:cNvSpPr/>
          <p:nvPr/>
        </p:nvSpPr>
        <p:spPr>
          <a:xfrm>
            <a:off x="2642616" y="3584448"/>
            <a:ext cx="914400" cy="256032"/>
          </a:xfrm>
          <a:prstGeom prst="roundRect">
            <a:avLst>
              <a:gd name="adj" fmla="val 50000"/>
            </a:avLst>
          </a:prstGeom>
          <a:solidFill>
            <a:srgbClr val="3D5A3E"/>
          </a:solidFill>
          <a:ln w="12700">
            <a:solidFill>
              <a:srgbClr val="3D5A3E"/>
            </a:solidFill>
            <a:prstDash val="solid"/>
          </a:ln>
        </p:spPr>
        <p:txBody>
          <a:bodyPr/>
          <a:lstStyle/>
          <a:p>
            <a:endParaRPr lang="en-US"/>
          </a:p>
        </p:txBody>
      </p:sp>
      <p:sp>
        <p:nvSpPr>
          <p:cNvPr id="26" name="Text 24"/>
          <p:cNvSpPr/>
          <p:nvPr/>
        </p:nvSpPr>
        <p:spPr>
          <a:xfrm>
            <a:off x="2642616" y="358444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Week 2</a:t>
            </a:r>
            <a:endParaRPr lang="en-US" sz="800" dirty="0"/>
          </a:p>
        </p:txBody>
      </p:sp>
      <p:sp>
        <p:nvSpPr>
          <p:cNvPr id="27" name="Text 25"/>
          <p:cNvSpPr/>
          <p:nvPr/>
        </p:nvSpPr>
        <p:spPr>
          <a:xfrm>
            <a:off x="2642616" y="3913632"/>
            <a:ext cx="1837944" cy="256032"/>
          </a:xfrm>
          <a:prstGeom prst="rect">
            <a:avLst/>
          </a:prstGeom>
          <a:noFill/>
          <a:ln/>
        </p:spPr>
        <p:txBody>
          <a:bodyPr wrap="square" lIns="0" tIns="0" rIns="0" bIns="0" rtlCol="0" anchor="ctr"/>
          <a:lstStyle/>
          <a:p>
            <a:pPr marL="0" indent="0" algn="l">
              <a:buNone/>
            </a:pPr>
            <a:r>
              <a:rPr lang="en-US" sz="1000" b="1" dirty="0">
                <a:solidFill>
                  <a:srgbClr val="3D5A3E"/>
                </a:solidFill>
                <a:latin typeface="Cambria" pitchFamily="34" charset="0"/>
                <a:ea typeface="Cambria" pitchFamily="34" charset="-122"/>
                <a:cs typeface="Cambria" pitchFamily="34" charset="-120"/>
              </a:rPr>
              <a:t>Deepening Field Day</a:t>
            </a:r>
            <a:endParaRPr lang="en-US" sz="1000" dirty="0"/>
          </a:p>
        </p:txBody>
      </p:sp>
      <p:sp>
        <p:nvSpPr>
          <p:cNvPr id="28" name="Text 26"/>
          <p:cNvSpPr/>
          <p:nvPr/>
        </p:nvSpPr>
        <p:spPr>
          <a:xfrm>
            <a:off x="2642616" y="4206240"/>
            <a:ext cx="1837944" cy="621792"/>
          </a:xfrm>
          <a:prstGeom prst="rect">
            <a:avLst/>
          </a:prstGeom>
          <a:noFill/>
          <a:ln/>
        </p:spPr>
        <p:txBody>
          <a:bodyPr wrap="square" rtlCol="0" anchor="t"/>
          <a:lstStyle/>
          <a:p>
            <a:pPr marL="0" indent="0" algn="l">
              <a:buNone/>
            </a:pPr>
            <a:r>
              <a:rPr lang="en-US" sz="900" dirty="0">
                <a:solidFill>
                  <a:srgbClr val="2C2C2A"/>
                </a:solidFill>
                <a:latin typeface="Calibri" pitchFamily="34" charset="0"/>
                <a:ea typeface="Calibri" pitchFamily="34" charset="-122"/>
                <a:cs typeface="Calibri" pitchFamily="34" charset="-120"/>
              </a:rPr>
              <a:t>Second immersion goes deeper into the same element. Mid-month integration coaching.</a:t>
            </a:r>
            <a:endParaRPr lang="en-US" sz="900" dirty="0"/>
          </a:p>
        </p:txBody>
      </p:sp>
      <p:sp>
        <p:nvSpPr>
          <p:cNvPr id="29" name="Shape 27"/>
          <p:cNvSpPr/>
          <p:nvPr/>
        </p:nvSpPr>
        <p:spPr>
          <a:xfrm>
            <a:off x="4745736" y="3493008"/>
            <a:ext cx="2057400" cy="1389888"/>
          </a:xfrm>
          <a:prstGeom prst="roundRect">
            <a:avLst>
              <a:gd name="adj" fmla="val 5263"/>
            </a:avLst>
          </a:prstGeom>
          <a:solidFill>
            <a:srgbClr val="F4F2EE"/>
          </a:solidFill>
          <a:ln w="12700">
            <a:solidFill>
              <a:srgbClr val="F4F2EE"/>
            </a:solidFill>
            <a:prstDash val="solid"/>
          </a:ln>
          <a:effectLst>
            <a:outerShdw blurRad="101600" dist="25400" dir="2700000" algn="bl" rotWithShape="0">
              <a:srgbClr val="000000">
                <a:alpha val="9000"/>
              </a:srgbClr>
            </a:outerShdw>
          </a:effectLst>
        </p:spPr>
        <p:txBody>
          <a:bodyPr/>
          <a:lstStyle/>
          <a:p>
            <a:endParaRPr lang="en-US"/>
          </a:p>
        </p:txBody>
      </p:sp>
      <p:sp>
        <p:nvSpPr>
          <p:cNvPr id="30" name="Shape 28"/>
          <p:cNvSpPr/>
          <p:nvPr/>
        </p:nvSpPr>
        <p:spPr>
          <a:xfrm>
            <a:off x="4855464" y="3584448"/>
            <a:ext cx="914400" cy="256032"/>
          </a:xfrm>
          <a:prstGeom prst="roundRect">
            <a:avLst>
              <a:gd name="adj" fmla="val 50000"/>
            </a:avLst>
          </a:prstGeom>
          <a:solidFill>
            <a:srgbClr val="3D5A3E"/>
          </a:solidFill>
          <a:ln w="12700">
            <a:solidFill>
              <a:srgbClr val="3D5A3E"/>
            </a:solidFill>
            <a:prstDash val="solid"/>
          </a:ln>
        </p:spPr>
        <p:txBody>
          <a:bodyPr/>
          <a:lstStyle/>
          <a:p>
            <a:endParaRPr lang="en-US"/>
          </a:p>
        </p:txBody>
      </p:sp>
      <p:sp>
        <p:nvSpPr>
          <p:cNvPr id="31" name="Text 29"/>
          <p:cNvSpPr/>
          <p:nvPr/>
        </p:nvSpPr>
        <p:spPr>
          <a:xfrm>
            <a:off x="4855464" y="358444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Week 3</a:t>
            </a:r>
            <a:endParaRPr lang="en-US" sz="800" dirty="0"/>
          </a:p>
        </p:txBody>
      </p:sp>
      <p:sp>
        <p:nvSpPr>
          <p:cNvPr id="32" name="Text 30"/>
          <p:cNvSpPr/>
          <p:nvPr/>
        </p:nvSpPr>
        <p:spPr>
          <a:xfrm>
            <a:off x="4855464" y="3913632"/>
            <a:ext cx="1837944" cy="256032"/>
          </a:xfrm>
          <a:prstGeom prst="rect">
            <a:avLst/>
          </a:prstGeom>
          <a:noFill/>
          <a:ln/>
        </p:spPr>
        <p:txBody>
          <a:bodyPr wrap="square" lIns="0" tIns="0" rIns="0" bIns="0" rtlCol="0" anchor="ctr"/>
          <a:lstStyle/>
          <a:p>
            <a:pPr marL="0" indent="0" algn="l">
              <a:buNone/>
            </a:pPr>
            <a:r>
              <a:rPr lang="en-US" sz="1000" b="1" dirty="0">
                <a:solidFill>
                  <a:srgbClr val="3D5A3E"/>
                </a:solidFill>
                <a:latin typeface="Cambria" pitchFamily="34" charset="0"/>
                <a:ea typeface="Cambria" pitchFamily="34" charset="-122"/>
                <a:cs typeface="Cambria" pitchFamily="34" charset="-120"/>
              </a:rPr>
              <a:t>Edge Immersion</a:t>
            </a:r>
            <a:endParaRPr lang="en-US" sz="1000" dirty="0"/>
          </a:p>
        </p:txBody>
      </p:sp>
      <p:sp>
        <p:nvSpPr>
          <p:cNvPr id="33" name="Text 31"/>
          <p:cNvSpPr/>
          <p:nvPr/>
        </p:nvSpPr>
        <p:spPr>
          <a:xfrm>
            <a:off x="4855464" y="4206240"/>
            <a:ext cx="1837944" cy="621792"/>
          </a:xfrm>
          <a:prstGeom prst="rect">
            <a:avLst/>
          </a:prstGeom>
          <a:noFill/>
          <a:ln/>
        </p:spPr>
        <p:txBody>
          <a:bodyPr wrap="square" rtlCol="0" anchor="t"/>
          <a:lstStyle/>
          <a:p>
            <a:pPr marL="0" indent="0" algn="l">
              <a:buNone/>
            </a:pPr>
            <a:r>
              <a:rPr lang="en-US" sz="900" dirty="0">
                <a:solidFill>
                  <a:srgbClr val="2C2C2A"/>
                </a:solidFill>
                <a:latin typeface="Calibri" pitchFamily="34" charset="0"/>
                <a:ea typeface="Calibri" pitchFamily="34" charset="-122"/>
                <a:cs typeface="Calibri" pitchFamily="34" charset="-120"/>
              </a:rPr>
              <a:t>A challenge experience designed to push your leadership edge. Third coaching session.</a:t>
            </a:r>
            <a:endParaRPr lang="en-US" sz="900" dirty="0"/>
          </a:p>
        </p:txBody>
      </p:sp>
      <p:sp>
        <p:nvSpPr>
          <p:cNvPr id="34" name="Shape 32"/>
          <p:cNvSpPr/>
          <p:nvPr/>
        </p:nvSpPr>
        <p:spPr>
          <a:xfrm>
            <a:off x="6958584" y="3493008"/>
            <a:ext cx="2057400" cy="1389888"/>
          </a:xfrm>
          <a:prstGeom prst="roundRect">
            <a:avLst>
              <a:gd name="adj" fmla="val 5263"/>
            </a:avLst>
          </a:prstGeom>
          <a:solidFill>
            <a:srgbClr val="F4F2EE"/>
          </a:solidFill>
          <a:ln w="12700">
            <a:solidFill>
              <a:srgbClr val="F4F2EE"/>
            </a:solidFill>
            <a:prstDash val="solid"/>
          </a:ln>
          <a:effectLst>
            <a:outerShdw blurRad="101600" dist="25400" dir="2700000" algn="bl" rotWithShape="0">
              <a:srgbClr val="000000">
                <a:alpha val="9000"/>
              </a:srgbClr>
            </a:outerShdw>
          </a:effectLst>
        </p:spPr>
        <p:txBody>
          <a:bodyPr/>
          <a:lstStyle/>
          <a:p>
            <a:endParaRPr lang="en-US"/>
          </a:p>
        </p:txBody>
      </p:sp>
      <p:sp>
        <p:nvSpPr>
          <p:cNvPr id="35" name="Shape 33"/>
          <p:cNvSpPr/>
          <p:nvPr/>
        </p:nvSpPr>
        <p:spPr>
          <a:xfrm>
            <a:off x="7068312" y="3584448"/>
            <a:ext cx="914400" cy="256032"/>
          </a:xfrm>
          <a:prstGeom prst="roundRect">
            <a:avLst>
              <a:gd name="adj" fmla="val 50000"/>
            </a:avLst>
          </a:prstGeom>
          <a:solidFill>
            <a:srgbClr val="3D5A3E"/>
          </a:solidFill>
          <a:ln w="12700">
            <a:solidFill>
              <a:srgbClr val="3D5A3E"/>
            </a:solidFill>
            <a:prstDash val="solid"/>
          </a:ln>
        </p:spPr>
        <p:txBody>
          <a:bodyPr/>
          <a:lstStyle/>
          <a:p>
            <a:endParaRPr lang="en-US"/>
          </a:p>
        </p:txBody>
      </p:sp>
      <p:sp>
        <p:nvSpPr>
          <p:cNvPr id="36" name="Text 34"/>
          <p:cNvSpPr/>
          <p:nvPr/>
        </p:nvSpPr>
        <p:spPr>
          <a:xfrm>
            <a:off x="7068312" y="3584448"/>
            <a:ext cx="914400" cy="256032"/>
          </a:xfrm>
          <a:prstGeom prst="rect">
            <a:avLst/>
          </a:prstGeom>
          <a:noFill/>
          <a:ln/>
        </p:spPr>
        <p:txBody>
          <a:bodyPr wrap="square" rtlCol="0" anchor="ctr"/>
          <a:lstStyle/>
          <a:p>
            <a:pPr marL="0" indent="0" algn="ctr">
              <a:buNone/>
            </a:pPr>
            <a:r>
              <a:rPr lang="en-US" sz="800" b="1" kern="0" spc="50" dirty="0">
                <a:solidFill>
                  <a:srgbClr val="FFFFFF"/>
                </a:solidFill>
                <a:latin typeface="Arial" pitchFamily="34" charset="0"/>
                <a:ea typeface="Arial" pitchFamily="34" charset="-122"/>
                <a:cs typeface="Arial" pitchFamily="34" charset="-120"/>
              </a:rPr>
              <a:t>Week 4</a:t>
            </a:r>
            <a:endParaRPr lang="en-US" sz="800" dirty="0"/>
          </a:p>
        </p:txBody>
      </p:sp>
      <p:sp>
        <p:nvSpPr>
          <p:cNvPr id="37" name="Text 35"/>
          <p:cNvSpPr/>
          <p:nvPr/>
        </p:nvSpPr>
        <p:spPr>
          <a:xfrm>
            <a:off x="7068312" y="3913632"/>
            <a:ext cx="1837944" cy="256032"/>
          </a:xfrm>
          <a:prstGeom prst="rect">
            <a:avLst/>
          </a:prstGeom>
          <a:noFill/>
          <a:ln/>
        </p:spPr>
        <p:txBody>
          <a:bodyPr wrap="square" lIns="0" tIns="0" rIns="0" bIns="0" rtlCol="0" anchor="ctr"/>
          <a:lstStyle/>
          <a:p>
            <a:pPr marL="0" indent="0" algn="l">
              <a:buNone/>
            </a:pPr>
            <a:r>
              <a:rPr lang="en-US" sz="1000" b="1" dirty="0">
                <a:solidFill>
                  <a:srgbClr val="3D5A3E"/>
                </a:solidFill>
                <a:latin typeface="Cambria" pitchFamily="34" charset="0"/>
                <a:ea typeface="Cambria" pitchFamily="34" charset="-122"/>
                <a:cs typeface="Cambria" pitchFamily="34" charset="-120"/>
              </a:rPr>
              <a:t>Closing &amp; Synthesis</a:t>
            </a:r>
            <a:endParaRPr lang="en-US" sz="1000" dirty="0"/>
          </a:p>
        </p:txBody>
      </p:sp>
      <p:sp>
        <p:nvSpPr>
          <p:cNvPr id="38" name="Text 36"/>
          <p:cNvSpPr/>
          <p:nvPr/>
        </p:nvSpPr>
        <p:spPr>
          <a:xfrm>
            <a:off x="7068312" y="4206240"/>
            <a:ext cx="1837944" cy="621792"/>
          </a:xfrm>
          <a:prstGeom prst="rect">
            <a:avLst/>
          </a:prstGeom>
          <a:noFill/>
          <a:ln/>
        </p:spPr>
        <p:txBody>
          <a:bodyPr wrap="square" rtlCol="0" anchor="t"/>
          <a:lstStyle/>
          <a:p>
            <a:pPr marL="0" indent="0" algn="l">
              <a:buNone/>
            </a:pPr>
            <a:r>
              <a:rPr lang="en-US" sz="900" dirty="0">
                <a:solidFill>
                  <a:srgbClr val="2C2C2A"/>
                </a:solidFill>
                <a:latin typeface="Calibri" pitchFamily="34" charset="0"/>
                <a:ea typeface="Calibri" pitchFamily="34" charset="-122"/>
                <a:cs typeface="Calibri" pitchFamily="34" charset="-120"/>
              </a:rPr>
              <a:t>Final immersion of the month. Synthesis coaching to integrate and bridge to the next element.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137160"/>
            <a:ext cx="8229600" cy="274320"/>
          </a:xfrm>
          <a:prstGeom prst="rect">
            <a:avLst/>
          </a:prstGeom>
          <a:noFill/>
          <a:ln/>
        </p:spPr>
        <p:txBody>
          <a:bodyPr wrap="square" rtlCol="0" anchor="ctr"/>
          <a:lstStyle/>
          <a:p>
            <a:pPr marL="0" indent="0" algn="l">
              <a:buNone/>
            </a:pPr>
            <a:r>
              <a:rPr lang="en-US" sz="900" b="1" kern="0" spc="400" dirty="0">
                <a:solidFill>
                  <a:srgbClr val="C9A96E"/>
                </a:solidFill>
                <a:latin typeface="Arial" pitchFamily="34" charset="0"/>
                <a:ea typeface="Arial" pitchFamily="34" charset="-122"/>
                <a:cs typeface="Arial" pitchFamily="34" charset="-120"/>
              </a:rPr>
              <a:t>FUENTE — PARA QUIÉN · NOTA · CTA</a:t>
            </a:r>
            <a:endParaRPr lang="en-US" sz="900" dirty="0"/>
          </a:p>
        </p:txBody>
      </p:sp>
      <p:sp>
        <p:nvSpPr>
          <p:cNvPr id="4" name="Shape 2"/>
          <p:cNvSpPr/>
          <p:nvPr/>
        </p:nvSpPr>
        <p:spPr>
          <a:xfrm>
            <a:off x="502920" y="484632"/>
            <a:ext cx="8138160" cy="0"/>
          </a:xfrm>
          <a:prstGeom prst="line">
            <a:avLst/>
          </a:prstGeom>
          <a:noFill/>
          <a:ln w="12700">
            <a:solidFill>
              <a:srgbClr val="F4F2EE"/>
            </a:solidFill>
            <a:prstDash val="solid"/>
          </a:ln>
        </p:spPr>
        <p:txBody>
          <a:bodyPr/>
          <a:lstStyle/>
          <a:p>
            <a:endParaRPr lang="en-US"/>
          </a:p>
        </p:txBody>
      </p:sp>
      <p:sp>
        <p:nvSpPr>
          <p:cNvPr id="5" name="Text 3"/>
          <p:cNvSpPr/>
          <p:nvPr/>
        </p:nvSpPr>
        <p:spPr>
          <a:xfrm>
            <a:off x="502920" y="594360"/>
            <a:ext cx="8229600" cy="384048"/>
          </a:xfrm>
          <a:prstGeom prst="rect">
            <a:avLst/>
          </a:prstGeom>
          <a:noFill/>
          <a:ln/>
        </p:spPr>
        <p:txBody>
          <a:bodyPr wrap="square" rtlCol="0" anchor="ctr"/>
          <a:lstStyle/>
          <a:p>
            <a:pPr marL="0" indent="0" algn="l">
              <a:buNone/>
            </a:pPr>
            <a:r>
              <a:rPr lang="en-US" sz="1800" b="1" dirty="0">
                <a:solidFill>
                  <a:srgbClr val="2C2C2A"/>
                </a:solidFill>
                <a:latin typeface="Cambria" pitchFamily="34" charset="0"/>
                <a:ea typeface="Cambria" pitchFamily="34" charset="-122"/>
                <a:cs typeface="Cambria" pitchFamily="34" charset="-120"/>
              </a:rPr>
              <a:t>Source is for the leader who is ready to go to the root</a:t>
            </a:r>
            <a:endParaRPr lang="en-US" sz="1800" dirty="0"/>
          </a:p>
        </p:txBody>
      </p:sp>
      <p:sp>
        <p:nvSpPr>
          <p:cNvPr id="6" name="Shape 4"/>
          <p:cNvSpPr/>
          <p:nvPr/>
        </p:nvSpPr>
        <p:spPr>
          <a:xfrm>
            <a:off x="320040" y="1115568"/>
            <a:ext cx="2057400" cy="1417320"/>
          </a:xfrm>
          <a:prstGeom prst="roundRect">
            <a:avLst>
              <a:gd name="adj" fmla="val 5161"/>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7" name="Text 5"/>
          <p:cNvSpPr/>
          <p:nvPr/>
        </p:nvSpPr>
        <p:spPr>
          <a:xfrm>
            <a:off x="457200" y="1207008"/>
            <a:ext cx="1783080" cy="1234440"/>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You are navigating a significant leadership threshold — a new role, a major transition, a chapter that requires a different version of you.</a:t>
            </a:r>
            <a:endParaRPr lang="en-US" sz="1000" dirty="0"/>
          </a:p>
        </p:txBody>
      </p:sp>
      <p:sp>
        <p:nvSpPr>
          <p:cNvPr id="8" name="Shape 6"/>
          <p:cNvSpPr/>
          <p:nvPr/>
        </p:nvSpPr>
        <p:spPr>
          <a:xfrm>
            <a:off x="2532888" y="1115568"/>
            <a:ext cx="2057400" cy="1417320"/>
          </a:xfrm>
          <a:prstGeom prst="roundRect">
            <a:avLst>
              <a:gd name="adj" fmla="val 5161"/>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9" name="Text 7"/>
          <p:cNvSpPr/>
          <p:nvPr/>
        </p:nvSpPr>
        <p:spPr>
          <a:xfrm>
            <a:off x="2670048" y="1207008"/>
            <a:ext cx="1783080" cy="1234440"/>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You want total dedication of attention — yours and ours — with nothing shared or diluted.</a:t>
            </a:r>
            <a:endParaRPr lang="en-US" sz="1000" dirty="0"/>
          </a:p>
        </p:txBody>
      </p:sp>
      <p:sp>
        <p:nvSpPr>
          <p:cNvPr id="10" name="Shape 8"/>
          <p:cNvSpPr/>
          <p:nvPr/>
        </p:nvSpPr>
        <p:spPr>
          <a:xfrm>
            <a:off x="4745736" y="1115568"/>
            <a:ext cx="2057400" cy="1417320"/>
          </a:xfrm>
          <a:prstGeom prst="roundRect">
            <a:avLst>
              <a:gd name="adj" fmla="val 5161"/>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11" name="Text 9"/>
          <p:cNvSpPr/>
          <p:nvPr/>
        </p:nvSpPr>
        <p:spPr>
          <a:xfrm>
            <a:off x="4882896" y="1207008"/>
            <a:ext cx="1783080" cy="1234440"/>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You believe that deep nature contact is one of the most powerful mirrors for leadership development.</a:t>
            </a:r>
            <a:endParaRPr lang="en-US" sz="1000" dirty="0"/>
          </a:p>
        </p:txBody>
      </p:sp>
      <p:sp>
        <p:nvSpPr>
          <p:cNvPr id="12" name="Shape 10"/>
          <p:cNvSpPr/>
          <p:nvPr/>
        </p:nvSpPr>
        <p:spPr>
          <a:xfrm>
            <a:off x="6958584" y="1115568"/>
            <a:ext cx="2057400" cy="1417320"/>
          </a:xfrm>
          <a:prstGeom prst="roundRect">
            <a:avLst>
              <a:gd name="adj" fmla="val 5161"/>
            </a:avLst>
          </a:prstGeom>
          <a:solidFill>
            <a:srgbClr val="EEF5EE"/>
          </a:solidFill>
          <a:ln w="12700">
            <a:solidFill>
              <a:srgbClr val="EEF5EE"/>
            </a:solidFill>
            <a:prstDash val="solid"/>
          </a:ln>
          <a:effectLst>
            <a:outerShdw blurRad="101600" dist="25400" dir="2700000" algn="bl" rotWithShape="0">
              <a:srgbClr val="000000">
                <a:alpha val="9000"/>
              </a:srgbClr>
            </a:outerShdw>
          </a:effectLst>
        </p:spPr>
        <p:txBody>
          <a:bodyPr/>
          <a:lstStyle/>
          <a:p>
            <a:endParaRPr lang="en-US"/>
          </a:p>
        </p:txBody>
      </p:sp>
      <p:sp>
        <p:nvSpPr>
          <p:cNvPr id="13" name="Text 11"/>
          <p:cNvSpPr/>
          <p:nvPr/>
        </p:nvSpPr>
        <p:spPr>
          <a:xfrm>
            <a:off x="7095744" y="1207008"/>
            <a:ext cx="1783080" cy="1234440"/>
          </a:xfrm>
          <a:prstGeom prst="rect">
            <a:avLst/>
          </a:prstGeom>
          <a:noFill/>
          <a:ln/>
        </p:spPr>
        <p:txBody>
          <a:bodyPr wrap="square" rtlCol="0" anchor="t"/>
          <a:lstStyle/>
          <a:p>
            <a:pPr marL="0" indent="0" algn="l">
              <a:buNone/>
            </a:pPr>
            <a:r>
              <a:rPr lang="en-US" sz="1000" dirty="0">
                <a:solidFill>
                  <a:srgbClr val="2C2C2A"/>
                </a:solidFill>
                <a:latin typeface="Calibri" pitchFamily="34" charset="0"/>
                <a:ea typeface="Calibri" pitchFamily="34" charset="-122"/>
                <a:cs typeface="Calibri" pitchFamily="34" charset="-120"/>
              </a:rPr>
              <a:t>You are a senior executive, founder, or visionary leader who has earned the ability to invest fully in yourself.</a:t>
            </a:r>
            <a:endParaRPr lang="en-US" sz="1000" dirty="0"/>
          </a:p>
        </p:txBody>
      </p:sp>
      <p:sp>
        <p:nvSpPr>
          <p:cNvPr id="14" name="Shape 12"/>
          <p:cNvSpPr/>
          <p:nvPr/>
        </p:nvSpPr>
        <p:spPr>
          <a:xfrm>
            <a:off x="502920" y="2724912"/>
            <a:ext cx="8138160" cy="1188720"/>
          </a:xfrm>
          <a:prstGeom prst="roundRect">
            <a:avLst>
              <a:gd name="adj" fmla="val 7692"/>
            </a:avLst>
          </a:prstGeom>
          <a:solidFill>
            <a:srgbClr val="2C2C2A"/>
          </a:solidFill>
          <a:ln w="12700">
            <a:solidFill>
              <a:srgbClr val="2C2C2A"/>
            </a:solidFill>
            <a:prstDash val="solid"/>
          </a:ln>
        </p:spPr>
        <p:txBody>
          <a:bodyPr/>
          <a:lstStyle/>
          <a:p>
            <a:endParaRPr lang="en-US"/>
          </a:p>
        </p:txBody>
      </p:sp>
      <p:sp>
        <p:nvSpPr>
          <p:cNvPr id="15" name="Text 13"/>
          <p:cNvSpPr/>
          <p:nvPr/>
        </p:nvSpPr>
        <p:spPr>
          <a:xfrm>
            <a:off x="685800" y="2807208"/>
            <a:ext cx="2743200" cy="274320"/>
          </a:xfrm>
          <a:prstGeom prst="rect">
            <a:avLst/>
          </a:prstGeom>
          <a:noFill/>
          <a:ln/>
        </p:spPr>
        <p:txBody>
          <a:bodyPr wrap="square" rtlCol="0" anchor="ctr"/>
          <a:lstStyle/>
          <a:p>
            <a:pPr marL="0" indent="0" algn="l">
              <a:buNone/>
            </a:pPr>
            <a:r>
              <a:rPr lang="en-US" sz="900" b="1" kern="0" spc="100" dirty="0">
                <a:solidFill>
                  <a:srgbClr val="C9A96E"/>
                </a:solidFill>
                <a:latin typeface="Arial" pitchFamily="34" charset="0"/>
                <a:ea typeface="Arial" pitchFamily="34" charset="-122"/>
                <a:cs typeface="Arial" pitchFamily="34" charset="-120"/>
              </a:rPr>
              <a:t>A note on Source</a:t>
            </a:r>
            <a:endParaRPr lang="en-US" sz="900" dirty="0"/>
          </a:p>
        </p:txBody>
      </p:sp>
      <p:sp>
        <p:nvSpPr>
          <p:cNvPr id="16" name="Text 14"/>
          <p:cNvSpPr/>
          <p:nvPr/>
        </p:nvSpPr>
        <p:spPr>
          <a:xfrm>
            <a:off x="685800" y="3108960"/>
            <a:ext cx="7680960" cy="502920"/>
          </a:xfrm>
          <a:prstGeom prst="rect">
            <a:avLst/>
          </a:prstGeom>
          <a:noFill/>
          <a:ln/>
        </p:spPr>
        <p:txBody>
          <a:bodyPr wrap="square" rtlCol="0" anchor="ctr"/>
          <a:lstStyle/>
          <a:p>
            <a:pPr marL="0" indent="0" algn="l">
              <a:buNone/>
            </a:pPr>
            <a:r>
              <a:rPr lang="en-US" sz="1300" i="1" dirty="0">
                <a:solidFill>
                  <a:srgbClr val="F5ECD8"/>
                </a:solidFill>
                <a:latin typeface="Cambria" pitchFamily="34" charset="0"/>
                <a:ea typeface="Cambria" pitchFamily="34" charset="-122"/>
                <a:cs typeface="Cambria" pitchFamily="34" charset="-120"/>
              </a:rPr>
              <a:t>"We take very few Source clients at a time. This allows us to give each engagement the depth and presence it deserves."</a:t>
            </a:r>
            <a:endParaRPr lang="en-US" sz="1300" dirty="0"/>
          </a:p>
        </p:txBody>
      </p:sp>
      <p:sp>
        <p:nvSpPr>
          <p:cNvPr id="17" name="Text 15"/>
          <p:cNvSpPr/>
          <p:nvPr/>
        </p:nvSpPr>
        <p:spPr>
          <a:xfrm>
            <a:off x="685800" y="3630168"/>
            <a:ext cx="7680960" cy="256032"/>
          </a:xfrm>
          <a:prstGeom prst="rect">
            <a:avLst/>
          </a:prstGeom>
          <a:noFill/>
          <a:ln/>
        </p:spPr>
        <p:txBody>
          <a:bodyPr wrap="square" rtlCol="0" anchor="ctr"/>
          <a:lstStyle/>
          <a:p>
            <a:pPr marL="0" indent="0" algn="l">
              <a:buNone/>
            </a:pPr>
            <a:r>
              <a:rPr lang="en-US" sz="1000" dirty="0">
                <a:solidFill>
                  <a:srgbClr val="AAAAAA"/>
                </a:solidFill>
                <a:latin typeface="Calibri" pitchFamily="34" charset="0"/>
                <a:ea typeface="Calibri" pitchFamily="34" charset="-122"/>
                <a:cs typeface="Calibri" pitchFamily="34" charset="-120"/>
              </a:rPr>
              <a:t>Source engagements begin with a discovery conversation. There is no application form — only a conversation to see if we're the right fit for each other.</a:t>
            </a:r>
            <a:endParaRPr lang="en-US" sz="1000" dirty="0"/>
          </a:p>
        </p:txBody>
      </p:sp>
      <p:sp>
        <p:nvSpPr>
          <p:cNvPr id="18" name="Shape 16"/>
          <p:cNvSpPr/>
          <p:nvPr/>
        </p:nvSpPr>
        <p:spPr>
          <a:xfrm>
            <a:off x="502920" y="4069080"/>
            <a:ext cx="8138160" cy="822960"/>
          </a:xfrm>
          <a:prstGeom prst="roundRect">
            <a:avLst>
              <a:gd name="adj" fmla="val 11111"/>
            </a:avLst>
          </a:prstGeom>
          <a:solidFill>
            <a:srgbClr val="EEF5EE"/>
          </a:solidFill>
          <a:ln w="12700">
            <a:solidFill>
              <a:srgbClr val="EEF5EE"/>
            </a:solidFill>
            <a:prstDash val="solid"/>
          </a:ln>
        </p:spPr>
        <p:txBody>
          <a:bodyPr/>
          <a:lstStyle/>
          <a:p>
            <a:endParaRPr lang="en-US"/>
          </a:p>
        </p:txBody>
      </p:sp>
      <p:sp>
        <p:nvSpPr>
          <p:cNvPr id="19" name="Text 17"/>
          <p:cNvSpPr/>
          <p:nvPr/>
        </p:nvSpPr>
        <p:spPr>
          <a:xfrm>
            <a:off x="685800" y="4133088"/>
            <a:ext cx="3657600" cy="320040"/>
          </a:xfrm>
          <a:prstGeom prst="rect">
            <a:avLst/>
          </a:prstGeom>
          <a:noFill/>
          <a:ln/>
        </p:spPr>
        <p:txBody>
          <a:bodyPr wrap="square" rtlCol="0" anchor="ctr"/>
          <a:lstStyle/>
          <a:p>
            <a:pPr marL="0" indent="0" algn="l">
              <a:buNone/>
            </a:pPr>
            <a:r>
              <a:rPr lang="en-US" sz="1600" b="1" dirty="0">
                <a:solidFill>
                  <a:srgbClr val="3D5A3E"/>
                </a:solidFill>
                <a:latin typeface="Cambria" pitchFamily="34" charset="0"/>
                <a:ea typeface="Cambria" pitchFamily="34" charset="-122"/>
                <a:cs typeface="Cambria" pitchFamily="34" charset="-120"/>
              </a:rPr>
              <a:t>Return to your Source.</a:t>
            </a:r>
            <a:endParaRPr lang="en-US" sz="1600" dirty="0"/>
          </a:p>
        </p:txBody>
      </p:sp>
      <p:sp>
        <p:nvSpPr>
          <p:cNvPr id="20" name="Text 18"/>
          <p:cNvSpPr/>
          <p:nvPr/>
        </p:nvSpPr>
        <p:spPr>
          <a:xfrm>
            <a:off x="685800" y="4453128"/>
            <a:ext cx="5303520" cy="384048"/>
          </a:xfrm>
          <a:prstGeom prst="rect">
            <a:avLst/>
          </a:prstGeom>
          <a:noFill/>
          <a:ln/>
        </p:spPr>
        <p:txBody>
          <a:bodyPr wrap="square" rtlCol="0" anchor="ctr"/>
          <a:lstStyle/>
          <a:p>
            <a:pPr marL="0" indent="0" algn="l">
              <a:buNone/>
            </a:pPr>
            <a:r>
              <a:rPr lang="en-US" sz="1000" dirty="0">
                <a:solidFill>
                  <a:srgbClr val="2C2C2A"/>
                </a:solidFill>
                <a:latin typeface="Calibri" pitchFamily="34" charset="0"/>
                <a:ea typeface="Calibri" pitchFamily="34" charset="-122"/>
                <a:cs typeface="Calibri" pitchFamily="34" charset="-120"/>
              </a:rPr>
              <a:t>This is not a form. It's an invitation to a conversation. Tell us where you are and what you're looking for — we'll take it from there.</a:t>
            </a:r>
            <a:endParaRPr lang="en-US" sz="1000" dirty="0"/>
          </a:p>
        </p:txBody>
      </p:sp>
      <p:sp>
        <p:nvSpPr>
          <p:cNvPr id="21" name="Shape 19"/>
          <p:cNvSpPr/>
          <p:nvPr/>
        </p:nvSpPr>
        <p:spPr>
          <a:xfrm>
            <a:off x="6492240" y="4206240"/>
            <a:ext cx="1828800" cy="347472"/>
          </a:xfrm>
          <a:prstGeom prst="roundRect">
            <a:avLst>
              <a:gd name="adj" fmla="val 26316"/>
            </a:avLst>
          </a:prstGeom>
          <a:solidFill>
            <a:srgbClr val="3D5A3E"/>
          </a:solidFill>
          <a:ln w="12700">
            <a:solidFill>
              <a:srgbClr val="3D5A3E"/>
            </a:solidFill>
            <a:prstDash val="solid"/>
          </a:ln>
        </p:spPr>
        <p:txBody>
          <a:bodyPr/>
          <a:lstStyle/>
          <a:p>
            <a:endParaRPr lang="en-US"/>
          </a:p>
        </p:txBody>
      </p:sp>
      <p:sp>
        <p:nvSpPr>
          <p:cNvPr id="22" name="Text 20"/>
          <p:cNvSpPr/>
          <p:nvPr/>
        </p:nvSpPr>
        <p:spPr>
          <a:xfrm>
            <a:off x="6492240" y="4206240"/>
            <a:ext cx="182880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Request Discovery Call</a:t>
            </a:r>
            <a:endParaRPr lang="en-US" sz="950" dirty="0"/>
          </a:p>
        </p:txBody>
      </p:sp>
      <p:sp>
        <p:nvSpPr>
          <p:cNvPr id="23" name="Shape 21"/>
          <p:cNvSpPr/>
          <p:nvPr/>
        </p:nvSpPr>
        <p:spPr>
          <a:xfrm>
            <a:off x="0" y="4983480"/>
            <a:ext cx="9144000" cy="164592"/>
          </a:xfrm>
          <a:prstGeom prst="rect">
            <a:avLst/>
          </a:prstGeom>
          <a:solidFill>
            <a:srgbClr val="F4F2EE"/>
          </a:solidFill>
          <a:ln w="12700">
            <a:solidFill>
              <a:srgbClr val="F4F2EE"/>
            </a:solidFill>
            <a:prstDash val="solid"/>
          </a:ln>
        </p:spPr>
        <p:txBody>
          <a:bodyPr/>
          <a:lstStyle/>
          <a:p>
            <a:endParaRPr lang="en-US"/>
          </a:p>
        </p:txBody>
      </p:sp>
      <p:sp>
        <p:nvSpPr>
          <p:cNvPr id="24" name="Text 22"/>
          <p:cNvSpPr/>
          <p:nvPr/>
        </p:nvSpPr>
        <p:spPr>
          <a:xfrm>
            <a:off x="502920" y="4864608"/>
            <a:ext cx="8138160" cy="256032"/>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 2025 Elements Method  ·  elementsmethod.com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2193</Words>
  <Application>Microsoft Office PowerPoint</Application>
  <PresentationFormat>On-screen Show (16:9)</PresentationFormat>
  <Paragraphs>336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Elements Method — Contenido del Sitio Web</dc:title>
  <dc:subject>PptxGenJS Presentation</dc:subject>
  <dc:creator>PptxGenJS</dc:creator>
  <cp:lastModifiedBy>Ana Michelle Concepción</cp:lastModifiedBy>
  <cp:revision>2</cp:revision>
  <dcterms:created xsi:type="dcterms:W3CDTF">2026-06-10T23:43:21Z</dcterms:created>
  <dcterms:modified xsi:type="dcterms:W3CDTF">2026-06-11T03:21:55Z</dcterms:modified>
</cp:coreProperties>
</file>